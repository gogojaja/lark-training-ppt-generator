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5360"/>
            <a:ext cx="12107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spc="36" kern="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2170877" y="861090"/>
            <a:ext cx="365760" cy="2286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3797" y="701070"/>
            <a:ext cx="1223284" cy="342900"/>
          </a:xfrm>
          <a:prstGeom prst="roundRect">
            <a:avLst>
              <a:gd name="adj" fmla="val 23666"/>
            </a:avLst>
          </a:prstGeom>
          <a:solidFill>
            <a:srgbClr val="F2E70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47625" dir="3187806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95687" y="701070"/>
            <a:ext cx="107085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60" b="1" spc="3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 rot="-60000">
            <a:off x="876635" y="1479774"/>
            <a:ext cx="2881823" cy="387523"/>
          </a:xfrm>
          <a:prstGeom prst="roundRect">
            <a:avLst>
              <a:gd name="adj" fmla="val 14958"/>
            </a:avLst>
          </a:prstGeom>
          <a:solidFill>
            <a:srgbClr val="F2E7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96609"/>
            <a:ext cx="2897734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71"/>
              </a:lnSpc>
              <a:buNone/>
            </a:pPr>
            <a:r>
              <a:rPr lang="en-US" sz="3720" b="1" spc="-46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873124" y="1386870"/>
            <a:ext cx="369570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71"/>
              </a:lnSpc>
              <a:buNone/>
            </a:pPr>
            <a:r>
              <a:rPr lang="en-US" sz="3720" b="1" spc="-46" kern="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3720" dirty="0"/>
          </a:p>
        </p:txBody>
      </p:sp>
      <p:sp>
        <p:nvSpPr>
          <p:cNvPr id="11" name="Shape 9"/>
          <p:cNvSpPr/>
          <p:nvPr/>
        </p:nvSpPr>
        <p:spPr>
          <a:xfrm rot="-60000">
            <a:off x="4114251" y="1479774"/>
            <a:ext cx="5220401" cy="387523"/>
          </a:xfrm>
          <a:prstGeom prst="roundRect">
            <a:avLst>
              <a:gd name="adj" fmla="val 14958"/>
            </a:avLst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2108" y="1396609"/>
            <a:ext cx="5236403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71"/>
              </a:lnSpc>
              <a:buNone/>
            </a:pPr>
            <a:r>
              <a:rPr lang="en-US" sz="3720" b="1" spc="-46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掌握业务流程与合规要点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449410" y="1386870"/>
            <a:ext cx="369570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71"/>
              </a:lnSpc>
              <a:buNone/>
            </a:pPr>
            <a:r>
              <a:rPr lang="en-US" sz="3720" b="1" spc="-46" kern="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3720" dirty="0"/>
          </a:p>
        </p:txBody>
      </p:sp>
      <p:sp>
        <p:nvSpPr>
          <p:cNvPr id="14" name="Shape 12"/>
          <p:cNvSpPr/>
          <p:nvPr/>
        </p:nvSpPr>
        <p:spPr>
          <a:xfrm rot="60000">
            <a:off x="9690537" y="1479774"/>
            <a:ext cx="3817254" cy="387523"/>
          </a:xfrm>
          <a:prstGeom prst="roundRect">
            <a:avLst>
              <a:gd name="adj" fmla="val 14958"/>
            </a:avLst>
          </a:prstGeom>
          <a:solidFill>
            <a:srgbClr val="8FB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8393" y="1396609"/>
            <a:ext cx="3833256" cy="568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71"/>
              </a:lnSpc>
              <a:buNone/>
            </a:pPr>
            <a:r>
              <a:rPr lang="en-US" sz="3720" b="1" spc="-46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柜面业务操作培训</a:t>
            </a:r>
            <a:endParaRPr lang="en-US" sz="3720" dirty="0"/>
          </a:p>
        </p:txBody>
      </p:sp>
      <p:sp>
        <p:nvSpPr>
          <p:cNvPr id="16" name="Text 14"/>
          <p:cNvSpPr/>
          <p:nvPr/>
        </p:nvSpPr>
        <p:spPr>
          <a:xfrm>
            <a:off x="868680" y="2448185"/>
            <a:ext cx="7243054" cy="1414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-11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9480" dirty="0"/>
          </a:p>
        </p:txBody>
      </p:sp>
      <p:sp>
        <p:nvSpPr>
          <p:cNvPr id="17" name="Text 15"/>
          <p:cNvSpPr/>
          <p:nvPr/>
        </p:nvSpPr>
        <p:spPr>
          <a:xfrm>
            <a:off x="868680" y="3603895"/>
            <a:ext cx="9626895" cy="1414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-11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柜面业务操作培训</a:t>
            </a:r>
            <a:endParaRPr lang="en-US" sz="948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72" y="5466192"/>
            <a:ext cx="2088581" cy="6499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98666" y="5676870"/>
            <a:ext cx="135066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spc="41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620" dirty="0"/>
          </a:p>
        </p:txBody>
      </p:sp>
      <p:sp>
        <p:nvSpPr>
          <p:cNvPr id="20" name="Text 17"/>
          <p:cNvSpPr/>
          <p:nvPr/>
        </p:nvSpPr>
        <p:spPr>
          <a:xfrm rot="-180000">
            <a:off x="3017337" y="5620513"/>
            <a:ext cx="1476299" cy="3883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个人批量开户</a:t>
            </a:r>
            <a:endParaRPr lang="en-US" sz="1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30" y="5257800"/>
            <a:ext cx="914400" cy="6858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490" y="91440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475982" y="7485141"/>
            <a:ext cx="1862061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234" kern="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2040" dirty="0"/>
          </a:p>
        </p:txBody>
      </p:sp>
      <p:sp>
        <p:nvSpPr>
          <p:cNvPr id="24" name="Text 19"/>
          <p:cNvSpPr/>
          <p:nvPr/>
        </p:nvSpPr>
        <p:spPr>
          <a:xfrm>
            <a:off x="10899922" y="7551390"/>
            <a:ext cx="151093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spc="234" kern="0" dirty="0">
                <a:solidFill>
                  <a:srgbClr val="16150F">
                    <a:alpha val="5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1560" dirty="0"/>
          </a:p>
        </p:txBody>
      </p:sp>
      <p:sp>
        <p:nvSpPr>
          <p:cNvPr id="25" name="Text 20"/>
          <p:cNvSpPr/>
          <p:nvPr/>
        </p:nvSpPr>
        <p:spPr>
          <a:xfrm>
            <a:off x="12231380" y="7551390"/>
            <a:ext cx="33595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spc="234" kern="0" dirty="0">
                <a:solidFill>
                  <a:srgbClr val="16150F">
                    <a:alpha val="5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/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130" y="765810"/>
            <a:ext cx="12107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spc="36" kern="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1440" dirty="0"/>
          </a:p>
        </p:txBody>
      </p:sp>
      <p:sp>
        <p:nvSpPr>
          <p:cNvPr id="5" name="Shape 2"/>
          <p:cNvSpPr/>
          <p:nvPr/>
        </p:nvSpPr>
        <p:spPr>
          <a:xfrm>
            <a:off x="2155607" y="891540"/>
            <a:ext cx="365760" cy="2286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419" y="650413"/>
            <a:ext cx="1576608" cy="5052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71526" y="815370"/>
            <a:ext cx="10708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32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260" dirty="0"/>
          </a:p>
        </p:txBody>
      </p:sp>
      <p:sp>
        <p:nvSpPr>
          <p:cNvPr id="8" name="Text 4"/>
          <p:cNvSpPr/>
          <p:nvPr/>
        </p:nvSpPr>
        <p:spPr>
          <a:xfrm>
            <a:off x="853410" y="1741964"/>
            <a:ext cx="11195914" cy="1642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598"/>
              </a:lnSpc>
              <a:buNone/>
            </a:pPr>
            <a:r>
              <a:rPr lang="en-US" sz="11040" b="1" spc="-13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柜面业务操作培训</a:t>
            </a:r>
            <a:endParaRPr lang="en-US" sz="11040" dirty="0"/>
          </a:p>
        </p:txBody>
      </p:sp>
      <p:sp>
        <p:nvSpPr>
          <p:cNvPr id="9" name="Shape 5"/>
          <p:cNvSpPr/>
          <p:nvPr/>
        </p:nvSpPr>
        <p:spPr>
          <a:xfrm rot="-60000">
            <a:off x="741304" y="3284433"/>
            <a:ext cx="8552749" cy="1149675"/>
          </a:xfrm>
          <a:prstGeom prst="roundRect">
            <a:avLst>
              <a:gd name="adj" fmla="val 5042"/>
            </a:avLst>
          </a:prstGeom>
          <a:solidFill>
            <a:srgbClr val="F2E7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3410" y="3087778"/>
            <a:ext cx="8419887" cy="1642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598"/>
              </a:lnSpc>
              <a:buNone/>
            </a:pPr>
            <a:r>
              <a:rPr lang="en-US" sz="11040" b="1" spc="-13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1040" dirty="0"/>
          </a:p>
        </p:txBody>
      </p:sp>
      <p:sp>
        <p:nvSpPr>
          <p:cNvPr id="11" name="Text 7"/>
          <p:cNvSpPr/>
          <p:nvPr/>
        </p:nvSpPr>
        <p:spPr>
          <a:xfrm>
            <a:off x="9181856" y="3087778"/>
            <a:ext cx="4255618" cy="1642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598"/>
              </a:lnSpc>
              <a:buNone/>
            </a:pPr>
            <a:r>
              <a:rPr lang="en-US" sz="11040" b="1" spc="-13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掌握业</a:t>
            </a:r>
            <a:endParaRPr lang="en-US" sz="11040" dirty="0"/>
          </a:p>
        </p:txBody>
      </p:sp>
      <p:sp>
        <p:nvSpPr>
          <p:cNvPr id="12" name="Text 8"/>
          <p:cNvSpPr/>
          <p:nvPr/>
        </p:nvSpPr>
        <p:spPr>
          <a:xfrm>
            <a:off x="853410" y="4433683"/>
            <a:ext cx="11195914" cy="1642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598"/>
              </a:lnSpc>
              <a:buNone/>
            </a:pPr>
            <a:r>
              <a:rPr lang="en-US" sz="11040" b="1" spc="-13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务流程与合规要点</a:t>
            </a:r>
            <a:endParaRPr lang="en-US" sz="11040" dirty="0"/>
          </a:p>
        </p:txBody>
      </p:sp>
      <p:sp>
        <p:nvSpPr>
          <p:cNvPr id="13" name="Text 9"/>
          <p:cNvSpPr/>
          <p:nvPr/>
        </p:nvSpPr>
        <p:spPr>
          <a:xfrm>
            <a:off x="914400" y="4894417"/>
            <a:ext cx="244771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20" b="1" spc="111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柜面业务操作培训</a:t>
            </a:r>
            <a:endParaRPr lang="en-US" sz="2220" dirty="0"/>
          </a:p>
        </p:txBody>
      </p:sp>
      <p:sp>
        <p:nvSpPr>
          <p:cNvPr id="14" name="Text 10"/>
          <p:cNvSpPr/>
          <p:nvPr/>
        </p:nvSpPr>
        <p:spPr>
          <a:xfrm rot="-180000">
            <a:off x="904524" y="5564581"/>
            <a:ext cx="319278" cy="412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1163483" y="5562570"/>
            <a:ext cx="1399123" cy="3886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63483" y="5916410"/>
            <a:ext cx="1399123" cy="34779"/>
          </a:xfrm>
          <a:prstGeom prst="rect">
            <a:avLst/>
          </a:prstGeom>
          <a:solidFill>
            <a:srgbClr val="F5A8BC"/>
          </a:solidFill>
          <a:ln w="12700">
            <a:solidFill>
              <a:srgbClr val="F5A8BC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63483" y="5594711"/>
            <a:ext cx="1490563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spc="45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27730" y="6425398"/>
            <a:ext cx="146304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个人批量开户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3276570" y="6309360"/>
            <a:ext cx="914400" cy="68580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650" y="533370"/>
            <a:ext cx="487650" cy="48765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9290" y="5791170"/>
            <a:ext cx="335310" cy="3353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475982" y="7485141"/>
            <a:ext cx="1862061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234" kern="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2040" dirty="0"/>
          </a:p>
        </p:txBody>
      </p:sp>
      <p:sp>
        <p:nvSpPr>
          <p:cNvPr id="23" name="Text 16"/>
          <p:cNvSpPr/>
          <p:nvPr/>
        </p:nvSpPr>
        <p:spPr>
          <a:xfrm>
            <a:off x="10899922" y="7551390"/>
            <a:ext cx="1510932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spc="234" kern="0" dirty="0">
                <a:solidFill>
                  <a:srgbClr val="16150F">
                    <a:alpha val="5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1560" dirty="0"/>
          </a:p>
        </p:txBody>
      </p:sp>
      <p:sp>
        <p:nvSpPr>
          <p:cNvPr id="24" name="Text 17"/>
          <p:cNvSpPr/>
          <p:nvPr/>
        </p:nvSpPr>
        <p:spPr>
          <a:xfrm>
            <a:off x="12231380" y="7551390"/>
            <a:ext cx="335951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spc="234" kern="0" dirty="0">
                <a:solidFill>
                  <a:srgbClr val="16150F">
                    <a:alpha val="5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/</a:t>
            </a:r>
            <a:endParaRPr lang="en-US" sz="1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9E7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73576" y="731520"/>
            <a:ext cx="14831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spc="288" kern="0" dirty="0">
                <a:solidFill>
                  <a:srgbClr val="16161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个人批量开户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4594860" y="1448684"/>
            <a:ext cx="2560320" cy="49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24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3240" dirty="0"/>
          </a:p>
        </p:txBody>
      </p:sp>
      <p:sp>
        <p:nvSpPr>
          <p:cNvPr id="7" name="Text 4"/>
          <p:cNvSpPr/>
          <p:nvPr/>
        </p:nvSpPr>
        <p:spPr>
          <a:xfrm>
            <a:off x="7062826" y="1448684"/>
            <a:ext cx="504749" cy="49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24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・</a:t>
            </a:r>
            <a:endParaRPr lang="en-US" sz="3240" dirty="0"/>
          </a:p>
        </p:txBody>
      </p:sp>
      <p:sp>
        <p:nvSpPr>
          <p:cNvPr id="8" name="Text 5"/>
          <p:cNvSpPr/>
          <p:nvPr/>
        </p:nvSpPr>
        <p:spPr>
          <a:xfrm>
            <a:off x="7475220" y="1448684"/>
            <a:ext cx="2560320" cy="49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24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3240" dirty="0"/>
          </a:p>
        </p:txBody>
      </p:sp>
      <p:sp>
        <p:nvSpPr>
          <p:cNvPr id="9" name="Text 6"/>
          <p:cNvSpPr/>
          <p:nvPr/>
        </p:nvSpPr>
        <p:spPr>
          <a:xfrm>
            <a:off x="4617720" y="2400253"/>
            <a:ext cx="5394960" cy="1040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326"/>
              </a:lnSpc>
              <a:buNone/>
            </a:pPr>
            <a:r>
              <a:rPr lang="en-US" sz="696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6960" dirty="0"/>
          </a:p>
        </p:txBody>
      </p:sp>
      <p:sp>
        <p:nvSpPr>
          <p:cNvPr id="10" name="Shape 7"/>
          <p:cNvSpPr/>
          <p:nvPr/>
        </p:nvSpPr>
        <p:spPr>
          <a:xfrm rot="-60000">
            <a:off x="2188525" y="3589569"/>
            <a:ext cx="10253167" cy="960577"/>
          </a:xfrm>
          <a:prstGeom prst="roundRect">
            <a:avLst>
              <a:gd name="adj" fmla="val 2414"/>
            </a:avLst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07890" y="3584676"/>
            <a:ext cx="9814530" cy="1040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326"/>
              </a:lnSpc>
              <a:buNone/>
            </a:pPr>
            <a:r>
              <a:rPr lang="en-US" sz="6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掌握业务流程与合规要点</a:t>
            </a:r>
            <a:endParaRPr lang="en-US" sz="6960" dirty="0"/>
          </a:p>
        </p:txBody>
      </p:sp>
      <p:sp>
        <p:nvSpPr>
          <p:cNvPr id="12" name="Shape 9"/>
          <p:cNvSpPr/>
          <p:nvPr/>
        </p:nvSpPr>
        <p:spPr>
          <a:xfrm rot="-120000">
            <a:off x="6507510" y="6021324"/>
            <a:ext cx="1615470" cy="350490"/>
          </a:xfrm>
          <a:prstGeom prst="rect">
            <a:avLst/>
          </a:prstGeom>
          <a:solidFill>
            <a:srgbClr val="5C7C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47625" dir="3187806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 rot="-120000">
            <a:off x="6823984" y="6065581"/>
            <a:ext cx="1195487" cy="278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8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44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60000">
            <a:off x="2910810" y="3276570"/>
            <a:ext cx="914400" cy="6858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440000">
            <a:off x="10820370" y="3352830"/>
            <a:ext cx="914400" cy="6858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350" y="199641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123758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3069731" y="761970"/>
            <a:ext cx="79870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68"/>
              </a:lnSpc>
              <a:buNone/>
            </a:pPr>
            <a:r>
              <a:rPr lang="en-US" sz="1140" b="1" spc="200" kern="0" dirty="0">
                <a:solidFill>
                  <a:srgbClr val="E7E6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业务培训</a:t>
            </a:r>
            <a:endParaRPr lang="en-US" sz="1140" dirty="0"/>
          </a:p>
        </p:txBody>
      </p:sp>
      <p:sp>
        <p:nvSpPr>
          <p:cNvPr id="8" name="Text 4"/>
          <p:cNvSpPr/>
          <p:nvPr/>
        </p:nvSpPr>
        <p:spPr>
          <a:xfrm>
            <a:off x="761970" y="1635541"/>
            <a:ext cx="3213293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个人批量开户</a:t>
            </a:r>
            <a:endParaRPr lang="en-US" sz="4320" dirty="0"/>
          </a:p>
        </p:txBody>
      </p:sp>
      <p:sp>
        <p:nvSpPr>
          <p:cNvPr id="9" name="Text 5"/>
          <p:cNvSpPr/>
          <p:nvPr/>
        </p:nvSpPr>
        <p:spPr>
          <a:xfrm>
            <a:off x="761970" y="5069799"/>
            <a:ext cx="24458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柜面业务操作培训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9621408" y="5067330"/>
            <a:ext cx="229971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掌握业务流程与合规要点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8230" y="3462193"/>
            <a:ext cx="396210" cy="38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5A8BC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8230" y="3462193"/>
            <a:ext cx="396210" cy="57965"/>
          </a:xfrm>
          <a:prstGeom prst="rect">
            <a:avLst/>
          </a:prstGeom>
          <a:solidFill>
            <a:srgbClr val="F5A8BC"/>
          </a:solidFill>
          <a:ln w="12700">
            <a:solidFill>
              <a:srgbClr val="F5A8B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41150" y="3485053"/>
            <a:ext cx="139458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83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13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16" y="3484047"/>
            <a:ext cx="259050" cy="184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8230" y="3918205"/>
            <a:ext cx="9083010" cy="1002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000" b="1" spc="-11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6000" dirty="0"/>
          </a:p>
        </p:txBody>
      </p:sp>
      <p:sp>
        <p:nvSpPr>
          <p:cNvPr id="9" name="Shape 5"/>
          <p:cNvSpPr/>
          <p:nvPr/>
        </p:nvSpPr>
        <p:spPr>
          <a:xfrm>
            <a:off x="10652760" y="937260"/>
            <a:ext cx="3139410" cy="6452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652760" y="937260"/>
            <a:ext cx="46372" cy="6452006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42350" y="2944917"/>
            <a:ext cx="2849910" cy="6476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942350" y="3580993"/>
            <a:ext cx="2849910" cy="11593"/>
          </a:xfrm>
          <a:prstGeom prst="rect">
            <a:avLst/>
          </a:prstGeom>
          <a:solidFill>
            <a:srgbClr val="16150F">
              <a:alpha val="2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942350" y="2975366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11393790" y="3165836"/>
            <a:ext cx="248533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借记卡｜个人结算账户</a:t>
            </a:r>
            <a:endParaRPr lang="en-US" sz="1440" dirty="0"/>
          </a:p>
        </p:txBody>
      </p:sp>
      <p:sp>
        <p:nvSpPr>
          <p:cNvPr id="15" name="Shape 11"/>
          <p:cNvSpPr/>
          <p:nvPr/>
        </p:nvSpPr>
        <p:spPr>
          <a:xfrm>
            <a:off x="10942350" y="3592586"/>
            <a:ext cx="2849910" cy="6476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42350" y="4228663"/>
            <a:ext cx="2849910" cy="11593"/>
          </a:xfrm>
          <a:prstGeom prst="rect">
            <a:avLst/>
          </a:prstGeom>
          <a:solidFill>
            <a:srgbClr val="16150F">
              <a:alpha val="2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942350" y="3623036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11456060" y="3813597"/>
            <a:ext cx="225564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结算户 · 存折｜储蓄户开立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10942350" y="4270797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11456060" y="4461266"/>
            <a:ext cx="238475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 / 活期 · 存单｜零余额 /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11456060" y="4717298"/>
            <a:ext cx="225564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非零余额 · 开户方式：存单</a:t>
            </a:r>
            <a:endParaRPr lang="en-US" sz="1440" dirty="0"/>
          </a:p>
        </p:txBody>
      </p:sp>
      <p:sp>
        <p:nvSpPr>
          <p:cNvPr id="22" name="Text 18"/>
          <p:cNvSpPr/>
          <p:nvPr/>
        </p:nvSpPr>
        <p:spPr>
          <a:xfrm>
            <a:off x="11456060" y="4973239"/>
            <a:ext cx="118872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不支持零余额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838230" y="685800"/>
            <a:ext cx="363748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借记卡｜个人结算账户</a:t>
            </a:r>
            <a:endParaRPr lang="en-US" sz="1440" dirty="0"/>
          </a:p>
        </p:txBody>
      </p:sp>
      <p:sp>
        <p:nvSpPr>
          <p:cNvPr id="24" name="Shape 20"/>
          <p:cNvSpPr/>
          <p:nvPr/>
        </p:nvSpPr>
        <p:spPr>
          <a:xfrm>
            <a:off x="3902385" y="777240"/>
            <a:ext cx="8182966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02385" y="777240"/>
            <a:ext cx="8182966" cy="34779"/>
          </a:xfrm>
          <a:prstGeom prst="rect">
            <a:avLst/>
          </a:prstGeom>
          <a:solidFill>
            <a:srgbClr val="16150F">
              <a:alpha val="45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rot="-120000">
            <a:off x="12222510" y="640080"/>
            <a:ext cx="1569750" cy="29718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 rot="-120000">
            <a:off x="12319163" y="612739"/>
            <a:ext cx="1467795" cy="379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借记卡：个人结算账户</a:t>
            </a:r>
            <a:endParaRPr lang="en-US" sz="108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7389266"/>
            <a:ext cx="365760" cy="2612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10610" y="7439833"/>
            <a:ext cx="182114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结算户 · 存折｜储蓄户开立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 rot="-240000">
            <a:off x="12861310" y="7409383"/>
            <a:ext cx="929670" cy="22101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 rot="-240000">
            <a:off x="12940314" y="7377105"/>
            <a:ext cx="871995" cy="312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spc="5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个人结算账户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7913" y="4934551"/>
            <a:ext cx="2011863" cy="364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32"/>
              </a:lnSpc>
              <a:buNone/>
            </a:pPr>
            <a:r>
              <a:rPr lang="en-US" sz="33600" dirty="0">
                <a:solidFill>
                  <a:srgbClr val="B9E8C8">
                    <a:alpha val="12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”</a:t>
            </a:r>
            <a:endParaRPr lang="en-US" sz="33600" dirty="0"/>
          </a:p>
        </p:txBody>
      </p:sp>
      <p:sp>
        <p:nvSpPr>
          <p:cNvPr id="5" name="Shape 2"/>
          <p:cNvSpPr/>
          <p:nvPr/>
        </p:nvSpPr>
        <p:spPr>
          <a:xfrm>
            <a:off x="838230" y="2802179"/>
            <a:ext cx="41148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6330" y="2825039"/>
            <a:ext cx="191437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132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借记卡：个人结算账户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838230" y="3272248"/>
            <a:ext cx="4792675" cy="742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30"/>
              </a:lnSpc>
              <a:buNone/>
            </a:pPr>
            <a:r>
              <a:rPr lang="en-US" sz="5520" b="1" spc="-69" kern="0" dirty="0">
                <a:solidFill>
                  <a:srgbClr val="FBFAF4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552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0" y="3679820"/>
            <a:ext cx="7527615" cy="19834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-60000">
            <a:off x="982523" y="3969666"/>
            <a:ext cx="6956298" cy="1506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11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结算户 · 存折</a:t>
            </a:r>
            <a:endParaRPr lang="en-US" sz="9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7734544" y="4362968"/>
            <a:ext cx="533370" cy="3810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8230" y="655350"/>
            <a:ext cx="376549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60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借记卡｜个人结算账户</a:t>
            </a:r>
            <a:endParaRPr lang="en-US" sz="1440" dirty="0"/>
          </a:p>
        </p:txBody>
      </p:sp>
      <p:sp>
        <p:nvSpPr>
          <p:cNvPr id="12" name="Shape 7"/>
          <p:cNvSpPr/>
          <p:nvPr/>
        </p:nvSpPr>
        <p:spPr>
          <a:xfrm>
            <a:off x="3964564" y="746790"/>
            <a:ext cx="8943746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964564" y="746790"/>
            <a:ext cx="8943746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rot="-120000">
            <a:off x="13045470" y="60963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 rot="-120000">
            <a:off x="13141848" y="59664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108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266" y="696316"/>
            <a:ext cx="2310597" cy="23105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 rot="-780000">
            <a:off x="12234489" y="1206300"/>
            <a:ext cx="1474744" cy="976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94"/>
              </a:lnSpc>
              <a:buNone/>
            </a:pPr>
            <a:r>
              <a:rPr lang="en-US" sz="276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2760" dirty="0"/>
          </a:p>
        </p:txBody>
      </p:sp>
      <p:sp>
        <p:nvSpPr>
          <p:cNvPr id="18" name="Text 12"/>
          <p:cNvSpPr/>
          <p:nvPr/>
        </p:nvSpPr>
        <p:spPr>
          <a:xfrm rot="-780000">
            <a:off x="12865349" y="2134575"/>
            <a:ext cx="491642" cy="229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40" b="1" spc="168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借记卡</a:t>
            </a:r>
            <a:endParaRPr lang="en-US" sz="840" dirty="0"/>
          </a:p>
        </p:txBody>
      </p:sp>
      <p:sp>
        <p:nvSpPr>
          <p:cNvPr id="19" name="Shape 13"/>
          <p:cNvSpPr/>
          <p:nvPr/>
        </p:nvSpPr>
        <p:spPr>
          <a:xfrm>
            <a:off x="838230" y="7218365"/>
            <a:ext cx="12954030" cy="462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8230" y="7218365"/>
            <a:ext cx="12954030" cy="34779"/>
          </a:xfrm>
          <a:prstGeom prst="rect">
            <a:avLst/>
          </a:prstGeom>
          <a:solidFill>
            <a:srgbClr val="FBFAF4">
              <a:alpha val="28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30" y="7408926"/>
            <a:ext cx="381030" cy="2720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7464887"/>
            <a:ext cx="67242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63028"/>
            <a:ext cx="81947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99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914400" y="2868287"/>
            <a:ext cx="11521440" cy="1088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2"/>
              </a:lnSpc>
              <a:buNone/>
            </a:pPr>
            <a:r>
              <a:rPr lang="en-US" sz="6960" b="1" spc="-10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6960" dirty="0"/>
          </a:p>
        </p:txBody>
      </p:sp>
      <p:sp>
        <p:nvSpPr>
          <p:cNvPr id="6" name="Shape 3"/>
          <p:cNvSpPr/>
          <p:nvPr/>
        </p:nvSpPr>
        <p:spPr>
          <a:xfrm>
            <a:off x="914400" y="4308470"/>
            <a:ext cx="4135008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35410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52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4508449" y="4514210"/>
            <a:ext cx="32004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410" y="4843943"/>
            <a:ext cx="2043989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2280" dirty="0"/>
          </a:p>
        </p:txBody>
      </p:sp>
      <p:sp>
        <p:nvSpPr>
          <p:cNvPr id="10" name="Text 6"/>
          <p:cNvSpPr/>
          <p:nvPr/>
        </p:nvSpPr>
        <p:spPr>
          <a:xfrm>
            <a:off x="1135410" y="5261000"/>
            <a:ext cx="169164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借记卡：个人结算账户</a:t>
            </a:r>
            <a:endParaRPr lang="en-US" sz="1260" dirty="0"/>
          </a:p>
        </p:txBody>
      </p:sp>
      <p:sp>
        <p:nvSpPr>
          <p:cNvPr id="11" name="Shape 7"/>
          <p:cNvSpPr/>
          <p:nvPr/>
        </p:nvSpPr>
        <p:spPr>
          <a:xfrm>
            <a:off x="5247559" y="4308470"/>
            <a:ext cx="4135191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68569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52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8841699" y="4514210"/>
            <a:ext cx="32004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68569" y="4843943"/>
            <a:ext cx="184419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结算户 · 存折</a:t>
            </a:r>
            <a:endParaRPr lang="en-US" sz="2280" dirty="0"/>
          </a:p>
        </p:txBody>
      </p:sp>
      <p:sp>
        <p:nvSpPr>
          <p:cNvPr id="15" name="Text 10"/>
          <p:cNvSpPr/>
          <p:nvPr/>
        </p:nvSpPr>
        <p:spPr>
          <a:xfrm>
            <a:off x="5468569" y="5261000"/>
            <a:ext cx="13716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存折：储蓄户开立</a:t>
            </a:r>
            <a:endParaRPr lang="en-US" sz="1260" dirty="0"/>
          </a:p>
        </p:txBody>
      </p:sp>
      <p:sp>
        <p:nvSpPr>
          <p:cNvPr id="16" name="Shape 11"/>
          <p:cNvSpPr/>
          <p:nvPr/>
        </p:nvSpPr>
        <p:spPr>
          <a:xfrm>
            <a:off x="9580809" y="4308470"/>
            <a:ext cx="4135191" cy="1612544"/>
          </a:xfrm>
          <a:prstGeom prst="rect">
            <a:avLst/>
          </a:prstGeom>
          <a:solidFill>
            <a:srgbClr val="B9E8C8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42875" dir="3187806">
              <a:srgbClr val="16150F">
                <a:alpha val="2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801819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52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13174950" y="4514210"/>
            <a:ext cx="32004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01819" y="4843943"/>
            <a:ext cx="246674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 / 活期 · 存单</a:t>
            </a:r>
            <a:endParaRPr lang="en-US" sz="2280" dirty="0"/>
          </a:p>
        </p:txBody>
      </p:sp>
      <p:sp>
        <p:nvSpPr>
          <p:cNvPr id="20" name="Text 14"/>
          <p:cNvSpPr/>
          <p:nvPr/>
        </p:nvSpPr>
        <p:spPr>
          <a:xfrm>
            <a:off x="9801819" y="5261000"/>
            <a:ext cx="36638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16150F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存单｜零余额 / 非零余额 · 开户方式：存单不支持零</a:t>
            </a:r>
            <a:endParaRPr lang="en-US" sz="1260" dirty="0"/>
          </a:p>
        </p:txBody>
      </p:sp>
      <p:sp>
        <p:nvSpPr>
          <p:cNvPr id="21" name="Text 15"/>
          <p:cNvSpPr/>
          <p:nvPr/>
        </p:nvSpPr>
        <p:spPr>
          <a:xfrm>
            <a:off x="9801819" y="5488229"/>
            <a:ext cx="41696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16150F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</a:t>
            </a:r>
            <a:endParaRPr lang="en-US" sz="1260" dirty="0"/>
          </a:p>
        </p:txBody>
      </p:sp>
      <p:sp>
        <p:nvSpPr>
          <p:cNvPr id="22" name="Shape 16"/>
          <p:cNvSpPr/>
          <p:nvPr/>
        </p:nvSpPr>
        <p:spPr>
          <a:xfrm rot="420000">
            <a:off x="13022610" y="4201851"/>
            <a:ext cx="761970" cy="19815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 rot="420000">
            <a:off x="13101157" y="4156131"/>
            <a:ext cx="695310" cy="316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7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个人结算账户</a:t>
            </a:r>
            <a:endParaRPr lang="en-US" sz="780" dirty="0"/>
          </a:p>
        </p:txBody>
      </p:sp>
      <p:sp>
        <p:nvSpPr>
          <p:cNvPr id="24" name="Text 18"/>
          <p:cNvSpPr/>
          <p:nvPr/>
        </p:nvSpPr>
        <p:spPr>
          <a:xfrm>
            <a:off x="914400" y="685800"/>
            <a:ext cx="363748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借记卡｜个人结算账户</a:t>
            </a:r>
            <a:endParaRPr lang="en-US" sz="1440" dirty="0"/>
          </a:p>
        </p:txBody>
      </p:sp>
      <p:sp>
        <p:nvSpPr>
          <p:cNvPr id="25" name="Shape 19"/>
          <p:cNvSpPr/>
          <p:nvPr/>
        </p:nvSpPr>
        <p:spPr>
          <a:xfrm>
            <a:off x="3978554" y="777240"/>
            <a:ext cx="8030535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978554" y="777240"/>
            <a:ext cx="8030535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rot="-120000">
            <a:off x="12146250" y="640080"/>
            <a:ext cx="156975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 rot="-120000">
            <a:off x="12242993" y="612739"/>
            <a:ext cx="1467795" cy="379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借记卡：个人结算账户</a:t>
            </a:r>
            <a:endParaRPr lang="en-US" sz="108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424105"/>
            <a:ext cx="381030" cy="2720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02050" y="7480066"/>
            <a:ext cx="123261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存折：储蓄户开立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84496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2154326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4320" dirty="0"/>
          </a:p>
        </p:txBody>
      </p:sp>
      <p:sp>
        <p:nvSpPr>
          <p:cNvPr id="8" name="Text 4"/>
          <p:cNvSpPr/>
          <p:nvPr/>
        </p:nvSpPr>
        <p:spPr>
          <a:xfrm>
            <a:off x="761970" y="3347618"/>
            <a:ext cx="45538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受单位委托批量开立个人银行账户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61970" y="5928330"/>
            <a:ext cx="168249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代理人经柜面办理</a:t>
            </a:r>
            <a:endParaRPr lang="en-US" sz="1620" dirty="0"/>
          </a:p>
        </p:txBody>
      </p:sp>
      <p:sp>
        <p:nvSpPr>
          <p:cNvPr id="10" name="Shape 6"/>
          <p:cNvSpPr/>
          <p:nvPr/>
        </p:nvSpPr>
        <p:spPr>
          <a:xfrm>
            <a:off x="6299119" y="3345150"/>
            <a:ext cx="7569312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3833651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99119" y="3360420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6725869" y="3352830"/>
            <a:ext cx="138226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Ⅰ/Ⅱ类 · 借记卡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725869" y="3629071"/>
            <a:ext cx="100584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个人结算账户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119" y="3930731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9119" y="3930731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99119" y="406030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6725869" y="4052621"/>
            <a:ext cx="125082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结算户 · 存折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25869" y="4328861"/>
            <a:ext cx="8534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储蓄户开立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99119" y="4630613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99119" y="4630613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99119" y="476009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19"/>
          <p:cNvSpPr/>
          <p:nvPr/>
        </p:nvSpPr>
        <p:spPr>
          <a:xfrm>
            <a:off x="6725869" y="4752503"/>
            <a:ext cx="166039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 / 活期 · 存单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725869" y="5028743"/>
            <a:ext cx="142646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 50 元以上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99119" y="5330403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99119" y="5330403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99119" y="5459974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4"/>
          <p:cNvSpPr/>
          <p:nvPr/>
        </p:nvSpPr>
        <p:spPr>
          <a:xfrm>
            <a:off x="6725869" y="5452384"/>
            <a:ext cx="257479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零余额 / 非零余额 · 开户方式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725869" y="5728533"/>
            <a:ext cx="13106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存单不支持零余额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586770"/>
            <a:ext cx="47091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登录场景｜输入 026401 进入场景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01702"/>
            <a:ext cx="4417101" cy="591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46"/>
              </a:lnSpc>
              <a:buNone/>
            </a:pPr>
            <a:r>
              <a:rPr lang="en-US" sz="46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①</a:t>
            </a:r>
            <a:endParaRPr lang="en-US" sz="4680" dirty="0"/>
          </a:p>
        </p:txBody>
      </p:sp>
      <p:sp>
        <p:nvSpPr>
          <p:cNvPr id="6" name="Shape 3"/>
          <p:cNvSpPr/>
          <p:nvPr/>
        </p:nvSpPr>
        <p:spPr>
          <a:xfrm rot="-120000">
            <a:off x="5284409" y="1105601"/>
            <a:ext cx="271275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390022" y="1058418"/>
            <a:ext cx="2593147" cy="472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登录场景：输入 026401 进入场景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1474973" y="1233708"/>
            <a:ext cx="239336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交易代码 026401 · 业务柜员</a:t>
            </a:r>
            <a:endParaRPr lang="en-US" sz="1380" dirty="0"/>
          </a:p>
        </p:txBody>
      </p:sp>
      <p:sp>
        <p:nvSpPr>
          <p:cNvPr id="9" name="Shape 6"/>
          <p:cNvSpPr/>
          <p:nvPr/>
        </p:nvSpPr>
        <p:spPr>
          <a:xfrm>
            <a:off x="761970" y="1669512"/>
            <a:ext cx="13106370" cy="5706679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1980" dir="3080412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48940" y="1886682"/>
            <a:ext cx="137160" cy="137160"/>
          </a:xfrm>
          <a:prstGeom prst="ellipse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1890431"/>
            <a:ext cx="91097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73561" y="1886682"/>
            <a:ext cx="137160" cy="137160"/>
          </a:xfrm>
          <a:prstGeom prst="ellipse">
            <a:avLst/>
          </a:prstGeom>
          <a:solidFill>
            <a:srgbClr val="F5A8BC"/>
          </a:solidFill>
          <a:ln w="28575">
            <a:solidFill>
              <a:srgbClr val="1615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79301" y="1890431"/>
            <a:ext cx="578644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53030" y="1920972"/>
            <a:ext cx="274320" cy="6858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95930" y="1890431"/>
            <a:ext cx="103070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07790" y="2879492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5562" y="3168853"/>
            <a:ext cx="1648068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登录场景：输入 026401 进入场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08804" y="3306013"/>
            <a:ext cx="2048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2948940" y="3149102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48940" y="2924251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48940" y="2924251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11019" y="2710922"/>
            <a:ext cx="1613093" cy="134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20" b="1" spc="3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证件与人脸：选证件类型，人脸识别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209806" y="3046232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9806" y="3046232"/>
            <a:ext cx="228600" cy="228600"/>
          </a:xfrm>
          <a:prstGeom prst="ellipse">
            <a:avLst/>
          </a:prstGeom>
          <a:solidFill>
            <a:srgbClr val="F5A8BC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0317" y="2985242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60" dirty="0"/>
          </a:p>
        </p:txBody>
      </p:sp>
      <p:sp>
        <p:nvSpPr>
          <p:cNvPr id="26" name="Text 23"/>
          <p:cNvSpPr/>
          <p:nvPr/>
        </p:nvSpPr>
        <p:spPr>
          <a:xfrm>
            <a:off x="4607936" y="3137672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4506986" y="2985242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60" dirty="0"/>
          </a:p>
        </p:txBody>
      </p:sp>
      <p:sp>
        <p:nvSpPr>
          <p:cNvPr id="28" name="Text 25"/>
          <p:cNvSpPr/>
          <p:nvPr/>
        </p:nvSpPr>
        <p:spPr>
          <a:xfrm>
            <a:off x="12030304" y="3130723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12961529" y="2924983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3067233" y="2924983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1379190" y="3520943"/>
            <a:ext cx="12344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066008" y="3810396"/>
            <a:ext cx="154771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证件与人脸：选证件类型，人脸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2302872" y="3947556"/>
            <a:ext cx="310758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948940" y="3790554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48940" y="3565794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48940" y="3565794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84972" y="3687684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84972" y="3687684"/>
            <a:ext cx="228600" cy="228600"/>
          </a:xfrm>
          <a:prstGeom prst="ellipse">
            <a:avLst/>
          </a:prstGeom>
          <a:solidFill>
            <a:srgbClr val="8DBEEC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255484" y="3626785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60" dirty="0"/>
          </a:p>
        </p:txBody>
      </p:sp>
      <p:sp>
        <p:nvSpPr>
          <p:cNvPr id="40" name="Text 37"/>
          <p:cNvSpPr/>
          <p:nvPr/>
        </p:nvSpPr>
        <p:spPr>
          <a:xfrm>
            <a:off x="6021781" y="3779124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5882152" y="3626785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60" dirty="0"/>
          </a:p>
        </p:txBody>
      </p:sp>
      <p:sp>
        <p:nvSpPr>
          <p:cNvPr id="42" name="Text 39"/>
          <p:cNvSpPr/>
          <p:nvPr/>
        </p:nvSpPr>
        <p:spPr>
          <a:xfrm>
            <a:off x="12030304" y="3772266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43" name="Text 40"/>
          <p:cNvSpPr/>
          <p:nvPr/>
        </p:nvSpPr>
        <p:spPr>
          <a:xfrm>
            <a:off x="12961529" y="3566526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8DBEE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13067233" y="3566526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8DBEE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1607790" y="4162486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企业核实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066008" y="4451848"/>
            <a:ext cx="154771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企业核实：填企业证件，核查请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2408804" y="4589008"/>
            <a:ext cx="2048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2948940" y="4432097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48940" y="4207337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948940" y="4207337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960138" y="4329227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960138" y="4329227"/>
            <a:ext cx="228600" cy="228600"/>
          </a:xfrm>
          <a:prstGeom prst="ellipse">
            <a:avLst/>
          </a:prstGeom>
          <a:solidFill>
            <a:srgbClr val="E83B22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30650" y="4268236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60" dirty="0"/>
          </a:p>
        </p:txBody>
      </p:sp>
      <p:sp>
        <p:nvSpPr>
          <p:cNvPr id="54" name="Text 51"/>
          <p:cNvSpPr/>
          <p:nvPr/>
        </p:nvSpPr>
        <p:spPr>
          <a:xfrm>
            <a:off x="7397039" y="4420667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55" name="Text 52"/>
          <p:cNvSpPr/>
          <p:nvPr/>
        </p:nvSpPr>
        <p:spPr>
          <a:xfrm>
            <a:off x="7257318" y="4268236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60" dirty="0"/>
          </a:p>
        </p:txBody>
      </p:sp>
      <p:sp>
        <p:nvSpPr>
          <p:cNvPr id="56" name="Text 53"/>
          <p:cNvSpPr/>
          <p:nvPr/>
        </p:nvSpPr>
        <p:spPr>
          <a:xfrm>
            <a:off x="12030304" y="4413809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57" name="Text 54"/>
          <p:cNvSpPr/>
          <p:nvPr/>
        </p:nvSpPr>
        <p:spPr>
          <a:xfrm>
            <a:off x="12961529" y="4208069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13067233" y="4208069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59" name="Text 56"/>
          <p:cNvSpPr/>
          <p:nvPr/>
        </p:nvSpPr>
        <p:spPr>
          <a:xfrm>
            <a:off x="1607790" y="4810887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核查结果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170066" y="5100249"/>
            <a:ext cx="144365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核查结果：确认无误后下一步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2948940" y="5011918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948940" y="4787158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948940" y="4787158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335305" y="4909048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335305" y="4909048"/>
            <a:ext cx="228600" cy="228600"/>
          </a:xfrm>
          <a:prstGeom prst="ellipse">
            <a:avLst/>
          </a:prstGeom>
          <a:solidFill>
            <a:srgbClr val="16150F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005816" y="4848149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60" dirty="0"/>
          </a:p>
        </p:txBody>
      </p:sp>
      <p:sp>
        <p:nvSpPr>
          <p:cNvPr id="67" name="Text 64"/>
          <p:cNvSpPr/>
          <p:nvPr/>
        </p:nvSpPr>
        <p:spPr>
          <a:xfrm>
            <a:off x="8772205" y="5000488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68" name="Text 65"/>
          <p:cNvSpPr/>
          <p:nvPr/>
        </p:nvSpPr>
        <p:spPr>
          <a:xfrm>
            <a:off x="8632485" y="4848149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60" dirty="0"/>
          </a:p>
        </p:txBody>
      </p:sp>
      <p:sp>
        <p:nvSpPr>
          <p:cNvPr id="69" name="Text 66"/>
          <p:cNvSpPr/>
          <p:nvPr/>
        </p:nvSpPr>
        <p:spPr>
          <a:xfrm>
            <a:off x="12030304" y="4993630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70" name="Text 67"/>
          <p:cNvSpPr/>
          <p:nvPr/>
        </p:nvSpPr>
        <p:spPr>
          <a:xfrm>
            <a:off x="12961529" y="4787890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71" name="Text 68"/>
          <p:cNvSpPr/>
          <p:nvPr/>
        </p:nvSpPr>
        <p:spPr>
          <a:xfrm>
            <a:off x="13067233" y="4787890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72" name="Text 69"/>
          <p:cNvSpPr/>
          <p:nvPr/>
        </p:nvSpPr>
        <p:spPr>
          <a:xfrm>
            <a:off x="1607790" y="5322128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协议维护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1066008" y="5611490"/>
            <a:ext cx="154771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协议维护：查询、新增或编辑协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2408804" y="5748650"/>
            <a:ext cx="2048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</a:t>
            </a:r>
            <a:endParaRPr lang="en-US" sz="780" dirty="0"/>
          </a:p>
        </p:txBody>
      </p:sp>
      <p:sp>
        <p:nvSpPr>
          <p:cNvPr id="75" name="Shape 72"/>
          <p:cNvSpPr/>
          <p:nvPr/>
        </p:nvSpPr>
        <p:spPr>
          <a:xfrm>
            <a:off x="2948940" y="5591739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948940" y="5366979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948940" y="5366979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710471" y="5488869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710471" y="5488869"/>
            <a:ext cx="228600" cy="228600"/>
          </a:xfrm>
          <a:prstGeom prst="ellipse">
            <a:avLst/>
          </a:prstGeom>
          <a:solidFill>
            <a:srgbClr val="F5A8BC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380982" y="5427970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860" dirty="0"/>
          </a:p>
        </p:txBody>
      </p:sp>
      <p:sp>
        <p:nvSpPr>
          <p:cNvPr id="81" name="Text 78"/>
          <p:cNvSpPr/>
          <p:nvPr/>
        </p:nvSpPr>
        <p:spPr>
          <a:xfrm>
            <a:off x="10147371" y="5580309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82" name="Text 79"/>
          <p:cNvSpPr/>
          <p:nvPr/>
        </p:nvSpPr>
        <p:spPr>
          <a:xfrm>
            <a:off x="10007651" y="5427970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860" dirty="0"/>
          </a:p>
        </p:txBody>
      </p:sp>
      <p:sp>
        <p:nvSpPr>
          <p:cNvPr id="83" name="Text 80"/>
          <p:cNvSpPr/>
          <p:nvPr/>
        </p:nvSpPr>
        <p:spPr>
          <a:xfrm>
            <a:off x="12030304" y="5573451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84" name="Text 81"/>
          <p:cNvSpPr/>
          <p:nvPr/>
        </p:nvSpPr>
        <p:spPr>
          <a:xfrm>
            <a:off x="12961529" y="5367711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85" name="Text 82"/>
          <p:cNvSpPr/>
          <p:nvPr/>
        </p:nvSpPr>
        <p:spPr>
          <a:xfrm>
            <a:off x="13067233" y="5367711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86" name="Text 83"/>
          <p:cNvSpPr/>
          <p:nvPr/>
        </p:nvSpPr>
        <p:spPr>
          <a:xfrm>
            <a:off x="1607790" y="5970529"/>
            <a:ext cx="10058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资料上传</a:t>
            </a:r>
            <a:endParaRPr lang="en-US" sz="1800" dirty="0"/>
          </a:p>
        </p:txBody>
      </p:sp>
      <p:sp>
        <p:nvSpPr>
          <p:cNvPr id="87" name="Text 84"/>
          <p:cNvSpPr/>
          <p:nvPr/>
        </p:nvSpPr>
        <p:spPr>
          <a:xfrm>
            <a:off x="1066008" y="6259982"/>
            <a:ext cx="154771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80" spc="4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资料上传：模版下载、文件检查</a:t>
            </a:r>
            <a:endParaRPr lang="en-US" sz="780" dirty="0"/>
          </a:p>
        </p:txBody>
      </p:sp>
      <p:sp>
        <p:nvSpPr>
          <p:cNvPr id="88" name="Shape 85"/>
          <p:cNvSpPr/>
          <p:nvPr/>
        </p:nvSpPr>
        <p:spPr>
          <a:xfrm>
            <a:off x="2948940" y="6171560"/>
            <a:ext cx="8746053" cy="22860"/>
          </a:xfrm>
          <a:prstGeom prst="rect">
            <a:avLst/>
          </a:prstGeom>
          <a:solidFill>
            <a:srgbClr val="16150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2948940" y="5946800"/>
            <a:ext cx="22860" cy="472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948940" y="5946800"/>
            <a:ext cx="34779" cy="472470"/>
          </a:xfrm>
          <a:prstGeom prst="rect">
            <a:avLst/>
          </a:prstGeom>
          <a:solidFill>
            <a:srgbClr val="16150F">
              <a:alpha val="4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1085637" y="6068690"/>
            <a:ext cx="228600" cy="228600"/>
          </a:xfrm>
          <a:prstGeom prst="ellipse">
            <a:avLst/>
          </a:prstGeom>
          <a:solidFill>
            <a:srgbClr val="FBFAF4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1085637" y="6068690"/>
            <a:ext cx="228600" cy="228600"/>
          </a:xfrm>
          <a:prstGeom prst="ellipse">
            <a:avLst/>
          </a:prstGeom>
          <a:solidFill>
            <a:srgbClr val="8DBEEC"/>
          </a:solidFill>
          <a:ln w="38100">
            <a:solidFill>
              <a:srgbClr val="16150F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756148" y="6007791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860" dirty="0">
                <a:solidFill>
                  <a:srgbClr val="16150F">
                    <a:alpha val="6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860" dirty="0"/>
          </a:p>
        </p:txBody>
      </p:sp>
      <p:sp>
        <p:nvSpPr>
          <p:cNvPr id="94" name="Text 91"/>
          <p:cNvSpPr/>
          <p:nvPr/>
        </p:nvSpPr>
        <p:spPr>
          <a:xfrm>
            <a:off x="11522537" y="6160130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95" name="Text 92"/>
          <p:cNvSpPr/>
          <p:nvPr/>
        </p:nvSpPr>
        <p:spPr>
          <a:xfrm>
            <a:off x="11382817" y="6007791"/>
            <a:ext cx="260909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860" dirty="0"/>
          </a:p>
        </p:txBody>
      </p:sp>
      <p:sp>
        <p:nvSpPr>
          <p:cNvPr id="96" name="Text 93"/>
          <p:cNvSpPr/>
          <p:nvPr/>
        </p:nvSpPr>
        <p:spPr>
          <a:xfrm>
            <a:off x="12030304" y="6153272"/>
            <a:ext cx="94640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320" b="1" spc="33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97" name="Text 94"/>
          <p:cNvSpPr/>
          <p:nvPr/>
        </p:nvSpPr>
        <p:spPr>
          <a:xfrm>
            <a:off x="12961529" y="5947532"/>
            <a:ext cx="27736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×</a:t>
            </a:r>
            <a:endParaRPr lang="en-US" sz="2400" dirty="0"/>
          </a:p>
        </p:txBody>
      </p:sp>
      <p:sp>
        <p:nvSpPr>
          <p:cNvPr id="98" name="Text 95"/>
          <p:cNvSpPr/>
          <p:nvPr/>
        </p:nvSpPr>
        <p:spPr>
          <a:xfrm>
            <a:off x="13067233" y="5947532"/>
            <a:ext cx="667512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</a:t>
            </a:r>
            <a:endParaRPr lang="en-US" sz="2400" dirty="0"/>
          </a:p>
        </p:txBody>
      </p:sp>
      <p:sp>
        <p:nvSpPr>
          <p:cNvPr id="99" name="Shape 96"/>
          <p:cNvSpPr/>
          <p:nvPr/>
        </p:nvSpPr>
        <p:spPr>
          <a:xfrm rot="-240000">
            <a:off x="12001500" y="1821851"/>
            <a:ext cx="138687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 rot="-240000">
            <a:off x="12082242" y="1773753"/>
            <a:ext cx="1317193" cy="3446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选证件类型，人脸识别</a:t>
            </a:r>
            <a:endParaRPr lang="en-US" sz="960" dirty="0"/>
          </a:p>
        </p:txBody>
      </p:sp>
      <p:pic>
        <p:nvPicPr>
          <p:cNvPr id="10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0" y="7486010"/>
            <a:ext cx="396210" cy="283007"/>
          </a:xfrm>
          <a:prstGeom prst="rect">
            <a:avLst/>
          </a:prstGeom>
        </p:spPr>
      </p:pic>
      <p:sp>
        <p:nvSpPr>
          <p:cNvPr id="102" name="Text 98"/>
          <p:cNvSpPr/>
          <p:nvPr/>
        </p:nvSpPr>
        <p:spPr>
          <a:xfrm>
            <a:off x="1264890" y="7513350"/>
            <a:ext cx="357795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企业核实｜填企业证件，核查请求</a:t>
            </a:r>
            <a:endParaRPr lang="en-US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32490"/>
            <a:ext cx="47091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登录场景｜输入 026401 进入场景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47684"/>
            <a:ext cx="4528109" cy="606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①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 rot="-120000">
            <a:off x="5395417" y="1165860"/>
            <a:ext cx="271275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501030" y="1118677"/>
            <a:ext cx="2593147" cy="472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登录场景：输入 026401 进入场景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1375776" y="1275679"/>
            <a:ext cx="249265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交易代码 026401 · 业务柜员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761970" y="1744950"/>
            <a:ext cx="13106370" cy="557025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1980" dir="3080412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11580" y="6957030"/>
            <a:ext cx="12207240" cy="304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1580" y="6957030"/>
            <a:ext cx="12207240" cy="46372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11580" y="5770230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11580" y="5770230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1227" y="5716920"/>
            <a:ext cx="178003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spc="42" kern="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1211580" y="4552980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11580" y="4552980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1227" y="4499580"/>
            <a:ext cx="178003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spc="42" kern="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1211580" y="3335640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11580" y="3335640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7585" y="3282330"/>
            <a:ext cx="255613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spc="42" kern="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4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2118390"/>
            <a:ext cx="12207240" cy="48691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865269" y="7050253"/>
            <a:ext cx="174452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2040" dirty="0"/>
          </a:p>
        </p:txBody>
      </p:sp>
      <p:sp>
        <p:nvSpPr>
          <p:cNvPr id="23" name="Text 19"/>
          <p:cNvSpPr/>
          <p:nvPr/>
        </p:nvSpPr>
        <p:spPr>
          <a:xfrm>
            <a:off x="1734002" y="7345650"/>
            <a:ext cx="2006965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登录场景：输入 026401 进入场景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92584" y="7050253"/>
            <a:ext cx="1993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</a:t>
            </a:r>
            <a:endParaRPr lang="en-US" sz="2040" dirty="0"/>
          </a:p>
        </p:txBody>
      </p:sp>
      <p:sp>
        <p:nvSpPr>
          <p:cNvPr id="25" name="Text 21"/>
          <p:cNvSpPr/>
          <p:nvPr/>
        </p:nvSpPr>
        <p:spPr>
          <a:xfrm>
            <a:off x="4453904" y="7345650"/>
            <a:ext cx="267069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证件与人脸｜04 · 核查结果：确认无误后下一步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968798" y="7050253"/>
            <a:ext cx="174452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企业核实</a:t>
            </a:r>
            <a:endParaRPr lang="en-US" sz="2040" dirty="0"/>
          </a:p>
        </p:txBody>
      </p:sp>
      <p:sp>
        <p:nvSpPr>
          <p:cNvPr id="27" name="Text 23"/>
          <p:cNvSpPr/>
          <p:nvPr/>
        </p:nvSpPr>
        <p:spPr>
          <a:xfrm>
            <a:off x="7895295" y="7345650"/>
            <a:ext cx="189161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企业核实：填企业证件，核查请求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020608" y="7050253"/>
            <a:ext cx="174452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资料上传</a:t>
            </a:r>
            <a:endParaRPr lang="en-US" sz="2040" dirty="0"/>
          </a:p>
        </p:txBody>
      </p:sp>
      <p:sp>
        <p:nvSpPr>
          <p:cNvPr id="29" name="Text 25"/>
          <p:cNvSpPr/>
          <p:nvPr/>
        </p:nvSpPr>
        <p:spPr>
          <a:xfrm>
            <a:off x="10567264" y="7345650"/>
            <a:ext cx="2687879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资料上传｜05 · 协议维护：查询、新增或编辑协议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80000">
            <a:off x="11893967" y="2799984"/>
            <a:ext cx="792510" cy="56601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623139" y="6173663"/>
            <a:ext cx="228600" cy="228600"/>
          </a:xfrm>
          <a:prstGeom prst="ellipse">
            <a:avLst/>
          </a:prstGeom>
          <a:solidFill>
            <a:srgbClr val="FBFAF4"/>
          </a:solidFill>
          <a:ln w="47625">
            <a:solidFill>
              <a:srgbClr val="16150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674949" y="5474056"/>
            <a:ext cx="228600" cy="228600"/>
          </a:xfrm>
          <a:prstGeom prst="ellipse">
            <a:avLst/>
          </a:prstGeom>
          <a:solidFill>
            <a:srgbClr val="FBFAF4"/>
          </a:solidFill>
          <a:ln w="47625">
            <a:solidFill>
              <a:srgbClr val="16150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726759" y="4774448"/>
            <a:ext cx="228600" cy="228600"/>
          </a:xfrm>
          <a:prstGeom prst="ellipse">
            <a:avLst/>
          </a:prstGeom>
          <a:solidFill>
            <a:srgbClr val="FBFAF4"/>
          </a:solidFill>
          <a:ln w="47625">
            <a:solidFill>
              <a:srgbClr val="16150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1732849" y="2629814"/>
            <a:ext cx="320040" cy="320040"/>
          </a:xfrm>
          <a:prstGeom prst="ellipse">
            <a:avLst/>
          </a:prstGeom>
          <a:solidFill>
            <a:srgbClr val="F5A8BC"/>
          </a:solidFill>
          <a:ln w="47625">
            <a:solidFill>
              <a:srgbClr val="16150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410450" y="5943600"/>
            <a:ext cx="97520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1080" dirty="0"/>
          </a:p>
        </p:txBody>
      </p:sp>
      <p:sp>
        <p:nvSpPr>
          <p:cNvPr id="36" name="Text 31"/>
          <p:cNvSpPr/>
          <p:nvPr/>
        </p:nvSpPr>
        <p:spPr>
          <a:xfrm>
            <a:off x="2248875" y="5608290"/>
            <a:ext cx="363322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120" dirty="0"/>
          </a:p>
        </p:txBody>
      </p:sp>
      <p:sp>
        <p:nvSpPr>
          <p:cNvPr id="37" name="Text 32"/>
          <p:cNvSpPr/>
          <p:nvPr/>
        </p:nvSpPr>
        <p:spPr>
          <a:xfrm>
            <a:off x="5494630" y="5243993"/>
            <a:ext cx="97520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1080" dirty="0"/>
          </a:p>
        </p:txBody>
      </p:sp>
      <p:sp>
        <p:nvSpPr>
          <p:cNvPr id="38" name="Text 33"/>
          <p:cNvSpPr/>
          <p:nvPr/>
        </p:nvSpPr>
        <p:spPr>
          <a:xfrm>
            <a:off x="5268316" y="4908682"/>
            <a:ext cx="363322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3120" dirty="0"/>
          </a:p>
        </p:txBody>
      </p:sp>
      <p:sp>
        <p:nvSpPr>
          <p:cNvPr id="39" name="Text 34"/>
          <p:cNvSpPr/>
          <p:nvPr/>
        </p:nvSpPr>
        <p:spPr>
          <a:xfrm>
            <a:off x="8546440" y="4544385"/>
            <a:ext cx="97520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1080" dirty="0"/>
          </a:p>
        </p:txBody>
      </p:sp>
      <p:sp>
        <p:nvSpPr>
          <p:cNvPr id="40" name="Text 35"/>
          <p:cNvSpPr/>
          <p:nvPr/>
        </p:nvSpPr>
        <p:spPr>
          <a:xfrm>
            <a:off x="8320126" y="4209075"/>
            <a:ext cx="363322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3120" dirty="0"/>
          </a:p>
        </p:txBody>
      </p:sp>
      <p:sp>
        <p:nvSpPr>
          <p:cNvPr id="41" name="Text 36"/>
          <p:cNvSpPr/>
          <p:nvPr/>
        </p:nvSpPr>
        <p:spPr>
          <a:xfrm>
            <a:off x="11598250" y="2445563"/>
            <a:ext cx="97520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F5A8BC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1080" dirty="0"/>
          </a:p>
        </p:txBody>
      </p:sp>
      <p:sp>
        <p:nvSpPr>
          <p:cNvPr id="42" name="Text 37"/>
          <p:cNvSpPr/>
          <p:nvPr/>
        </p:nvSpPr>
        <p:spPr>
          <a:xfrm>
            <a:off x="11371936" y="2110252"/>
            <a:ext cx="363322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3120" dirty="0"/>
          </a:p>
        </p:txBody>
      </p:sp>
      <p:sp>
        <p:nvSpPr>
          <p:cNvPr id="43" name="Shape 38"/>
          <p:cNvSpPr/>
          <p:nvPr/>
        </p:nvSpPr>
        <p:spPr>
          <a:xfrm>
            <a:off x="11126236" y="3094695"/>
            <a:ext cx="1533449" cy="365760"/>
          </a:xfrm>
          <a:prstGeom prst="rect">
            <a:avLst/>
          </a:prstGeom>
          <a:solidFill>
            <a:srgbClr val="E83B2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47625" dir="3187806">
              <a:srgbClr val="16150F">
                <a:alpha val="25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11240536" y="3102285"/>
            <a:ext cx="315559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BFAF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▼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11517965" y="3102285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BFAF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11630894" y="3104342"/>
            <a:ext cx="100584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1800" dirty="0"/>
          </a:p>
        </p:txBody>
      </p:sp>
      <p:sp>
        <p:nvSpPr>
          <p:cNvPr id="47" name="Shape 42"/>
          <p:cNvSpPr/>
          <p:nvPr/>
        </p:nvSpPr>
        <p:spPr>
          <a:xfrm rot="-300000">
            <a:off x="11207069" y="1913565"/>
            <a:ext cx="137160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 rot="-300000">
            <a:off x="11286531" y="1854129"/>
            <a:ext cx="1358189" cy="3673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960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70" y="7437090"/>
            <a:ext cx="426750" cy="30477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295430" y="7469094"/>
            <a:ext cx="392039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证件与人脸｜选证件类型，人脸识别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17220"/>
            <a:ext cx="47091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登录场景｜输入 026401 进入场景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32151"/>
            <a:ext cx="4417101" cy="591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46"/>
              </a:lnSpc>
              <a:buNone/>
            </a:pPr>
            <a:r>
              <a:rPr lang="en-US" sz="46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①</a:t>
            </a:r>
            <a:endParaRPr lang="en-US" sz="4680" dirty="0"/>
          </a:p>
        </p:txBody>
      </p:sp>
      <p:sp>
        <p:nvSpPr>
          <p:cNvPr id="6" name="Shape 3"/>
          <p:cNvSpPr/>
          <p:nvPr/>
        </p:nvSpPr>
        <p:spPr>
          <a:xfrm rot="-120000">
            <a:off x="5284409" y="1136051"/>
            <a:ext cx="271275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390022" y="1088868"/>
            <a:ext cx="2593147" cy="4722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登录场景：输入 026401 进入场景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1375776" y="1245870"/>
            <a:ext cx="249265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交易代码 026401 · 业务柜员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761970" y="1715232"/>
            <a:ext cx="13106370" cy="5539069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35376" dir="3042636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35410" y="2016161"/>
            <a:ext cx="152430" cy="152430"/>
          </a:xfrm>
          <a:prstGeom prst="rect">
            <a:avLst/>
          </a:prstGeom>
          <a:solidFill>
            <a:srgbClr val="F5A8BC"/>
          </a:solidFill>
          <a:ln w="19050">
            <a:solidFill>
              <a:srgbClr val="1615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56330" y="2031431"/>
            <a:ext cx="10920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48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450226" y="2016161"/>
            <a:ext cx="152430" cy="152430"/>
          </a:xfrm>
          <a:prstGeom prst="rect">
            <a:avLst/>
          </a:prstGeom>
          <a:solidFill>
            <a:srgbClr val="8DBEEC"/>
          </a:solidFill>
          <a:ln w="19050">
            <a:solidFill>
              <a:srgbClr val="1615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1145" y="2031431"/>
            <a:ext cx="7376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48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503249" y="2016161"/>
            <a:ext cx="152430" cy="152430"/>
          </a:xfrm>
          <a:prstGeom prst="rect">
            <a:avLst/>
          </a:prstGeom>
          <a:solidFill>
            <a:srgbClr val="16150F">
              <a:alpha val="16000"/>
            </a:srgbClr>
          </a:solidFill>
          <a:ln w="19050">
            <a:solidFill>
              <a:srgbClr val="1615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4260" y="2031431"/>
            <a:ext cx="1359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48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选证件类型，人脸识别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5190409" y="2027591"/>
            <a:ext cx="46613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 ·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42910" y="2027591"/>
            <a:ext cx="930974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56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95905" y="1989552"/>
            <a:ext cx="319052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16150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企业核实｜填企业证件，核查请求</a:t>
            </a:r>
            <a:endParaRPr lang="en-US" sz="1440" dirty="0"/>
          </a:p>
        </p:txBody>
      </p:sp>
      <p:sp>
        <p:nvSpPr>
          <p:cNvPr id="19" name="Shape 16"/>
          <p:cNvSpPr/>
          <p:nvPr/>
        </p:nvSpPr>
        <p:spPr>
          <a:xfrm>
            <a:off x="1135410" y="5635081"/>
            <a:ext cx="1235967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35410" y="5635081"/>
            <a:ext cx="1235967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35410" y="4541916"/>
            <a:ext cx="1235967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35410" y="4541916"/>
            <a:ext cx="1235967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35410" y="3448568"/>
            <a:ext cx="1235967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35410" y="3448568"/>
            <a:ext cx="1235967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35410" y="2355312"/>
            <a:ext cx="1235967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35410" y="2355312"/>
            <a:ext cx="1235967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35410" y="4442795"/>
            <a:ext cx="441472" cy="19815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96310" y="4480926"/>
            <a:ext cx="347289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spc="42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1452250" y="4480926"/>
            <a:ext cx="178003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spc="42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2127443" y="5524622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579535" y="5402732"/>
            <a:ext cx="1171346" cy="18288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40525" y="5402732"/>
            <a:ext cx="126495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0" b="1" spc="4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1708008" y="6103711"/>
            <a:ext cx="914491" cy="624718"/>
          </a:xfrm>
          <a:prstGeom prst="rect">
            <a:avLst/>
          </a:prstGeom>
          <a:solidFill>
            <a:srgbClr val="8DBEEC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708008" y="6103711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87720" y="6103711"/>
            <a:ext cx="34779" cy="624718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708008" y="6103711"/>
            <a:ext cx="34779" cy="624718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68750" y="4899904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3639586" y="4778014"/>
            <a:ext cx="1171346" cy="18288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00485" y="4778014"/>
            <a:ext cx="126495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0" b="1" spc="4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768060" y="5478993"/>
            <a:ext cx="914491" cy="1249436"/>
          </a:xfrm>
          <a:prstGeom prst="rect">
            <a:avLst/>
          </a:prstGeom>
          <a:solidFill>
            <a:srgbClr val="8DBEEC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768060" y="5478993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47772" y="5478993"/>
            <a:ext cx="34779" cy="1249436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68060" y="5478993"/>
            <a:ext cx="34779" cy="1249436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28618" y="4275186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>
                    <a:alpha val="6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5827928" y="4854275"/>
            <a:ext cx="914491" cy="1874154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27928" y="4854275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07641" y="4854275"/>
            <a:ext cx="34779" cy="1874154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27928" y="4854275"/>
            <a:ext cx="34779" cy="1874154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88579" y="3650468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>
                    <a:alpha val="6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7887797" y="4229557"/>
            <a:ext cx="914491" cy="2498872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887797" y="4229557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67510" y="4229557"/>
            <a:ext cx="34779" cy="2498872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887797" y="4229557"/>
            <a:ext cx="34779" cy="2498872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333452" y="2888590"/>
            <a:ext cx="295046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80" dirty="0"/>
          </a:p>
        </p:txBody>
      </p:sp>
      <p:sp>
        <p:nvSpPr>
          <p:cNvPr id="55" name="Shape 52"/>
          <p:cNvSpPr/>
          <p:nvPr/>
        </p:nvSpPr>
        <p:spPr>
          <a:xfrm>
            <a:off x="10136033" y="2812420"/>
            <a:ext cx="538033" cy="18288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197023" y="2812420"/>
            <a:ext cx="52262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0" b="1" spc="49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780" dirty="0"/>
          </a:p>
        </p:txBody>
      </p:sp>
      <p:sp>
        <p:nvSpPr>
          <p:cNvPr id="57" name="Shape 54"/>
          <p:cNvSpPr/>
          <p:nvPr/>
        </p:nvSpPr>
        <p:spPr>
          <a:xfrm>
            <a:off x="9947849" y="3604839"/>
            <a:ext cx="914491" cy="3123590"/>
          </a:xfrm>
          <a:prstGeom prst="rect">
            <a:avLst/>
          </a:prstGeom>
          <a:solidFill>
            <a:srgbClr val="F5A8BC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38100" dir="16200000">
              <a:srgbClr val="16150F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9947849" y="3604839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827561" y="3604839"/>
            <a:ext cx="34779" cy="31235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947849" y="3604839"/>
            <a:ext cx="34779" cy="31235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393412" y="2263872"/>
            <a:ext cx="295046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2280" dirty="0"/>
          </a:p>
        </p:txBody>
      </p:sp>
      <p:sp>
        <p:nvSpPr>
          <p:cNvPr id="62" name="Shape 59"/>
          <p:cNvSpPr/>
          <p:nvPr/>
        </p:nvSpPr>
        <p:spPr>
          <a:xfrm>
            <a:off x="12195901" y="2187611"/>
            <a:ext cx="538033" cy="18288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2256892" y="2187611"/>
            <a:ext cx="52262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0" b="1" spc="49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12007718" y="2980121"/>
            <a:ext cx="914491" cy="3748308"/>
          </a:xfrm>
          <a:prstGeom prst="rect">
            <a:avLst/>
          </a:prstGeom>
          <a:solidFill>
            <a:srgbClr val="F5A8BC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38100" dir="16200000">
              <a:srgbClr val="16150F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12007718" y="2980121"/>
            <a:ext cx="914491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2887430" y="2980121"/>
            <a:ext cx="34779" cy="3748308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2007718" y="2980121"/>
            <a:ext cx="34779" cy="3748308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135410" y="4541916"/>
            <a:ext cx="1235967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135410" y="4541916"/>
            <a:ext cx="12359670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784269" y="6858000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登录场景</a:t>
            </a:r>
            <a:endParaRPr lang="en-US" sz="1320" dirty="0"/>
          </a:p>
        </p:txBody>
      </p:sp>
      <p:sp>
        <p:nvSpPr>
          <p:cNvPr id="71" name="Text 68"/>
          <p:cNvSpPr/>
          <p:nvPr/>
        </p:nvSpPr>
        <p:spPr>
          <a:xfrm>
            <a:off x="3760470" y="6858000"/>
            <a:ext cx="9296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证件与人脸</a:t>
            </a:r>
            <a:endParaRPr lang="en-US" sz="1320" dirty="0"/>
          </a:p>
        </p:txBody>
      </p:sp>
      <p:sp>
        <p:nvSpPr>
          <p:cNvPr id="72" name="Text 69"/>
          <p:cNvSpPr/>
          <p:nvPr/>
        </p:nvSpPr>
        <p:spPr>
          <a:xfrm>
            <a:off x="5904189" y="6858000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企业核实</a:t>
            </a:r>
            <a:endParaRPr lang="en-US" sz="1320" dirty="0"/>
          </a:p>
        </p:txBody>
      </p:sp>
      <p:sp>
        <p:nvSpPr>
          <p:cNvPr id="73" name="Text 70"/>
          <p:cNvSpPr/>
          <p:nvPr/>
        </p:nvSpPr>
        <p:spPr>
          <a:xfrm>
            <a:off x="7964241" y="6858000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核查结果</a:t>
            </a:r>
            <a:endParaRPr lang="en-US" sz="1320" dirty="0"/>
          </a:p>
        </p:txBody>
      </p:sp>
      <p:sp>
        <p:nvSpPr>
          <p:cNvPr id="74" name="Text 71"/>
          <p:cNvSpPr/>
          <p:nvPr/>
        </p:nvSpPr>
        <p:spPr>
          <a:xfrm>
            <a:off x="10024110" y="6858000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协议维护</a:t>
            </a:r>
            <a:endParaRPr lang="en-US" sz="1320" dirty="0"/>
          </a:p>
        </p:txBody>
      </p:sp>
      <p:sp>
        <p:nvSpPr>
          <p:cNvPr id="75" name="Text 72"/>
          <p:cNvSpPr/>
          <p:nvPr/>
        </p:nvSpPr>
        <p:spPr>
          <a:xfrm>
            <a:off x="12083979" y="6858000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资料上传</a:t>
            </a:r>
            <a:endParaRPr lang="en-US" sz="1320" dirty="0"/>
          </a:p>
        </p:txBody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0" y="7407737"/>
            <a:ext cx="381030" cy="272034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1249710" y="7423374"/>
            <a:ext cx="392039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证件与人脸｜选证件类型，人脸识别</a:t>
            </a:r>
            <a:endParaRPr lang="en-US" sz="1680" dirty="0"/>
          </a:p>
        </p:txBody>
      </p:sp>
      <p:sp>
        <p:nvSpPr>
          <p:cNvPr id="78" name="Shape 74"/>
          <p:cNvSpPr/>
          <p:nvPr/>
        </p:nvSpPr>
        <p:spPr>
          <a:xfrm rot="-180000">
            <a:off x="10979932" y="7456658"/>
            <a:ext cx="199641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 rot="-180000">
            <a:off x="11061680" y="7404537"/>
            <a:ext cx="1924903" cy="35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企业核实：填企业证件，核查请求</a:t>
            </a:r>
            <a:endParaRPr lang="en-US" sz="960" dirty="0"/>
          </a:p>
        </p:txBody>
      </p:sp>
      <p:sp>
        <p:nvSpPr>
          <p:cNvPr id="80" name="Shape 76"/>
          <p:cNvSpPr/>
          <p:nvPr/>
        </p:nvSpPr>
        <p:spPr>
          <a:xfrm rot="-180000">
            <a:off x="12974970" y="7381037"/>
            <a:ext cx="891540" cy="22101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 rot="-180000">
            <a:off x="13055346" y="7357902"/>
            <a:ext cx="879043" cy="2948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企业核实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147018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①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3852093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①</a:t>
            </a:r>
            <a:endParaRPr lang="en-US" sz="4320" dirty="0"/>
          </a:p>
        </p:txBody>
      </p:sp>
      <p:sp>
        <p:nvSpPr>
          <p:cNvPr id="8" name="Shape 4"/>
          <p:cNvSpPr/>
          <p:nvPr/>
        </p:nvSpPr>
        <p:spPr>
          <a:xfrm>
            <a:off x="761970" y="3345150"/>
            <a:ext cx="13106370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833560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970" y="3360420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20" dirty="0"/>
          </a:p>
        </p:txBody>
      </p:sp>
      <p:sp>
        <p:nvSpPr>
          <p:cNvPr id="11" name="Text 7"/>
          <p:cNvSpPr/>
          <p:nvPr/>
        </p:nvSpPr>
        <p:spPr>
          <a:xfrm>
            <a:off x="1188720" y="3352830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登录场景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1188720" y="3583351"/>
            <a:ext cx="143621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026401 进入场景</a:t>
            </a:r>
            <a:endParaRPr lang="en-US" sz="1020" dirty="0"/>
          </a:p>
        </p:txBody>
      </p:sp>
      <p:sp>
        <p:nvSpPr>
          <p:cNvPr id="13" name="Shape 9"/>
          <p:cNvSpPr/>
          <p:nvPr/>
        </p:nvSpPr>
        <p:spPr>
          <a:xfrm>
            <a:off x="761970" y="3861054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970" y="3861054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1970" y="3990624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20" dirty="0"/>
          </a:p>
        </p:txBody>
      </p:sp>
      <p:sp>
        <p:nvSpPr>
          <p:cNvPr id="16" name="Text 12"/>
          <p:cNvSpPr/>
          <p:nvPr/>
        </p:nvSpPr>
        <p:spPr>
          <a:xfrm>
            <a:off x="1188720" y="3983035"/>
            <a:ext cx="127307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证件与人脸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1188720" y="4213464"/>
            <a:ext cx="138687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选证件类型，人脸识别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761970" y="4491258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61970" y="4491258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1970" y="4620829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1188720" y="4613239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企业核实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1188720" y="4843668"/>
            <a:ext cx="138687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填企业证件，核查请求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761970" y="5121463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1970" y="5121463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1970" y="5251033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20" dirty="0"/>
          </a:p>
        </p:txBody>
      </p:sp>
      <p:sp>
        <p:nvSpPr>
          <p:cNvPr id="26" name="Text 22"/>
          <p:cNvSpPr/>
          <p:nvPr/>
        </p:nvSpPr>
        <p:spPr>
          <a:xfrm>
            <a:off x="1188720" y="5243352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核查结果</a:t>
            </a:r>
            <a:endParaRPr lang="en-US" sz="1260" dirty="0"/>
          </a:p>
        </p:txBody>
      </p:sp>
      <p:sp>
        <p:nvSpPr>
          <p:cNvPr id="27" name="Text 23"/>
          <p:cNvSpPr/>
          <p:nvPr/>
        </p:nvSpPr>
        <p:spPr>
          <a:xfrm>
            <a:off x="1188720" y="5473873"/>
            <a:ext cx="112773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确认无误后下一步</a:t>
            </a:r>
            <a:endParaRPr lang="en-US" sz="1020" dirty="0"/>
          </a:p>
        </p:txBody>
      </p:sp>
      <p:sp>
        <p:nvSpPr>
          <p:cNvPr id="28" name="Shape 24"/>
          <p:cNvSpPr/>
          <p:nvPr/>
        </p:nvSpPr>
        <p:spPr>
          <a:xfrm>
            <a:off x="761970" y="5751667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61970" y="5751667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1970" y="5881238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1188720" y="5873557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协议维护</a:t>
            </a:r>
            <a:endParaRPr lang="en-US" sz="1260" dirty="0"/>
          </a:p>
        </p:txBody>
      </p:sp>
      <p:sp>
        <p:nvSpPr>
          <p:cNvPr id="32" name="Text 28"/>
          <p:cNvSpPr/>
          <p:nvPr/>
        </p:nvSpPr>
        <p:spPr>
          <a:xfrm>
            <a:off x="1188720" y="6104077"/>
            <a:ext cx="138687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查询、新增或编辑协议</a:t>
            </a:r>
            <a:endParaRPr lang="en-US" sz="1020" dirty="0"/>
          </a:p>
        </p:txBody>
      </p:sp>
      <p:sp>
        <p:nvSpPr>
          <p:cNvPr id="33" name="Shape 29"/>
          <p:cNvSpPr/>
          <p:nvPr/>
        </p:nvSpPr>
        <p:spPr>
          <a:xfrm>
            <a:off x="761970" y="6381872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61970" y="6381872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1970" y="6511442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20" dirty="0"/>
          </a:p>
        </p:txBody>
      </p:sp>
      <p:sp>
        <p:nvSpPr>
          <p:cNvPr id="36" name="Text 32"/>
          <p:cNvSpPr/>
          <p:nvPr/>
        </p:nvSpPr>
        <p:spPr>
          <a:xfrm>
            <a:off x="1188720" y="6503761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资料上传</a:t>
            </a:r>
            <a:endParaRPr lang="en-US" sz="1260" dirty="0"/>
          </a:p>
        </p:txBody>
      </p:sp>
      <p:sp>
        <p:nvSpPr>
          <p:cNvPr id="37" name="Text 33"/>
          <p:cNvSpPr/>
          <p:nvPr/>
        </p:nvSpPr>
        <p:spPr>
          <a:xfrm>
            <a:off x="1188720" y="6734282"/>
            <a:ext cx="125730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模版下载、文件检查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17220"/>
            <a:ext cx="372892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影像上传：非财政补贴：高拍仪上传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32151"/>
            <a:ext cx="4417101" cy="591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46"/>
              </a:lnSpc>
              <a:buNone/>
            </a:pPr>
            <a:r>
              <a:rPr lang="en-US" sz="46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4680" dirty="0"/>
          </a:p>
        </p:txBody>
      </p:sp>
      <p:sp>
        <p:nvSpPr>
          <p:cNvPr id="6" name="Shape 3"/>
          <p:cNvSpPr/>
          <p:nvPr/>
        </p:nvSpPr>
        <p:spPr>
          <a:xfrm rot="-120000">
            <a:off x="5285049" y="1136051"/>
            <a:ext cx="121158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389565" y="1115111"/>
            <a:ext cx="1167536" cy="4199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影像上传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2131070" y="1245870"/>
            <a:ext cx="17373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影像上传至凭证打印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761970" y="1699961"/>
            <a:ext cx="13106370" cy="5554248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35376" dir="3042636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11580" y="1905701"/>
            <a:ext cx="12207240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1580" y="2190962"/>
            <a:ext cx="12207240" cy="34779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11580" y="1932402"/>
            <a:ext cx="137160" cy="137160"/>
          </a:xfrm>
          <a:prstGeom prst="rect">
            <a:avLst/>
          </a:prstGeom>
          <a:solidFill>
            <a:srgbClr val="8DBEEC"/>
          </a:solidFill>
          <a:ln w="19050">
            <a:solidFill>
              <a:srgbClr val="1615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17320" y="1920972"/>
            <a:ext cx="681428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6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2062063" y="1947581"/>
            <a:ext cx="1786189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3756812" y="1947581"/>
            <a:ext cx="33494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共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000226" y="1947581"/>
            <a:ext cx="251527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7075170" y="1936151"/>
            <a:ext cx="586145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56" kern="0" dirty="0">
                <a:solidFill>
                  <a:srgbClr val="16150F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42026" y="1920972"/>
            <a:ext cx="167572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68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非财政补贴：高拍仪上传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2194896" y="1947581"/>
            <a:ext cx="854812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12845674" y="1947581"/>
            <a:ext cx="33494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共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13089179" y="1947581"/>
            <a:ext cx="251527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13281660" y="1932402"/>
            <a:ext cx="137160" cy="137160"/>
          </a:xfrm>
          <a:prstGeom prst="rect">
            <a:avLst/>
          </a:prstGeom>
          <a:solidFill>
            <a:srgbClr val="F5A8BC"/>
          </a:solidFill>
          <a:ln w="19050">
            <a:solidFill>
              <a:srgbClr val="16150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11580" y="2271461"/>
            <a:ext cx="12207240" cy="1199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11580" y="3459744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44707" y="2593421"/>
            <a:ext cx="2794132" cy="548366"/>
          </a:xfrm>
          <a:prstGeom prst="rect">
            <a:avLst/>
          </a:prstGeom>
          <a:solidFill>
            <a:srgbClr val="8DBEE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96360" y="2669499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040" dirty="0"/>
          </a:p>
        </p:txBody>
      </p:sp>
      <p:sp>
        <p:nvSpPr>
          <p:cNvPr id="27" name="Text 24"/>
          <p:cNvSpPr/>
          <p:nvPr/>
        </p:nvSpPr>
        <p:spPr>
          <a:xfrm>
            <a:off x="1747327" y="2867650"/>
            <a:ext cx="192024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39149" y="2665430"/>
            <a:ext cx="15521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影像上传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57139" y="2934310"/>
            <a:ext cx="516122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8191470" y="2593421"/>
            <a:ext cx="2794132" cy="548366"/>
          </a:xfrm>
          <a:prstGeom prst="rect">
            <a:avLst/>
          </a:prstGeom>
          <a:solidFill>
            <a:srgbClr val="F5A8B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54273" y="2669499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040" dirty="0"/>
          </a:p>
        </p:txBody>
      </p:sp>
      <p:sp>
        <p:nvSpPr>
          <p:cNvPr id="32" name="Text 29"/>
          <p:cNvSpPr/>
          <p:nvPr/>
        </p:nvSpPr>
        <p:spPr>
          <a:xfrm>
            <a:off x="11205240" y="2867650"/>
            <a:ext cx="83096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211580" y="3471428"/>
            <a:ext cx="12207240" cy="120005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211580" y="4659894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45480" y="3793297"/>
            <a:ext cx="3193359" cy="548366"/>
          </a:xfrm>
          <a:prstGeom prst="rect">
            <a:avLst/>
          </a:prstGeom>
          <a:solidFill>
            <a:srgbClr val="8DBEE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97132" y="3869375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2040" dirty="0"/>
          </a:p>
        </p:txBody>
      </p:sp>
      <p:sp>
        <p:nvSpPr>
          <p:cNvPr id="37" name="Text 34"/>
          <p:cNvSpPr/>
          <p:nvPr/>
        </p:nvSpPr>
        <p:spPr>
          <a:xfrm>
            <a:off x="1348100" y="4067526"/>
            <a:ext cx="192024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539149" y="3865306"/>
            <a:ext cx="15521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7057139" y="4134185"/>
            <a:ext cx="516122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8191470" y="3793297"/>
            <a:ext cx="3193359" cy="548366"/>
          </a:xfrm>
          <a:prstGeom prst="rect">
            <a:avLst/>
          </a:prstGeom>
          <a:solidFill>
            <a:srgbClr val="F5A8B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453500" y="3869375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2040" dirty="0"/>
          </a:p>
        </p:txBody>
      </p:sp>
      <p:sp>
        <p:nvSpPr>
          <p:cNvPr id="42" name="Text 39"/>
          <p:cNvSpPr/>
          <p:nvPr/>
        </p:nvSpPr>
        <p:spPr>
          <a:xfrm>
            <a:off x="11604468" y="4067526"/>
            <a:ext cx="83096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211580" y="4671395"/>
            <a:ext cx="12207240" cy="1199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211580" y="5859678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46344" y="4993356"/>
            <a:ext cx="3592586" cy="548366"/>
          </a:xfrm>
          <a:prstGeom prst="rect">
            <a:avLst/>
          </a:prstGeom>
          <a:solidFill>
            <a:srgbClr val="8DBEE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7997" y="5069434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2040" dirty="0"/>
          </a:p>
        </p:txBody>
      </p:sp>
      <p:sp>
        <p:nvSpPr>
          <p:cNvPr id="47" name="Text 44"/>
          <p:cNvSpPr/>
          <p:nvPr/>
        </p:nvSpPr>
        <p:spPr>
          <a:xfrm>
            <a:off x="948964" y="5267584"/>
            <a:ext cx="192024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539149" y="5065365"/>
            <a:ext cx="15521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集中作业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7057139" y="5334244"/>
            <a:ext cx="516122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集中作业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8191470" y="4993356"/>
            <a:ext cx="3592586" cy="548366"/>
          </a:xfrm>
          <a:prstGeom prst="rect">
            <a:avLst/>
          </a:prstGeom>
          <a:solidFill>
            <a:srgbClr val="F5A8BC">
              <a:alpha val="32000"/>
            </a:srgbClr>
          </a:solidFill>
          <a:ln w="28575">
            <a:solidFill>
              <a:srgbClr val="16150F">
                <a:alpha val="32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852636" y="5069434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2040" dirty="0"/>
          </a:p>
        </p:txBody>
      </p:sp>
      <p:sp>
        <p:nvSpPr>
          <p:cNvPr id="52" name="Text 49"/>
          <p:cNvSpPr/>
          <p:nvPr/>
        </p:nvSpPr>
        <p:spPr>
          <a:xfrm>
            <a:off x="12003603" y="5267584"/>
            <a:ext cx="83096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047982" y="6097859"/>
            <a:ext cx="4390949" cy="739292"/>
          </a:xfrm>
          <a:prstGeom prst="rect">
            <a:avLst/>
          </a:prstGeom>
          <a:solidFill>
            <a:srgbClr val="8DBEEC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53882" dir="2700000">
              <a:srgbClr val="16150F">
                <a:alpha val="22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-43617" y="6334140"/>
            <a:ext cx="207935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054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1054" dirty="0"/>
          </a:p>
        </p:txBody>
      </p:sp>
      <p:sp>
        <p:nvSpPr>
          <p:cNvPr id="55" name="Text 52"/>
          <p:cNvSpPr/>
          <p:nvPr/>
        </p:nvSpPr>
        <p:spPr>
          <a:xfrm>
            <a:off x="150602" y="6467460"/>
            <a:ext cx="192024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539012" y="6265240"/>
            <a:ext cx="1552194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80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凭证打印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7057139" y="6534120"/>
            <a:ext cx="516122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凭证打印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8191470" y="6097859"/>
            <a:ext cx="4390949" cy="739292"/>
          </a:xfrm>
          <a:prstGeom prst="rect">
            <a:avLst/>
          </a:prstGeom>
          <a:solidFill>
            <a:srgbClr val="F5A8BC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53882" dir="2700000">
              <a:srgbClr val="16150F">
                <a:alpha val="22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12650998" y="6269309"/>
            <a:ext cx="441350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2040" dirty="0"/>
          </a:p>
        </p:txBody>
      </p:sp>
      <p:sp>
        <p:nvSpPr>
          <p:cNvPr id="60" name="Text 57"/>
          <p:cNvSpPr/>
          <p:nvPr/>
        </p:nvSpPr>
        <p:spPr>
          <a:xfrm>
            <a:off x="12845217" y="6467460"/>
            <a:ext cx="83096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6150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900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761970" y="7391370"/>
            <a:ext cx="426750" cy="304770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1295430" y="7423374"/>
            <a:ext cx="164427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1680" dirty="0"/>
          </a:p>
        </p:txBody>
      </p:sp>
      <p:sp>
        <p:nvSpPr>
          <p:cNvPr id="63" name="Shape 59"/>
          <p:cNvSpPr/>
          <p:nvPr/>
        </p:nvSpPr>
        <p:spPr>
          <a:xfrm rot="-180000">
            <a:off x="10242743" y="7488753"/>
            <a:ext cx="150876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 rot="-180000">
            <a:off x="10324125" y="7449434"/>
            <a:ext cx="1437894" cy="3270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柜外清确认，签名或指纹</a:t>
            </a:r>
            <a:endParaRPr lang="en-US" sz="960" dirty="0"/>
          </a:p>
        </p:txBody>
      </p:sp>
      <p:sp>
        <p:nvSpPr>
          <p:cNvPr id="65" name="Shape 61"/>
          <p:cNvSpPr/>
          <p:nvPr/>
        </p:nvSpPr>
        <p:spPr>
          <a:xfrm rot="-180000">
            <a:off x="11749034" y="7393838"/>
            <a:ext cx="2118390" cy="22101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 rot="-180000">
            <a:off x="11830782" y="7338517"/>
            <a:ext cx="2046702" cy="3589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集中作业：提交影像，等待处理结果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32490"/>
            <a:ext cx="372892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影像上传：非财政补贴：高拍仪上传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47684"/>
            <a:ext cx="4528109" cy="6065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48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 rot="-120000">
            <a:off x="5396057" y="1165860"/>
            <a:ext cx="121158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500573" y="1144829"/>
            <a:ext cx="1167536" cy="4199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影像上传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2131070" y="1275679"/>
            <a:ext cx="17373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影像上传至凭证打印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761970" y="1775490"/>
            <a:ext cx="13106370" cy="547881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1980" dir="3080412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18290" y="2084558"/>
            <a:ext cx="167610" cy="9144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2054108"/>
            <a:ext cx="976671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累计资金占比 ·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2439711" y="2054108"/>
            <a:ext cx="216411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710440" y="2118848"/>
            <a:ext cx="198150" cy="22860"/>
          </a:xfrm>
          <a:prstGeom prst="rect">
            <a:avLst/>
          </a:prstGeom>
          <a:solidFill>
            <a:srgbClr val="F5A8BC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10440" y="2118848"/>
            <a:ext cx="198150" cy="34779"/>
          </a:xfrm>
          <a:prstGeom prst="rect">
            <a:avLst/>
          </a:prstGeom>
          <a:solidFill>
            <a:srgbClr val="16150F">
              <a:alpha val="45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77171" y="2054108"/>
            <a:ext cx="151635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柜外清确认，签名或指纹</a:t>
            </a:r>
            <a:endParaRPr lang="en-US" sz="102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3129230" y="2026950"/>
            <a:ext cx="289590" cy="2068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 rot="-5400000">
            <a:off x="857250" y="2558034"/>
            <a:ext cx="1469898" cy="1385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非财政补贴：高拍仪上传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318290" y="5459974"/>
            <a:ext cx="1210053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318290" y="5459974"/>
            <a:ext cx="12100530" cy="11593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7710" y="5398983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150F">
                    <a:alpha val="4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1318290" y="4420118"/>
            <a:ext cx="1210053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318290" y="4420118"/>
            <a:ext cx="12100530" cy="11593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67710" y="4359128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150F">
                    <a:alpha val="4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1318290" y="3380171"/>
            <a:ext cx="1210053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18290" y="3380171"/>
            <a:ext cx="12100530" cy="11593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67710" y="3319181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150F">
                    <a:alpha val="4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840" dirty="0"/>
          </a:p>
        </p:txBody>
      </p:sp>
      <p:sp>
        <p:nvSpPr>
          <p:cNvPr id="27" name="Shape 23"/>
          <p:cNvSpPr/>
          <p:nvPr/>
        </p:nvSpPr>
        <p:spPr>
          <a:xfrm>
            <a:off x="1318290" y="2340407"/>
            <a:ext cx="1210053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318290" y="2340407"/>
            <a:ext cx="12100530" cy="11593"/>
          </a:xfrm>
          <a:prstGeom prst="rect">
            <a:avLst/>
          </a:prstGeom>
          <a:solidFill>
            <a:srgbClr val="16150F">
              <a:alpha val="1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7710" y="2279416"/>
            <a:ext cx="314554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150F">
                    <a:alpha val="4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84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90" y="2340407"/>
            <a:ext cx="12100530" cy="4159423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3673511" y="6143854"/>
            <a:ext cx="129570" cy="129570"/>
          </a:xfrm>
          <a:prstGeom prst="ellipse">
            <a:avLst/>
          </a:prstGeom>
          <a:solidFill>
            <a:srgbClr val="16150F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12700" dir="16200000">
              <a:srgbClr val="16150F">
                <a:alpha val="7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093653" y="6102340"/>
            <a:ext cx="129570" cy="129570"/>
          </a:xfrm>
          <a:prstGeom prst="ellipse">
            <a:avLst/>
          </a:prstGeom>
          <a:solidFill>
            <a:srgbClr val="16150F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12700" dir="16200000">
              <a:srgbClr val="16150F">
                <a:alpha val="7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513796" y="6060643"/>
            <a:ext cx="129570" cy="129570"/>
          </a:xfrm>
          <a:prstGeom prst="ellipse">
            <a:avLst/>
          </a:prstGeom>
          <a:solidFill>
            <a:srgbClr val="16150F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12700" dir="16200000">
              <a:srgbClr val="16150F">
                <a:alpha val="7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13354080" y="5977524"/>
            <a:ext cx="129570" cy="129570"/>
          </a:xfrm>
          <a:prstGeom prst="ellipse">
            <a:avLst/>
          </a:prstGeom>
          <a:solidFill>
            <a:srgbClr val="16150F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12700" dir="16200000">
              <a:srgbClr val="16150F">
                <a:alpha val="7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3748217" y="5941954"/>
            <a:ext cx="199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960" dirty="0"/>
          </a:p>
        </p:txBody>
      </p:sp>
      <p:sp>
        <p:nvSpPr>
          <p:cNvPr id="36" name="Text 31"/>
          <p:cNvSpPr/>
          <p:nvPr/>
        </p:nvSpPr>
        <p:spPr>
          <a:xfrm>
            <a:off x="3620018" y="5781934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6168268" y="5900349"/>
            <a:ext cx="199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960" dirty="0"/>
          </a:p>
        </p:txBody>
      </p:sp>
      <p:sp>
        <p:nvSpPr>
          <p:cNvPr id="38" name="Text 33"/>
          <p:cNvSpPr/>
          <p:nvPr/>
        </p:nvSpPr>
        <p:spPr>
          <a:xfrm>
            <a:off x="6040069" y="5740329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8588411" y="5858744"/>
            <a:ext cx="199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960" dirty="0"/>
          </a:p>
        </p:txBody>
      </p:sp>
      <p:sp>
        <p:nvSpPr>
          <p:cNvPr id="40" name="Text 35"/>
          <p:cNvSpPr/>
          <p:nvPr/>
        </p:nvSpPr>
        <p:spPr>
          <a:xfrm>
            <a:off x="8460212" y="5698724"/>
            <a:ext cx="25603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11046318" y="5817138"/>
            <a:ext cx="199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960" dirty="0"/>
          </a:p>
        </p:txBody>
      </p:sp>
      <p:sp>
        <p:nvSpPr>
          <p:cNvPr id="42" name="Text 37"/>
          <p:cNvSpPr/>
          <p:nvPr/>
        </p:nvSpPr>
        <p:spPr>
          <a:xfrm>
            <a:off x="10842498" y="5657118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38"/>
          <p:cNvSpPr/>
          <p:nvPr/>
        </p:nvSpPr>
        <p:spPr>
          <a:xfrm>
            <a:off x="13447806" y="5775625"/>
            <a:ext cx="199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960" dirty="0"/>
          </a:p>
        </p:txBody>
      </p:sp>
      <p:sp>
        <p:nvSpPr>
          <p:cNvPr id="44" name="Text 39"/>
          <p:cNvSpPr/>
          <p:nvPr/>
        </p:nvSpPr>
        <p:spPr>
          <a:xfrm>
            <a:off x="13281386" y="5615605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1800" dirty="0"/>
          </a:p>
        </p:txBody>
      </p:sp>
      <p:sp>
        <p:nvSpPr>
          <p:cNvPr id="45" name="Shape 40"/>
          <p:cNvSpPr/>
          <p:nvPr/>
        </p:nvSpPr>
        <p:spPr>
          <a:xfrm>
            <a:off x="10899557" y="5984839"/>
            <a:ext cx="198150" cy="198150"/>
          </a:xfrm>
          <a:prstGeom prst="ellipse">
            <a:avLst/>
          </a:prstGeom>
          <a:solidFill>
            <a:srgbClr val="F5A8BC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12700" dir="16200000">
              <a:srgbClr val="16150F">
                <a:alpha val="7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 rot="-300000">
            <a:off x="10552908" y="5390479"/>
            <a:ext cx="89154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 rot="-300000">
            <a:off x="10631912" y="5351983"/>
            <a:ext cx="879043" cy="3253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960" dirty="0"/>
          </a:p>
        </p:txBody>
      </p:sp>
      <p:sp>
        <p:nvSpPr>
          <p:cNvPr id="48" name="Text 43"/>
          <p:cNvSpPr/>
          <p:nvPr/>
        </p:nvSpPr>
        <p:spPr>
          <a:xfrm>
            <a:off x="3296321" y="6545550"/>
            <a:ext cx="88395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</a:t>
            </a:r>
            <a:endParaRPr lang="en-US" sz="1560" dirty="0"/>
          </a:p>
        </p:txBody>
      </p:sp>
      <p:sp>
        <p:nvSpPr>
          <p:cNvPr id="49" name="Text 44"/>
          <p:cNvSpPr/>
          <p:nvPr/>
        </p:nvSpPr>
        <p:spPr>
          <a:xfrm>
            <a:off x="2868381" y="6774150"/>
            <a:ext cx="1739829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影像上传：非财政补贴：高拍仪上传</a:t>
            </a:r>
            <a:endParaRPr lang="en-US" sz="780" dirty="0"/>
          </a:p>
        </p:txBody>
      </p:sp>
      <p:sp>
        <p:nvSpPr>
          <p:cNvPr id="50" name="Text 45"/>
          <p:cNvSpPr/>
          <p:nvPr/>
        </p:nvSpPr>
        <p:spPr>
          <a:xfrm>
            <a:off x="5716372" y="6545550"/>
            <a:ext cx="88395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1560" dirty="0"/>
          </a:p>
        </p:txBody>
      </p:sp>
      <p:sp>
        <p:nvSpPr>
          <p:cNvPr id="51" name="Text 46"/>
          <p:cNvSpPr/>
          <p:nvPr/>
        </p:nvSpPr>
        <p:spPr>
          <a:xfrm>
            <a:off x="5288432" y="6774150"/>
            <a:ext cx="1739829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交易确认：柜外清确认，签名或指纹</a:t>
            </a:r>
            <a:endParaRPr lang="en-US" sz="780" dirty="0"/>
          </a:p>
        </p:txBody>
      </p:sp>
      <p:sp>
        <p:nvSpPr>
          <p:cNvPr id="52" name="Text 47"/>
          <p:cNvSpPr/>
          <p:nvPr/>
        </p:nvSpPr>
        <p:spPr>
          <a:xfrm>
            <a:off x="8136514" y="6545550"/>
            <a:ext cx="88395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集中作业</a:t>
            </a:r>
            <a:endParaRPr lang="en-US" sz="1560" dirty="0"/>
          </a:p>
        </p:txBody>
      </p:sp>
      <p:sp>
        <p:nvSpPr>
          <p:cNvPr id="53" name="Text 48"/>
          <p:cNvSpPr/>
          <p:nvPr/>
        </p:nvSpPr>
        <p:spPr>
          <a:xfrm>
            <a:off x="7708666" y="6774150"/>
            <a:ext cx="1739829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集中作业：提交影像，等待处理结果</a:t>
            </a:r>
            <a:endParaRPr lang="en-US" sz="780" dirty="0"/>
          </a:p>
        </p:txBody>
      </p:sp>
      <p:sp>
        <p:nvSpPr>
          <p:cNvPr id="54" name="Text 49"/>
          <p:cNvSpPr/>
          <p:nvPr/>
        </p:nvSpPr>
        <p:spPr>
          <a:xfrm>
            <a:off x="10556657" y="6545550"/>
            <a:ext cx="88395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</a:t>
            </a:r>
            <a:endParaRPr lang="en-US" sz="1560" dirty="0"/>
          </a:p>
        </p:txBody>
      </p:sp>
      <p:sp>
        <p:nvSpPr>
          <p:cNvPr id="55" name="Text 50"/>
          <p:cNvSpPr/>
          <p:nvPr/>
        </p:nvSpPr>
        <p:spPr>
          <a:xfrm>
            <a:off x="10098213" y="6774150"/>
            <a:ext cx="1800930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客户评价：非常满意 / 满意 / 不满意</a:t>
            </a:r>
            <a:endParaRPr lang="en-US" sz="780" dirty="0"/>
          </a:p>
        </p:txBody>
      </p:sp>
      <p:sp>
        <p:nvSpPr>
          <p:cNvPr id="56" name="Text 51"/>
          <p:cNvSpPr/>
          <p:nvPr/>
        </p:nvSpPr>
        <p:spPr>
          <a:xfrm>
            <a:off x="13268813" y="6545550"/>
            <a:ext cx="29992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</a:t>
            </a:r>
            <a:endParaRPr lang="en-US" sz="1560" dirty="0"/>
          </a:p>
        </p:txBody>
      </p:sp>
      <p:sp>
        <p:nvSpPr>
          <p:cNvPr id="57" name="Text 52"/>
          <p:cNvSpPr/>
          <p:nvPr/>
        </p:nvSpPr>
        <p:spPr>
          <a:xfrm>
            <a:off x="13268813" y="6743700"/>
            <a:ext cx="29992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endParaRPr lang="en-US" sz="1560" dirty="0"/>
          </a:p>
        </p:txBody>
      </p:sp>
      <p:sp>
        <p:nvSpPr>
          <p:cNvPr id="58" name="Text 53"/>
          <p:cNvSpPr/>
          <p:nvPr/>
        </p:nvSpPr>
        <p:spPr>
          <a:xfrm>
            <a:off x="13268813" y="6941850"/>
            <a:ext cx="29992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</a:t>
            </a:r>
            <a:endParaRPr lang="en-US" sz="1560" dirty="0"/>
          </a:p>
        </p:txBody>
      </p:sp>
      <p:sp>
        <p:nvSpPr>
          <p:cNvPr id="59" name="Text 54"/>
          <p:cNvSpPr/>
          <p:nvPr/>
        </p:nvSpPr>
        <p:spPr>
          <a:xfrm>
            <a:off x="13268813" y="7139910"/>
            <a:ext cx="29992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5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</a:t>
            </a:r>
            <a:endParaRPr lang="en-US" sz="1560" dirty="0"/>
          </a:p>
        </p:txBody>
      </p:sp>
      <p:sp>
        <p:nvSpPr>
          <p:cNvPr id="60" name="Text 55"/>
          <p:cNvSpPr/>
          <p:nvPr/>
        </p:nvSpPr>
        <p:spPr>
          <a:xfrm>
            <a:off x="13264525" y="7368510"/>
            <a:ext cx="308591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</a:t>
            </a:r>
            <a:endParaRPr lang="en-US" sz="780" dirty="0"/>
          </a:p>
        </p:txBody>
      </p:sp>
      <p:sp>
        <p:nvSpPr>
          <p:cNvPr id="61" name="Text 56"/>
          <p:cNvSpPr/>
          <p:nvPr/>
        </p:nvSpPr>
        <p:spPr>
          <a:xfrm>
            <a:off x="13316407" y="7505670"/>
            <a:ext cx="2048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</a:t>
            </a:r>
            <a:endParaRPr lang="en-US" sz="780" dirty="0"/>
          </a:p>
        </p:txBody>
      </p:sp>
      <p:sp>
        <p:nvSpPr>
          <p:cNvPr id="62" name="Text 57"/>
          <p:cNvSpPr/>
          <p:nvPr/>
        </p:nvSpPr>
        <p:spPr>
          <a:xfrm>
            <a:off x="13270047" y="7642830"/>
            <a:ext cx="29754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印：</a:t>
            </a:r>
            <a:endParaRPr lang="en-US" sz="780" dirty="0"/>
          </a:p>
        </p:txBody>
      </p:sp>
      <p:sp>
        <p:nvSpPr>
          <p:cNvPr id="63" name="Text 58"/>
          <p:cNvSpPr/>
          <p:nvPr/>
        </p:nvSpPr>
        <p:spPr>
          <a:xfrm>
            <a:off x="13264525" y="7779990"/>
            <a:ext cx="308591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</a:t>
            </a:r>
            <a:endParaRPr lang="en-US" sz="780" dirty="0"/>
          </a:p>
        </p:txBody>
      </p:sp>
      <p:sp>
        <p:nvSpPr>
          <p:cNvPr id="64" name="Text 59"/>
          <p:cNvSpPr/>
          <p:nvPr/>
        </p:nvSpPr>
        <p:spPr>
          <a:xfrm>
            <a:off x="13316407" y="7917150"/>
            <a:ext cx="2048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endParaRPr lang="en-US" sz="780" dirty="0"/>
          </a:p>
        </p:txBody>
      </p:sp>
      <p:sp>
        <p:nvSpPr>
          <p:cNvPr id="65" name="Text 60"/>
          <p:cNvSpPr/>
          <p:nvPr/>
        </p:nvSpPr>
        <p:spPr>
          <a:xfrm>
            <a:off x="13270047" y="8054310"/>
            <a:ext cx="29754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果，</a:t>
            </a:r>
            <a:endParaRPr lang="en-US" sz="780" dirty="0"/>
          </a:p>
        </p:txBody>
      </p:sp>
      <p:sp>
        <p:nvSpPr>
          <p:cNvPr id="66" name="Text 61"/>
          <p:cNvSpPr/>
          <p:nvPr/>
        </p:nvSpPr>
        <p:spPr>
          <a:xfrm>
            <a:off x="13315767" y="8191470"/>
            <a:ext cx="242682" cy="65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spc="3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</a:t>
            </a:r>
            <a:endParaRPr lang="en-US" sz="780" dirty="0"/>
          </a:p>
        </p:txBody>
      </p:sp>
      <p:sp>
        <p:nvSpPr>
          <p:cNvPr id="67" name="Text 62"/>
          <p:cNvSpPr/>
          <p:nvPr/>
        </p:nvSpPr>
        <p:spPr>
          <a:xfrm>
            <a:off x="12774351" y="6903720"/>
            <a:ext cx="593646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13259074" y="6903720"/>
            <a:ext cx="251186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68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900" dirty="0"/>
          </a:p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70" y="7376190"/>
            <a:ext cx="426750" cy="304770"/>
          </a:xfrm>
          <a:prstGeom prst="rect">
            <a:avLst/>
          </a:prstGeom>
        </p:spPr>
      </p:pic>
      <p:sp>
        <p:nvSpPr>
          <p:cNvPr id="70" name="Text 64"/>
          <p:cNvSpPr/>
          <p:nvPr/>
        </p:nvSpPr>
        <p:spPr>
          <a:xfrm>
            <a:off x="1295430" y="7408103"/>
            <a:ext cx="9448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17220"/>
            <a:ext cx="372892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影像上传：非财政补贴：高拍仪上传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32151"/>
            <a:ext cx="4417101" cy="591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446"/>
              </a:lnSpc>
              <a:buNone/>
            </a:pPr>
            <a:r>
              <a:rPr lang="en-US" sz="46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4680" dirty="0"/>
          </a:p>
        </p:txBody>
      </p:sp>
      <p:sp>
        <p:nvSpPr>
          <p:cNvPr id="6" name="Shape 3"/>
          <p:cNvSpPr/>
          <p:nvPr/>
        </p:nvSpPr>
        <p:spPr>
          <a:xfrm rot="-120000">
            <a:off x="5285049" y="1136051"/>
            <a:ext cx="1211580" cy="35049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 rot="-120000">
            <a:off x="5389565" y="1115111"/>
            <a:ext cx="1167536" cy="4199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影像上传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12131070" y="1245870"/>
            <a:ext cx="173736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影像上传至凭证打印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761970" y="1715232"/>
            <a:ext cx="13106370" cy="5539069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35376" dir="3042636">
              <a:srgbClr val="16150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11580" y="6481724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1580" y="6481724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0272" y="6424574"/>
            <a:ext cx="173126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1211580" y="5360579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11580" y="5360579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5134" y="5303429"/>
            <a:ext cx="23652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211580" y="4239433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11580" y="4239433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5134" y="4182283"/>
            <a:ext cx="23652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211580" y="3118287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11580" y="3118287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5134" y="3061137"/>
            <a:ext cx="23652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1211580" y="1997141"/>
            <a:ext cx="12207240" cy="75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11580" y="1997141"/>
            <a:ext cx="12207240" cy="11593"/>
          </a:xfrm>
          <a:prstGeom prst="rect">
            <a:avLst/>
          </a:prstGeom>
          <a:solidFill>
            <a:srgbClr val="16150F">
              <a:alpha val="14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5134" y="1939991"/>
            <a:ext cx="236525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6150F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2164659" y="5425227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040" dirty="0"/>
          </a:p>
        </p:txBody>
      </p:sp>
      <p:sp>
        <p:nvSpPr>
          <p:cNvPr id="26" name="Shape 23"/>
          <p:cNvSpPr/>
          <p:nvPr/>
        </p:nvSpPr>
        <p:spPr>
          <a:xfrm>
            <a:off x="1598097" y="5813847"/>
            <a:ext cx="1261232" cy="667786"/>
          </a:xfrm>
          <a:prstGeom prst="rect">
            <a:avLst/>
          </a:prstGeom>
          <a:solidFill>
            <a:srgbClr val="F5A8BC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67352" dir="2700000">
              <a:srgbClr val="16150F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068464" y="6071433"/>
            <a:ext cx="320314" cy="15243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21774" y="6086704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2240554" y="6086704"/>
            <a:ext cx="186355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4199108" y="4661794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2040" dirty="0"/>
          </a:p>
        </p:txBody>
      </p:sp>
      <p:sp>
        <p:nvSpPr>
          <p:cNvPr id="31" name="Shape 28"/>
          <p:cNvSpPr/>
          <p:nvPr/>
        </p:nvSpPr>
        <p:spPr>
          <a:xfrm>
            <a:off x="3632454" y="5050414"/>
            <a:ext cx="1261232" cy="763341"/>
          </a:xfrm>
          <a:prstGeom prst="rect">
            <a:avLst/>
          </a:prstGeom>
          <a:solidFill>
            <a:srgbClr val="8DBEEC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67352" dir="2700000">
              <a:srgbClr val="16150F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02913" y="5355824"/>
            <a:ext cx="320314" cy="15243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56222" y="5371003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4274911" y="5371003"/>
            <a:ext cx="186355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233648" y="3803081"/>
            <a:ext cx="275539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2040" dirty="0"/>
          </a:p>
        </p:txBody>
      </p:sp>
      <p:sp>
        <p:nvSpPr>
          <p:cNvPr id="36" name="Shape 33"/>
          <p:cNvSpPr/>
          <p:nvPr/>
        </p:nvSpPr>
        <p:spPr>
          <a:xfrm>
            <a:off x="5666994" y="4191701"/>
            <a:ext cx="1261232" cy="858713"/>
          </a:xfrm>
          <a:prstGeom prst="rect">
            <a:avLst/>
          </a:prstGeom>
          <a:solidFill>
            <a:srgbClr val="B9E8C8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67352" dir="2700000">
              <a:srgbClr val="16150F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137453" y="4544842"/>
            <a:ext cx="320314" cy="15243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90762" y="4560113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6309451" y="4560113"/>
            <a:ext cx="186355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8225485" y="2848905"/>
            <a:ext cx="441350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2040" dirty="0"/>
          </a:p>
        </p:txBody>
      </p:sp>
      <p:sp>
        <p:nvSpPr>
          <p:cNvPr id="41" name="Shape 38"/>
          <p:cNvSpPr/>
          <p:nvPr/>
        </p:nvSpPr>
        <p:spPr>
          <a:xfrm>
            <a:off x="7701717" y="3237525"/>
            <a:ext cx="1261232" cy="954176"/>
          </a:xfrm>
          <a:prstGeom prst="rect">
            <a:avLst/>
          </a:prstGeom>
          <a:solidFill>
            <a:srgbClr val="70E7D2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67352" dir="2700000">
              <a:srgbClr val="16150F">
                <a:alpha val="1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172084" y="3638398"/>
            <a:ext cx="320314" cy="15243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5394" y="3653668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8344174" y="3653668"/>
            <a:ext cx="186355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10281148" y="1799265"/>
            <a:ext cx="441350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4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2040" dirty="0"/>
          </a:p>
        </p:txBody>
      </p:sp>
      <p:sp>
        <p:nvSpPr>
          <p:cNvPr id="46" name="Shape 43"/>
          <p:cNvSpPr/>
          <p:nvPr/>
        </p:nvSpPr>
        <p:spPr>
          <a:xfrm>
            <a:off x="9736074" y="2187885"/>
            <a:ext cx="1261232" cy="1049548"/>
          </a:xfrm>
          <a:prstGeom prst="rect">
            <a:avLst/>
          </a:prstGeom>
          <a:solidFill>
            <a:srgbClr val="B9A8E8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67352" dir="2700000">
              <a:srgbClr val="16150F">
                <a:alpha val="16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0206533" y="2636398"/>
            <a:ext cx="320314" cy="15243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59842" y="2651669"/>
            <a:ext cx="246278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10378531" y="2651669"/>
            <a:ext cx="186355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12122216" y="1593616"/>
            <a:ext cx="558394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84"/>
              </a:lnSpc>
              <a:buNone/>
            </a:pPr>
            <a:r>
              <a:rPr lang="en-US" sz="276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45</a:t>
            </a:r>
            <a:endParaRPr lang="en-US" sz="2760" dirty="0"/>
          </a:p>
        </p:txBody>
      </p:sp>
      <p:sp>
        <p:nvSpPr>
          <p:cNvPr id="51" name="Text 48"/>
          <p:cNvSpPr/>
          <p:nvPr/>
        </p:nvSpPr>
        <p:spPr>
          <a:xfrm>
            <a:off x="11733764" y="2000524"/>
            <a:ext cx="1335390" cy="14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56"/>
              </a:lnSpc>
              <a:buNone/>
            </a:pPr>
            <a:r>
              <a:rPr lang="en-US" sz="840" b="1" spc="63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非财政补贴：高拍仪上传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11770797" y="2187885"/>
            <a:ext cx="1261232" cy="4293748"/>
          </a:xfrm>
          <a:prstGeom prst="rect">
            <a:avLst/>
          </a:prstGeom>
          <a:solidFill>
            <a:srgbClr val="16150F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7816" dir="2963922">
              <a:srgbClr val="16150F">
                <a:alpha val="24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2859512" y="5813847"/>
            <a:ext cx="773034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859512" y="5813847"/>
            <a:ext cx="773034" cy="23186"/>
          </a:xfrm>
          <a:prstGeom prst="rect">
            <a:avLst/>
          </a:prstGeom>
          <a:solidFill>
            <a:srgbClr val="16150F">
              <a:alpha val="5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894052" y="5050414"/>
            <a:ext cx="773034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894052" y="5050414"/>
            <a:ext cx="773034" cy="23186"/>
          </a:xfrm>
          <a:prstGeom prst="rect">
            <a:avLst/>
          </a:prstGeom>
          <a:solidFill>
            <a:srgbClr val="16150F">
              <a:alpha val="5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928592" y="4191701"/>
            <a:ext cx="773034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928592" y="4191701"/>
            <a:ext cx="773034" cy="23186"/>
          </a:xfrm>
          <a:prstGeom prst="rect">
            <a:avLst/>
          </a:prstGeom>
          <a:solidFill>
            <a:srgbClr val="16150F">
              <a:alpha val="5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963132" y="3237525"/>
            <a:ext cx="773034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963132" y="3237525"/>
            <a:ext cx="773034" cy="23186"/>
          </a:xfrm>
          <a:prstGeom prst="rect">
            <a:avLst/>
          </a:prstGeom>
          <a:solidFill>
            <a:srgbClr val="16150F">
              <a:alpha val="5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997672" y="2187885"/>
            <a:ext cx="773034" cy="15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997672" y="2187885"/>
            <a:ext cx="773034" cy="23186"/>
          </a:xfrm>
          <a:prstGeom prst="rect">
            <a:avLst/>
          </a:prstGeom>
          <a:solidFill>
            <a:srgbClr val="16150F">
              <a:alpha val="50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847728" y="6580845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影像上传</a:t>
            </a:r>
            <a:endParaRPr lang="en-US" sz="1320" dirty="0"/>
          </a:p>
        </p:txBody>
      </p:sp>
      <p:sp>
        <p:nvSpPr>
          <p:cNvPr id="64" name="Text 61"/>
          <p:cNvSpPr/>
          <p:nvPr/>
        </p:nvSpPr>
        <p:spPr>
          <a:xfrm>
            <a:off x="1889407" y="6787957"/>
            <a:ext cx="678704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影像上传</a:t>
            </a:r>
            <a:endParaRPr lang="en-US" sz="780" dirty="0"/>
          </a:p>
        </p:txBody>
      </p:sp>
      <p:sp>
        <p:nvSpPr>
          <p:cNvPr id="65" name="Text 62"/>
          <p:cNvSpPr/>
          <p:nvPr/>
        </p:nvSpPr>
        <p:spPr>
          <a:xfrm>
            <a:off x="3882177" y="6580845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1320" dirty="0"/>
          </a:p>
        </p:txBody>
      </p:sp>
      <p:sp>
        <p:nvSpPr>
          <p:cNvPr id="66" name="Text 63"/>
          <p:cNvSpPr/>
          <p:nvPr/>
        </p:nvSpPr>
        <p:spPr>
          <a:xfrm>
            <a:off x="3923855" y="6787957"/>
            <a:ext cx="678704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交易确认</a:t>
            </a:r>
            <a:endParaRPr lang="en-US" sz="780" dirty="0"/>
          </a:p>
        </p:txBody>
      </p:sp>
      <p:sp>
        <p:nvSpPr>
          <p:cNvPr id="67" name="Text 64"/>
          <p:cNvSpPr/>
          <p:nvPr/>
        </p:nvSpPr>
        <p:spPr>
          <a:xfrm>
            <a:off x="5916534" y="6580845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集中作业</a:t>
            </a:r>
            <a:endParaRPr lang="en-US" sz="1320" dirty="0"/>
          </a:p>
        </p:txBody>
      </p:sp>
      <p:sp>
        <p:nvSpPr>
          <p:cNvPr id="68" name="Text 65"/>
          <p:cNvSpPr/>
          <p:nvPr/>
        </p:nvSpPr>
        <p:spPr>
          <a:xfrm>
            <a:off x="5958212" y="6787957"/>
            <a:ext cx="678704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集中作业</a:t>
            </a:r>
            <a:endParaRPr lang="en-US" sz="780" dirty="0"/>
          </a:p>
        </p:txBody>
      </p:sp>
      <p:sp>
        <p:nvSpPr>
          <p:cNvPr id="69" name="Text 66"/>
          <p:cNvSpPr/>
          <p:nvPr/>
        </p:nvSpPr>
        <p:spPr>
          <a:xfrm>
            <a:off x="7950982" y="6580845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</a:t>
            </a:r>
            <a:endParaRPr lang="en-US" sz="1320" dirty="0"/>
          </a:p>
        </p:txBody>
      </p:sp>
      <p:sp>
        <p:nvSpPr>
          <p:cNvPr id="70" name="Text 67"/>
          <p:cNvSpPr/>
          <p:nvPr/>
        </p:nvSpPr>
        <p:spPr>
          <a:xfrm>
            <a:off x="7992661" y="6787957"/>
            <a:ext cx="678704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客户评价</a:t>
            </a:r>
            <a:endParaRPr lang="en-US" sz="780" dirty="0"/>
          </a:p>
        </p:txBody>
      </p:sp>
      <p:sp>
        <p:nvSpPr>
          <p:cNvPr id="71" name="Text 68"/>
          <p:cNvSpPr/>
          <p:nvPr/>
        </p:nvSpPr>
        <p:spPr>
          <a:xfrm>
            <a:off x="9985431" y="6580845"/>
            <a:ext cx="7619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凭证打印</a:t>
            </a:r>
            <a:endParaRPr lang="en-US" sz="1320" dirty="0"/>
          </a:p>
        </p:txBody>
      </p:sp>
      <p:sp>
        <p:nvSpPr>
          <p:cNvPr id="72" name="Text 69"/>
          <p:cNvSpPr/>
          <p:nvPr/>
        </p:nvSpPr>
        <p:spPr>
          <a:xfrm>
            <a:off x="10027109" y="6787957"/>
            <a:ext cx="678704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凭证打印</a:t>
            </a:r>
            <a:endParaRPr lang="en-US" sz="780" dirty="0"/>
          </a:p>
        </p:txBody>
      </p:sp>
      <p:sp>
        <p:nvSpPr>
          <p:cNvPr id="73" name="Text 70"/>
          <p:cNvSpPr/>
          <p:nvPr/>
        </p:nvSpPr>
        <p:spPr>
          <a:xfrm>
            <a:off x="11433109" y="6580845"/>
            <a:ext cx="19355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交易确认：柜外清确认，</a:t>
            </a:r>
            <a:endParaRPr lang="en-US" sz="1320" dirty="0"/>
          </a:p>
        </p:txBody>
      </p:sp>
      <p:sp>
        <p:nvSpPr>
          <p:cNvPr id="74" name="Text 71"/>
          <p:cNvSpPr/>
          <p:nvPr/>
        </p:nvSpPr>
        <p:spPr>
          <a:xfrm>
            <a:off x="11936029" y="6765097"/>
            <a:ext cx="92967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32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签名或指纹</a:t>
            </a:r>
            <a:endParaRPr lang="en-US" sz="1320" dirty="0"/>
          </a:p>
        </p:txBody>
      </p:sp>
      <p:sp>
        <p:nvSpPr>
          <p:cNvPr id="75" name="Text 72"/>
          <p:cNvSpPr/>
          <p:nvPr/>
        </p:nvSpPr>
        <p:spPr>
          <a:xfrm>
            <a:off x="12007417" y="6972300"/>
            <a:ext cx="786803" cy="14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80" spc="29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780" dirty="0"/>
          </a:p>
        </p:txBody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0" y="7396856"/>
            <a:ext cx="411480" cy="293888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1280160" y="7423374"/>
            <a:ext cx="392039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集中作业｜提交影像，等待处理结果</a:t>
            </a:r>
            <a:endParaRPr lang="en-US" sz="1680" dirty="0"/>
          </a:p>
        </p:txBody>
      </p:sp>
      <p:sp>
        <p:nvSpPr>
          <p:cNvPr id="78" name="Shape 74"/>
          <p:cNvSpPr/>
          <p:nvPr/>
        </p:nvSpPr>
        <p:spPr>
          <a:xfrm rot="-180000">
            <a:off x="11705326" y="7472751"/>
            <a:ext cx="65535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 rot="-180000">
            <a:off x="11786159" y="7455835"/>
            <a:ext cx="585673" cy="2823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交易确认</a:t>
            </a:r>
            <a:endParaRPr lang="en-US" sz="960" dirty="0"/>
          </a:p>
        </p:txBody>
      </p:sp>
      <p:sp>
        <p:nvSpPr>
          <p:cNvPr id="80" name="Shape 76"/>
          <p:cNvSpPr/>
          <p:nvPr/>
        </p:nvSpPr>
        <p:spPr>
          <a:xfrm rot="-180000">
            <a:off x="12359213" y="7416150"/>
            <a:ext cx="1508760" cy="22101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 rot="-180000">
            <a:off x="12440503" y="7376831"/>
            <a:ext cx="1437894" cy="3270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柜外清确认，签名或指纹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147018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3852093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柜面办理流程 ②</a:t>
            </a:r>
            <a:endParaRPr lang="en-US" sz="4320" dirty="0"/>
          </a:p>
        </p:txBody>
      </p:sp>
      <p:sp>
        <p:nvSpPr>
          <p:cNvPr id="8" name="Shape 4"/>
          <p:cNvSpPr/>
          <p:nvPr/>
        </p:nvSpPr>
        <p:spPr>
          <a:xfrm>
            <a:off x="761970" y="3345150"/>
            <a:ext cx="13106370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833560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970" y="3360420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20" dirty="0"/>
          </a:p>
        </p:txBody>
      </p:sp>
      <p:sp>
        <p:nvSpPr>
          <p:cNvPr id="11" name="Text 7"/>
          <p:cNvSpPr/>
          <p:nvPr/>
        </p:nvSpPr>
        <p:spPr>
          <a:xfrm>
            <a:off x="1188720" y="3352830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影像上传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1188720" y="3583351"/>
            <a:ext cx="151635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非财政补贴：高拍仪上传</a:t>
            </a:r>
            <a:endParaRPr lang="en-US" sz="1020" dirty="0"/>
          </a:p>
        </p:txBody>
      </p:sp>
      <p:sp>
        <p:nvSpPr>
          <p:cNvPr id="13" name="Shape 9"/>
          <p:cNvSpPr/>
          <p:nvPr/>
        </p:nvSpPr>
        <p:spPr>
          <a:xfrm>
            <a:off x="761970" y="3861054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970" y="3861054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1970" y="3990624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20" dirty="0"/>
          </a:p>
        </p:txBody>
      </p:sp>
      <p:sp>
        <p:nvSpPr>
          <p:cNvPr id="16" name="Text 12"/>
          <p:cNvSpPr/>
          <p:nvPr/>
        </p:nvSpPr>
        <p:spPr>
          <a:xfrm>
            <a:off x="1188720" y="3983035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交易确认</a:t>
            </a:r>
            <a:endParaRPr lang="en-US" sz="1260" dirty="0"/>
          </a:p>
        </p:txBody>
      </p:sp>
      <p:sp>
        <p:nvSpPr>
          <p:cNvPr id="17" name="Text 13"/>
          <p:cNvSpPr/>
          <p:nvPr/>
        </p:nvSpPr>
        <p:spPr>
          <a:xfrm>
            <a:off x="1188720" y="4213464"/>
            <a:ext cx="151635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柜外清确认，签名或指纹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761970" y="4491258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61970" y="4491258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1970" y="4620829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1188720" y="4613239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集中作业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1188720" y="4843668"/>
            <a:ext cx="151635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提交影像，等待处理结果</a:t>
            </a:r>
            <a:endParaRPr lang="en-US" sz="1020" dirty="0"/>
          </a:p>
        </p:txBody>
      </p:sp>
      <p:sp>
        <p:nvSpPr>
          <p:cNvPr id="23" name="Shape 19"/>
          <p:cNvSpPr/>
          <p:nvPr/>
        </p:nvSpPr>
        <p:spPr>
          <a:xfrm>
            <a:off x="761970" y="5121463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1970" y="5121463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1970" y="5251033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20" dirty="0"/>
          </a:p>
        </p:txBody>
      </p:sp>
      <p:sp>
        <p:nvSpPr>
          <p:cNvPr id="26" name="Text 22"/>
          <p:cNvSpPr/>
          <p:nvPr/>
        </p:nvSpPr>
        <p:spPr>
          <a:xfrm>
            <a:off x="1188720" y="5243352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客户评价</a:t>
            </a:r>
            <a:endParaRPr lang="en-US" sz="1260" dirty="0"/>
          </a:p>
        </p:txBody>
      </p:sp>
      <p:sp>
        <p:nvSpPr>
          <p:cNvPr id="27" name="Text 23"/>
          <p:cNvSpPr/>
          <p:nvPr/>
        </p:nvSpPr>
        <p:spPr>
          <a:xfrm>
            <a:off x="1188720" y="5473873"/>
            <a:ext cx="1537259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非常满意 / 满意 / 不满意</a:t>
            </a:r>
            <a:endParaRPr lang="en-US" sz="1020" dirty="0"/>
          </a:p>
        </p:txBody>
      </p:sp>
      <p:sp>
        <p:nvSpPr>
          <p:cNvPr id="28" name="Shape 24"/>
          <p:cNvSpPr/>
          <p:nvPr/>
        </p:nvSpPr>
        <p:spPr>
          <a:xfrm>
            <a:off x="761970" y="5751667"/>
            <a:ext cx="1287018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61970" y="5751667"/>
            <a:ext cx="12870180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1970" y="5881238"/>
            <a:ext cx="28970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1188720" y="5873557"/>
            <a:ext cx="1119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凭证打印</a:t>
            </a:r>
            <a:endParaRPr lang="en-US" sz="1260" dirty="0"/>
          </a:p>
        </p:txBody>
      </p:sp>
      <p:sp>
        <p:nvSpPr>
          <p:cNvPr id="32" name="Text 28"/>
          <p:cNvSpPr/>
          <p:nvPr/>
        </p:nvSpPr>
        <p:spPr>
          <a:xfrm>
            <a:off x="1188720" y="6104077"/>
            <a:ext cx="138687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批次结果，凭证与回单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63028"/>
            <a:ext cx="81947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99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914400" y="2868287"/>
            <a:ext cx="11521440" cy="1088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2"/>
              </a:lnSpc>
              <a:buNone/>
            </a:pPr>
            <a:r>
              <a:rPr lang="en-US" sz="6960" b="1" spc="-10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</a:t>
            </a:r>
            <a:endParaRPr lang="en-US" sz="6960" dirty="0"/>
          </a:p>
        </p:txBody>
      </p:sp>
      <p:sp>
        <p:nvSpPr>
          <p:cNvPr id="6" name="Shape 3"/>
          <p:cNvSpPr/>
          <p:nvPr/>
        </p:nvSpPr>
        <p:spPr>
          <a:xfrm>
            <a:off x="914400" y="4308470"/>
            <a:ext cx="4135008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35410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52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4508449" y="4514210"/>
            <a:ext cx="32004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410" y="4843943"/>
            <a:ext cx="21221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</a:t>
            </a:r>
            <a:endParaRPr lang="en-US" sz="2280" dirty="0"/>
          </a:p>
        </p:txBody>
      </p:sp>
      <p:sp>
        <p:nvSpPr>
          <p:cNvPr id="10" name="Text 6"/>
          <p:cNvSpPr/>
          <p:nvPr/>
        </p:nvSpPr>
        <p:spPr>
          <a:xfrm>
            <a:off x="1135410" y="5261000"/>
            <a:ext cx="3690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数量控制｜必核 · 实名核验：证件过期或核查不通过</a:t>
            </a:r>
            <a:endParaRPr lang="en-US" sz="1260" dirty="0"/>
          </a:p>
        </p:txBody>
      </p:sp>
      <p:sp>
        <p:nvSpPr>
          <p:cNvPr id="11" name="Text 7"/>
          <p:cNvSpPr/>
          <p:nvPr/>
        </p:nvSpPr>
        <p:spPr>
          <a:xfrm>
            <a:off x="1135410" y="5488229"/>
            <a:ext cx="73152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拒绝办理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5247559" y="4308470"/>
            <a:ext cx="4135191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68569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52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8841699" y="4514210"/>
            <a:ext cx="32004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68569" y="4843943"/>
            <a:ext cx="240014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可代理 · 特殊用途</a:t>
            </a:r>
            <a:endParaRPr lang="en-US" sz="2280" dirty="0"/>
          </a:p>
        </p:txBody>
      </p:sp>
      <p:sp>
        <p:nvSpPr>
          <p:cNvPr id="16" name="Text 11"/>
          <p:cNvSpPr/>
          <p:nvPr/>
        </p:nvSpPr>
        <p:spPr>
          <a:xfrm>
            <a:off x="5468569" y="5261000"/>
            <a:ext cx="3690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特殊用途｜不可混 · 介质固定：一次性固定介质与账</a:t>
            </a:r>
            <a:endParaRPr lang="en-US" sz="1260" dirty="0"/>
          </a:p>
        </p:txBody>
      </p:sp>
      <p:sp>
        <p:nvSpPr>
          <p:cNvPr id="17" name="Text 12"/>
          <p:cNvSpPr/>
          <p:nvPr/>
        </p:nvSpPr>
        <p:spPr>
          <a:xfrm>
            <a:off x="5468569" y="5488229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户类型</a:t>
            </a:r>
            <a:endParaRPr lang="en-US" sz="1260" dirty="0"/>
          </a:p>
        </p:txBody>
      </p:sp>
      <p:sp>
        <p:nvSpPr>
          <p:cNvPr id="18" name="Shape 13"/>
          <p:cNvSpPr/>
          <p:nvPr/>
        </p:nvSpPr>
        <p:spPr>
          <a:xfrm>
            <a:off x="9580809" y="4308470"/>
            <a:ext cx="4135191" cy="1612544"/>
          </a:xfrm>
          <a:prstGeom prst="rect">
            <a:avLst/>
          </a:prstGeom>
          <a:solidFill>
            <a:srgbClr val="B9E8C8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42875" dir="3187806">
              <a:srgbClr val="16150F">
                <a:alpha val="2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801819" y="4401464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52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13174950" y="4514210"/>
            <a:ext cx="32004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01819" y="4843943"/>
            <a:ext cx="2678125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只收不付 · 激活限制</a:t>
            </a:r>
            <a:endParaRPr lang="en-US" sz="2280" dirty="0"/>
          </a:p>
        </p:txBody>
      </p:sp>
      <p:sp>
        <p:nvSpPr>
          <p:cNvPr id="22" name="Text 16"/>
          <p:cNvSpPr/>
          <p:nvPr/>
        </p:nvSpPr>
        <p:spPr>
          <a:xfrm>
            <a:off x="9801819" y="5261000"/>
            <a:ext cx="3690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16150F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激活限制｜前置 · 重空检查：办理前检查重空尾箱充</a:t>
            </a:r>
            <a:endParaRPr lang="en-US" sz="1260" dirty="0"/>
          </a:p>
        </p:txBody>
      </p:sp>
      <p:sp>
        <p:nvSpPr>
          <p:cNvPr id="23" name="Text 17"/>
          <p:cNvSpPr/>
          <p:nvPr/>
        </p:nvSpPr>
        <p:spPr>
          <a:xfrm>
            <a:off x="9801819" y="5488229"/>
            <a:ext cx="26334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16150F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</a:t>
            </a:r>
            <a:endParaRPr lang="en-US" sz="1260" dirty="0"/>
          </a:p>
        </p:txBody>
      </p:sp>
      <p:sp>
        <p:nvSpPr>
          <p:cNvPr id="24" name="Shape 18"/>
          <p:cNvSpPr/>
          <p:nvPr/>
        </p:nvSpPr>
        <p:spPr>
          <a:xfrm rot="420000">
            <a:off x="13220670" y="4201851"/>
            <a:ext cx="563910" cy="19815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 rot="420000">
            <a:off x="13298576" y="4168201"/>
            <a:ext cx="498622" cy="2927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7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特殊用途</a:t>
            </a:r>
            <a:endParaRPr lang="en-US" sz="780" dirty="0"/>
          </a:p>
        </p:txBody>
      </p:sp>
      <p:sp>
        <p:nvSpPr>
          <p:cNvPr id="26" name="Text 20"/>
          <p:cNvSpPr/>
          <p:nvPr/>
        </p:nvSpPr>
        <p:spPr>
          <a:xfrm>
            <a:off x="914400" y="685800"/>
            <a:ext cx="541690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数量控制：同法人机构Ⅰ类户 1 个、Ⅱ类户 3 个</a:t>
            </a:r>
            <a:endParaRPr lang="en-US" sz="1440" dirty="0"/>
          </a:p>
        </p:txBody>
      </p:sp>
      <p:sp>
        <p:nvSpPr>
          <p:cNvPr id="27" name="Shape 21"/>
          <p:cNvSpPr/>
          <p:nvPr/>
        </p:nvSpPr>
        <p:spPr>
          <a:xfrm>
            <a:off x="5542636" y="777240"/>
            <a:ext cx="7289505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542636" y="777240"/>
            <a:ext cx="7289505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 rot="-120000">
            <a:off x="12969210" y="64008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 rot="-120000">
            <a:off x="13065679" y="62709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</a:t>
            </a:r>
            <a:endParaRPr lang="en-US" sz="108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424105"/>
            <a:ext cx="381030" cy="27203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02050" y="7480066"/>
            <a:ext cx="294445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特殊用途：代发工资、社保医保等由单位代理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685800"/>
            <a:ext cx="64177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数量控制｜同法人机构Ⅰ类户 1 个、Ⅱ类户 3 个</a:t>
            </a:r>
            <a:endParaRPr lang="en-US" sz="1440" dirty="0"/>
          </a:p>
        </p:txBody>
      </p:sp>
      <p:sp>
        <p:nvSpPr>
          <p:cNvPr id="5" name="Shape 2"/>
          <p:cNvSpPr/>
          <p:nvPr/>
        </p:nvSpPr>
        <p:spPr>
          <a:xfrm>
            <a:off x="6227887" y="777240"/>
            <a:ext cx="6604163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27887" y="777240"/>
            <a:ext cx="6604163" cy="34779"/>
          </a:xfrm>
          <a:prstGeom prst="rect">
            <a:avLst/>
          </a:prstGeom>
          <a:solidFill>
            <a:srgbClr val="FBFAF4">
              <a:alpha val="50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-120000">
            <a:off x="12969210" y="64008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-120000">
            <a:off x="13065679" y="62709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85800" y="309984"/>
            <a:ext cx="1238372" cy="3471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80"/>
              </a:lnSpc>
              <a:buNone/>
            </a:pPr>
            <a:r>
              <a:rPr lang="en-US" sz="20400" dirty="0">
                <a:solidFill>
                  <a:srgbClr val="B9E8C8">
                    <a:alpha val="18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“</a:t>
            </a:r>
            <a:endParaRPr lang="en-US" sz="20400" dirty="0"/>
          </a:p>
        </p:txBody>
      </p:sp>
      <p:sp>
        <p:nvSpPr>
          <p:cNvPr id="10" name="Text 7"/>
          <p:cNvSpPr/>
          <p:nvPr/>
        </p:nvSpPr>
        <p:spPr>
          <a:xfrm>
            <a:off x="914400" y="2797515"/>
            <a:ext cx="81947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99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14400" y="3235108"/>
            <a:ext cx="11369010" cy="1153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870"/>
              </a:lnSpc>
              <a:buNone/>
            </a:pPr>
            <a:r>
              <a:rPr lang="en-US" sz="6720" b="1" spc="-8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</a:t>
            </a:r>
            <a:endParaRPr lang="en-US" sz="6720" dirty="0"/>
          </a:p>
        </p:txBody>
      </p:sp>
      <p:sp>
        <p:nvSpPr>
          <p:cNvPr id="12" name="Shape 9"/>
          <p:cNvSpPr/>
          <p:nvPr/>
        </p:nvSpPr>
        <p:spPr>
          <a:xfrm>
            <a:off x="914400" y="4693524"/>
            <a:ext cx="4155399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693524"/>
            <a:ext cx="4155399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5120274"/>
            <a:ext cx="420651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数量控制｜必核 · 实名核验：证件过期或核查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914400" y="5361584"/>
            <a:ext cx="137160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不通过拒绝办理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5237409" y="4693524"/>
            <a:ext cx="4155491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7409" y="4693524"/>
            <a:ext cx="4155491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37409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37409" y="5120274"/>
            <a:ext cx="423687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可代理 · 特殊用途｜不可混 · 介质固定：一次性固定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5237409" y="5361584"/>
            <a:ext cx="137160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介质与账户类型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9560601" y="4693524"/>
            <a:ext cx="4155399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60601" y="4693524"/>
            <a:ext cx="4155399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60601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560601" y="5120274"/>
            <a:ext cx="423687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只收不付 · 激活限制｜前置 · 重空检查：办理前检查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9560601" y="5361584"/>
            <a:ext cx="118872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重空尾箱充足</a:t>
            </a:r>
            <a:endParaRPr lang="en-US" sz="144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432792"/>
            <a:ext cx="304770" cy="21762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25880" y="7461687"/>
            <a:ext cx="2419845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同法人机构Ⅰ类户 1 个、Ⅱ类户 3 个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62940"/>
            <a:ext cx="19568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79175"/>
            <a:ext cx="2773650" cy="664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5280" dirty="0"/>
          </a:p>
        </p:txBody>
      </p:sp>
      <p:sp>
        <p:nvSpPr>
          <p:cNvPr id="6" name="Text 3"/>
          <p:cNvSpPr/>
          <p:nvPr/>
        </p:nvSpPr>
        <p:spPr>
          <a:xfrm>
            <a:off x="3672870" y="1217844"/>
            <a:ext cx="112773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</a:t>
            </a:r>
            <a:endParaRPr lang="en-US" sz="204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937760" y="1147481"/>
            <a:ext cx="64008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60000">
            <a:off x="761970" y="2436876"/>
            <a:ext cx="205740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 rot="60000">
            <a:off x="978774" y="2505762"/>
            <a:ext cx="714451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720" dirty="0"/>
          </a:p>
        </p:txBody>
      </p:sp>
      <p:sp>
        <p:nvSpPr>
          <p:cNvPr id="10" name="Shape 6"/>
          <p:cNvSpPr/>
          <p:nvPr/>
        </p:nvSpPr>
        <p:spPr>
          <a:xfrm rot="60000">
            <a:off x="978865" y="3153674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60000">
            <a:off x="921532" y="5875501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数量控制</a:t>
            </a:r>
            <a:endParaRPr lang="en-US" sz="1980" dirty="0"/>
          </a:p>
        </p:txBody>
      </p:sp>
      <p:sp>
        <p:nvSpPr>
          <p:cNvPr id="12" name="Text 8"/>
          <p:cNvSpPr/>
          <p:nvPr/>
        </p:nvSpPr>
        <p:spPr>
          <a:xfrm rot="60000">
            <a:off x="916412" y="6299942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数量控制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 rot="60000">
            <a:off x="5181630" y="2436876"/>
            <a:ext cx="205740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 rot="60000">
            <a:off x="5398343" y="2505832"/>
            <a:ext cx="714451" cy="744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E83B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720" dirty="0"/>
          </a:p>
        </p:txBody>
      </p:sp>
      <p:sp>
        <p:nvSpPr>
          <p:cNvPr id="15" name="Shape 11"/>
          <p:cNvSpPr/>
          <p:nvPr/>
        </p:nvSpPr>
        <p:spPr>
          <a:xfrm rot="60000">
            <a:off x="5398435" y="3153674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 rot="60000">
            <a:off x="5341102" y="5875501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激活限制</a:t>
            </a:r>
            <a:endParaRPr lang="en-US" sz="1980" dirty="0"/>
          </a:p>
        </p:txBody>
      </p:sp>
      <p:sp>
        <p:nvSpPr>
          <p:cNvPr id="17" name="Text 13"/>
          <p:cNvSpPr/>
          <p:nvPr/>
        </p:nvSpPr>
        <p:spPr>
          <a:xfrm rot="60000">
            <a:off x="5336073" y="6299942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激活限制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 rot="-60000">
            <a:off x="7391370" y="2436876"/>
            <a:ext cx="205740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 rot="-60000">
            <a:off x="7531547" y="2531355"/>
            <a:ext cx="714451" cy="747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720" dirty="0"/>
          </a:p>
        </p:txBody>
      </p:sp>
      <p:sp>
        <p:nvSpPr>
          <p:cNvPr id="20" name="Shape 16"/>
          <p:cNvSpPr/>
          <p:nvPr/>
        </p:nvSpPr>
        <p:spPr>
          <a:xfrm rot="-60000">
            <a:off x="7548738" y="3182752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 rot="-60000">
            <a:off x="7614666" y="5887420"/>
            <a:ext cx="1104047" cy="341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实名核验</a:t>
            </a:r>
            <a:endParaRPr lang="en-US" sz="1980" dirty="0"/>
          </a:p>
        </p:txBody>
      </p:sp>
      <p:sp>
        <p:nvSpPr>
          <p:cNvPr id="22" name="Text 18"/>
          <p:cNvSpPr/>
          <p:nvPr/>
        </p:nvSpPr>
        <p:spPr>
          <a:xfrm rot="-60000">
            <a:off x="7625090" y="6321064"/>
            <a:ext cx="796242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实名核验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 rot="60000">
            <a:off x="9601200" y="2436876"/>
            <a:ext cx="205740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 rot="60000">
            <a:off x="9818004" y="2505832"/>
            <a:ext cx="714451" cy="744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720" dirty="0"/>
          </a:p>
        </p:txBody>
      </p:sp>
      <p:sp>
        <p:nvSpPr>
          <p:cNvPr id="25" name="Shape 21"/>
          <p:cNvSpPr/>
          <p:nvPr/>
        </p:nvSpPr>
        <p:spPr>
          <a:xfrm rot="60000">
            <a:off x="9818004" y="3153674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 rot="60000">
            <a:off x="9760763" y="5875501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介质固定</a:t>
            </a:r>
            <a:endParaRPr lang="en-US" sz="1980" dirty="0"/>
          </a:p>
        </p:txBody>
      </p:sp>
      <p:sp>
        <p:nvSpPr>
          <p:cNvPr id="27" name="Text 23"/>
          <p:cNvSpPr/>
          <p:nvPr/>
        </p:nvSpPr>
        <p:spPr>
          <a:xfrm rot="60000">
            <a:off x="9755642" y="6299942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介质固定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 rot="-60000">
            <a:off x="11811030" y="2436876"/>
            <a:ext cx="205740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 rot="-60000">
            <a:off x="11951208" y="2531355"/>
            <a:ext cx="714451" cy="747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8DBEE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3720" dirty="0"/>
          </a:p>
        </p:txBody>
      </p:sp>
      <p:sp>
        <p:nvSpPr>
          <p:cNvPr id="30" name="Shape 26"/>
          <p:cNvSpPr/>
          <p:nvPr/>
        </p:nvSpPr>
        <p:spPr>
          <a:xfrm rot="-60000">
            <a:off x="11968307" y="3182752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 rot="-60000">
            <a:off x="12034236" y="5887420"/>
            <a:ext cx="1104047" cy="341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重空检查</a:t>
            </a:r>
            <a:endParaRPr lang="en-US" sz="1980" dirty="0"/>
          </a:p>
        </p:txBody>
      </p:sp>
      <p:sp>
        <p:nvSpPr>
          <p:cNvPr id="32" name="Text 28"/>
          <p:cNvSpPr/>
          <p:nvPr/>
        </p:nvSpPr>
        <p:spPr>
          <a:xfrm rot="-60000">
            <a:off x="12044660" y="6321064"/>
            <a:ext cx="796242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重空检查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 rot="-60000">
            <a:off x="2910078" y="1986351"/>
            <a:ext cx="2180844" cy="5145237"/>
          </a:xfrm>
          <a:prstGeom prst="rect">
            <a:avLst/>
          </a:prstGeom>
          <a:solidFill>
            <a:srgbClr val="16150F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9554" dir="3238358">
              <a:srgbClr val="16150F">
                <a:alpha val="3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 rot="-60000">
            <a:off x="3046506" y="2089032"/>
            <a:ext cx="714451" cy="79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720" dirty="0"/>
          </a:p>
        </p:txBody>
      </p:sp>
      <p:sp>
        <p:nvSpPr>
          <p:cNvPr id="35" name="Shape 31"/>
          <p:cNvSpPr/>
          <p:nvPr/>
        </p:nvSpPr>
        <p:spPr>
          <a:xfrm rot="-60000">
            <a:off x="3076407" y="2781605"/>
            <a:ext cx="35049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 rot="-60000">
            <a:off x="3157698" y="6288051"/>
            <a:ext cx="1165311" cy="362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特殊用途</a:t>
            </a:r>
            <a:endParaRPr lang="en-US" sz="1980" dirty="0"/>
          </a:p>
        </p:txBody>
      </p:sp>
      <p:sp>
        <p:nvSpPr>
          <p:cNvPr id="37" name="Text 33"/>
          <p:cNvSpPr/>
          <p:nvPr/>
        </p:nvSpPr>
        <p:spPr>
          <a:xfrm rot="-60000">
            <a:off x="3169493" y="6748455"/>
            <a:ext cx="796242" cy="182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特殊用途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 rot="420000">
            <a:off x="3941247" y="1874611"/>
            <a:ext cx="112014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 rot="420000">
            <a:off x="3989710" y="1801368"/>
            <a:ext cx="1113831" cy="3949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可代理 · 特殊用途</a:t>
            </a:r>
            <a:endParaRPr lang="en-US" sz="96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7329373"/>
            <a:ext cx="365760" cy="2612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249710" y="7332071"/>
            <a:ext cx="3579876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同法人机构Ⅰ类户 1 个、Ⅱ类户 3 个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84496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2154326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4320" dirty="0"/>
          </a:p>
        </p:txBody>
      </p:sp>
      <p:sp>
        <p:nvSpPr>
          <p:cNvPr id="8" name="Shape 4"/>
          <p:cNvSpPr/>
          <p:nvPr/>
        </p:nvSpPr>
        <p:spPr>
          <a:xfrm>
            <a:off x="761970" y="3345150"/>
            <a:ext cx="6461790" cy="153921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188981" y="3345150"/>
            <a:ext cx="34779" cy="153921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970" y="3345150"/>
            <a:ext cx="2804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840" dirty="0"/>
          </a:p>
        </p:txBody>
      </p:sp>
      <p:sp>
        <p:nvSpPr>
          <p:cNvPr id="11" name="Text 7"/>
          <p:cNvSpPr/>
          <p:nvPr/>
        </p:nvSpPr>
        <p:spPr>
          <a:xfrm>
            <a:off x="761970" y="3925291"/>
            <a:ext cx="2334006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· 数量控制</a:t>
            </a:r>
            <a:endParaRPr lang="en-US" sz="2520" dirty="0"/>
          </a:p>
        </p:txBody>
      </p:sp>
      <p:sp>
        <p:nvSpPr>
          <p:cNvPr id="12" name="Text 8"/>
          <p:cNvSpPr/>
          <p:nvPr/>
        </p:nvSpPr>
        <p:spPr>
          <a:xfrm>
            <a:off x="761970" y="4578309"/>
            <a:ext cx="273986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同法人机构Ⅰ类户 1 个、Ⅱ类户 3 个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06640" y="3345150"/>
            <a:ext cx="6461790" cy="153921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3833651" y="3345150"/>
            <a:ext cx="34779" cy="153921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06640" y="3345150"/>
            <a:ext cx="2804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840" dirty="0"/>
          </a:p>
        </p:txBody>
      </p:sp>
      <p:sp>
        <p:nvSpPr>
          <p:cNvPr id="16" name="Text 12"/>
          <p:cNvSpPr/>
          <p:nvPr/>
        </p:nvSpPr>
        <p:spPr>
          <a:xfrm>
            <a:off x="7406640" y="3925291"/>
            <a:ext cx="2641244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可代理 · 特殊用途</a:t>
            </a:r>
            <a:endParaRPr lang="en-US" sz="2520" dirty="0"/>
          </a:p>
        </p:txBody>
      </p:sp>
      <p:sp>
        <p:nvSpPr>
          <p:cNvPr id="17" name="Text 13"/>
          <p:cNvSpPr/>
          <p:nvPr/>
        </p:nvSpPr>
        <p:spPr>
          <a:xfrm>
            <a:off x="7406640" y="4578309"/>
            <a:ext cx="2537651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代发工资、社保医保等由单位代理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970" y="5928330"/>
            <a:ext cx="6461790" cy="153921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88981" y="5928330"/>
            <a:ext cx="34779" cy="153921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1970" y="5928330"/>
            <a:ext cx="2804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840" dirty="0"/>
          </a:p>
        </p:txBody>
      </p:sp>
      <p:sp>
        <p:nvSpPr>
          <p:cNvPr id="21" name="Text 17"/>
          <p:cNvSpPr/>
          <p:nvPr/>
        </p:nvSpPr>
        <p:spPr>
          <a:xfrm>
            <a:off x="761970" y="6508471"/>
            <a:ext cx="2948483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只收不付 · 激活限制</a:t>
            </a:r>
            <a:endParaRPr lang="en-US" sz="2520" dirty="0"/>
          </a:p>
        </p:txBody>
      </p:sp>
      <p:sp>
        <p:nvSpPr>
          <p:cNvPr id="22" name="Text 18"/>
          <p:cNvSpPr/>
          <p:nvPr/>
        </p:nvSpPr>
        <p:spPr>
          <a:xfrm>
            <a:off x="761970" y="7161489"/>
            <a:ext cx="2211705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被代理人激活前账户只收不付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406640" y="5928330"/>
            <a:ext cx="6461790" cy="153921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3833651" y="5928330"/>
            <a:ext cx="34779" cy="153921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06640" y="5928330"/>
            <a:ext cx="280446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840" dirty="0"/>
          </a:p>
        </p:txBody>
      </p:sp>
      <p:sp>
        <p:nvSpPr>
          <p:cNvPr id="26" name="Text 22"/>
          <p:cNvSpPr/>
          <p:nvPr/>
        </p:nvSpPr>
        <p:spPr>
          <a:xfrm>
            <a:off x="7406640" y="6508471"/>
            <a:ext cx="2334006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必核 · 实名核验</a:t>
            </a:r>
            <a:endParaRPr lang="en-US" sz="2520" dirty="0"/>
          </a:p>
        </p:txBody>
      </p:sp>
      <p:sp>
        <p:nvSpPr>
          <p:cNvPr id="27" name="Text 23"/>
          <p:cNvSpPr/>
          <p:nvPr/>
        </p:nvSpPr>
        <p:spPr>
          <a:xfrm>
            <a:off x="7406640" y="7161489"/>
            <a:ext cx="2374678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证件过期或核查不通过拒绝办理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18897"/>
            <a:ext cx="1945386" cy="3570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0"/>
              </a:lnSpc>
              <a:buNone/>
            </a:pPr>
            <a:r>
              <a:rPr lang="en-US" sz="32400" dirty="0">
                <a:solidFill>
                  <a:srgbClr val="F5A8BC">
                    <a:alpha val="16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“</a:t>
            </a:r>
            <a:endParaRPr lang="en-US" sz="32400" dirty="0"/>
          </a:p>
        </p:txBody>
      </p:sp>
      <p:sp>
        <p:nvSpPr>
          <p:cNvPr id="5" name="Shape 2"/>
          <p:cNvSpPr/>
          <p:nvPr/>
        </p:nvSpPr>
        <p:spPr>
          <a:xfrm>
            <a:off x="838230" y="2299716"/>
            <a:ext cx="411480" cy="5331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6330" y="2322576"/>
            <a:ext cx="84147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132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证件类型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 rot="-60000">
            <a:off x="838413" y="2741463"/>
            <a:ext cx="7246620" cy="109728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35376" dir="3042636">
              <a:srgbClr val="16150F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 rot="-60000">
            <a:off x="1009406" y="2741955"/>
            <a:ext cx="7509815" cy="1183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4"/>
              </a:lnSpc>
              <a:buNone/>
            </a:pPr>
            <a:r>
              <a:rPr lang="en-US" sz="7080" b="1" spc="-88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70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">
            <a:off x="7991124" y="2925989"/>
            <a:ext cx="502920" cy="3591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 rot="60000">
            <a:off x="839236" y="3915095"/>
            <a:ext cx="6408390" cy="89154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60000">
            <a:off x="834390" y="3886840"/>
            <a:ext cx="7000646" cy="975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6797"/>
              </a:lnSpc>
              <a:buNone/>
            </a:pPr>
            <a:r>
              <a:rPr lang="en-US" sz="5760" b="1" spc="-7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001-012 · 业务类型</a:t>
            </a:r>
            <a:endParaRPr lang="en-US" sz="5760" dirty="0"/>
          </a:p>
        </p:txBody>
      </p:sp>
      <p:sp>
        <p:nvSpPr>
          <p:cNvPr id="12" name="Shape 8"/>
          <p:cNvSpPr/>
          <p:nvPr/>
        </p:nvSpPr>
        <p:spPr>
          <a:xfrm rot="-60000">
            <a:off x="839785" y="4883445"/>
            <a:ext cx="6080760" cy="89154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 rot="-60000">
            <a:off x="833658" y="4851258"/>
            <a:ext cx="6532474" cy="983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6797"/>
              </a:lnSpc>
              <a:buNone/>
            </a:pPr>
            <a:r>
              <a:rPr lang="en-US" sz="5760" b="1" spc="-72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非 0 · 开户种类</a:t>
            </a:r>
            <a:endParaRPr lang="en-US" sz="5760" dirty="0"/>
          </a:p>
        </p:txBody>
      </p:sp>
      <p:sp>
        <p:nvSpPr>
          <p:cNvPr id="14" name="Text 10"/>
          <p:cNvSpPr/>
          <p:nvPr/>
        </p:nvSpPr>
        <p:spPr>
          <a:xfrm>
            <a:off x="838230" y="640080"/>
            <a:ext cx="240692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1440" dirty="0"/>
          </a:p>
        </p:txBody>
      </p:sp>
      <p:sp>
        <p:nvSpPr>
          <p:cNvPr id="15" name="Shape 11"/>
          <p:cNvSpPr/>
          <p:nvPr/>
        </p:nvSpPr>
        <p:spPr>
          <a:xfrm>
            <a:off x="2793218" y="731520"/>
            <a:ext cx="9840773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93218" y="731520"/>
            <a:ext cx="9840773" cy="34779"/>
          </a:xfrm>
          <a:prstGeom prst="rect">
            <a:avLst/>
          </a:prstGeom>
          <a:solidFill>
            <a:srgbClr val="16150F">
              <a:alpha val="45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-120000">
            <a:off x="12771150" y="594360"/>
            <a:ext cx="1021110" cy="29718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 rot="-120000">
            <a:off x="12867620" y="576621"/>
            <a:ext cx="919521" cy="3600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838230" y="7244517"/>
            <a:ext cx="12954030" cy="451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8230" y="7244517"/>
            <a:ext cx="12954030" cy="34779"/>
          </a:xfrm>
          <a:prstGeom prst="rect">
            <a:avLst/>
          </a:prstGeom>
          <a:solidFill>
            <a:srgbClr val="16150F">
              <a:alpha val="22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7434986"/>
            <a:ext cx="365760" cy="2612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10610" y="7485553"/>
            <a:ext cx="95977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685800"/>
            <a:ext cx="694578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证件类型｜242 统一社会信用代码、292 批文号</a:t>
            </a:r>
            <a:endParaRPr lang="en-US" sz="1440" dirty="0"/>
          </a:p>
        </p:txBody>
      </p:sp>
      <p:sp>
        <p:nvSpPr>
          <p:cNvPr id="5" name="Shape 2"/>
          <p:cNvSpPr/>
          <p:nvPr/>
        </p:nvSpPr>
        <p:spPr>
          <a:xfrm>
            <a:off x="6649974" y="777240"/>
            <a:ext cx="6182076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49974" y="777240"/>
            <a:ext cx="6182076" cy="34779"/>
          </a:xfrm>
          <a:prstGeom prst="rect">
            <a:avLst/>
          </a:prstGeom>
          <a:solidFill>
            <a:srgbClr val="FBFAF4">
              <a:alpha val="50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-120000">
            <a:off x="12969210" y="64008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-120000">
            <a:off x="13065679" y="62709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证件类型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85800" y="309984"/>
            <a:ext cx="1238372" cy="3471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80"/>
              </a:lnSpc>
              <a:buNone/>
            </a:pPr>
            <a:r>
              <a:rPr lang="en-US" sz="20400" dirty="0">
                <a:solidFill>
                  <a:srgbClr val="B9E8C8">
                    <a:alpha val="18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“</a:t>
            </a:r>
            <a:endParaRPr lang="en-US" sz="20400" dirty="0"/>
          </a:p>
        </p:txBody>
      </p:sp>
      <p:sp>
        <p:nvSpPr>
          <p:cNvPr id="10" name="Text 7"/>
          <p:cNvSpPr/>
          <p:nvPr/>
        </p:nvSpPr>
        <p:spPr>
          <a:xfrm>
            <a:off x="914400" y="2797515"/>
            <a:ext cx="1185348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99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14400" y="3235108"/>
            <a:ext cx="11369010" cy="1153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870"/>
              </a:lnSpc>
              <a:buNone/>
            </a:pPr>
            <a:r>
              <a:rPr lang="en-US" sz="6720" b="1" spc="-8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6720" dirty="0"/>
          </a:p>
        </p:txBody>
      </p:sp>
      <p:sp>
        <p:nvSpPr>
          <p:cNvPr id="12" name="Shape 9"/>
          <p:cNvSpPr/>
          <p:nvPr/>
        </p:nvSpPr>
        <p:spPr>
          <a:xfrm>
            <a:off x="914400" y="4693524"/>
            <a:ext cx="4155399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693524"/>
            <a:ext cx="4155399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5120274"/>
            <a:ext cx="429036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证件类型｜242 统一社会信用代码、292 批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914400" y="5361584"/>
            <a:ext cx="46085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文号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5237409" y="4693524"/>
            <a:ext cx="4155491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7409" y="4693524"/>
            <a:ext cx="4155491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37409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37409" y="5120274"/>
            <a:ext cx="433242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001-012 · 业务类型｜001 存折、002 无折卡、012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5237409" y="5361584"/>
            <a:ext cx="64008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二类户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9560601" y="4693524"/>
            <a:ext cx="4155399" cy="90178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60601" y="4693524"/>
            <a:ext cx="4155399" cy="57965"/>
          </a:xfrm>
          <a:prstGeom prst="rect">
            <a:avLst/>
          </a:prstGeom>
          <a:solidFill>
            <a:srgbClr val="B9E8C8"/>
          </a:solidFill>
          <a:ln w="12700">
            <a:solidFill>
              <a:srgbClr val="B9E8C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60601" y="4777374"/>
            <a:ext cx="40233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560601" y="5120274"/>
            <a:ext cx="440009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非 0 · 开户种类｜01 / 02 · 财政补贴：01 是、02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9560601" y="5361584"/>
            <a:ext cx="28529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1"/>
              </a:lnSpc>
              <a:buNone/>
            </a:pPr>
            <a:r>
              <a:rPr lang="en-US" sz="144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44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432792"/>
            <a:ext cx="304770" cy="21762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25880" y="7461687"/>
            <a:ext cx="253231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统一社会信用代码、292 批文号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7913" y="4934551"/>
            <a:ext cx="2011863" cy="364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32"/>
              </a:lnSpc>
              <a:buNone/>
            </a:pPr>
            <a:r>
              <a:rPr lang="en-US" sz="33600" dirty="0">
                <a:solidFill>
                  <a:srgbClr val="B9E8C8">
                    <a:alpha val="12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”</a:t>
            </a:r>
            <a:endParaRPr lang="en-US" sz="33600" dirty="0"/>
          </a:p>
        </p:txBody>
      </p:sp>
      <p:sp>
        <p:nvSpPr>
          <p:cNvPr id="5" name="Shape 2"/>
          <p:cNvSpPr/>
          <p:nvPr/>
        </p:nvSpPr>
        <p:spPr>
          <a:xfrm>
            <a:off x="838230" y="2802179"/>
            <a:ext cx="41148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6330" y="2825039"/>
            <a:ext cx="84147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132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证件类型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838230" y="3272248"/>
            <a:ext cx="5879287" cy="742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30"/>
              </a:lnSpc>
              <a:buNone/>
            </a:pPr>
            <a:r>
              <a:rPr lang="en-US" sz="5520" b="1" spc="-69" kern="0" dirty="0">
                <a:solidFill>
                  <a:srgbClr val="FBFAF4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552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7" y="3643335"/>
            <a:ext cx="10509839" cy="20563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-60000">
            <a:off x="982980" y="3936188"/>
            <a:ext cx="10876788" cy="1578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11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001-012 · 业务类型</a:t>
            </a:r>
            <a:endParaRPr lang="en-US" sz="9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10717682" y="4362968"/>
            <a:ext cx="533370" cy="3810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8230" y="655350"/>
            <a:ext cx="249494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60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1440" dirty="0"/>
          </a:p>
        </p:txBody>
      </p:sp>
      <p:sp>
        <p:nvSpPr>
          <p:cNvPr id="12" name="Shape 7"/>
          <p:cNvSpPr/>
          <p:nvPr/>
        </p:nvSpPr>
        <p:spPr>
          <a:xfrm>
            <a:off x="2837109" y="746790"/>
            <a:ext cx="979679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837109" y="746790"/>
            <a:ext cx="9796790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rot="-120000">
            <a:off x="12771150" y="609630"/>
            <a:ext cx="102111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 rot="-120000">
            <a:off x="12867620" y="591891"/>
            <a:ext cx="919521" cy="3600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08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266" y="696316"/>
            <a:ext cx="2310597" cy="23105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 rot="-780000">
            <a:off x="11673093" y="850110"/>
            <a:ext cx="2478847" cy="13367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94"/>
              </a:lnSpc>
              <a:buNone/>
            </a:pPr>
            <a:r>
              <a:rPr lang="en-US" sz="276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统一社会信用代码、</a:t>
            </a:r>
            <a:endParaRPr lang="en-US" sz="2760" dirty="0"/>
          </a:p>
        </p:txBody>
      </p:sp>
      <p:sp>
        <p:nvSpPr>
          <p:cNvPr id="18" name="Text 12"/>
          <p:cNvSpPr/>
          <p:nvPr/>
        </p:nvSpPr>
        <p:spPr>
          <a:xfrm rot="-780000">
            <a:off x="12140961" y="1810666"/>
            <a:ext cx="1904390" cy="9369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94"/>
              </a:lnSpc>
              <a:buNone/>
            </a:pPr>
            <a:r>
              <a:rPr lang="en-US" sz="276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292 批文号</a:t>
            </a:r>
            <a:endParaRPr lang="en-US" sz="2760" dirty="0"/>
          </a:p>
        </p:txBody>
      </p:sp>
      <p:sp>
        <p:nvSpPr>
          <p:cNvPr id="19" name="Text 13"/>
          <p:cNvSpPr/>
          <p:nvPr/>
        </p:nvSpPr>
        <p:spPr>
          <a:xfrm rot="-780000">
            <a:off x="12450821" y="2652126"/>
            <a:ext cx="1600048" cy="4040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40" b="1" spc="168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001-012 · 业务类型</a:t>
            </a:r>
            <a:endParaRPr lang="en-US" sz="840" dirty="0"/>
          </a:p>
        </p:txBody>
      </p:sp>
      <p:sp>
        <p:nvSpPr>
          <p:cNvPr id="20" name="Shape 14"/>
          <p:cNvSpPr/>
          <p:nvPr/>
        </p:nvSpPr>
        <p:spPr>
          <a:xfrm>
            <a:off x="838230" y="7218365"/>
            <a:ext cx="12954030" cy="462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38230" y="7218365"/>
            <a:ext cx="12954030" cy="34779"/>
          </a:xfrm>
          <a:prstGeom prst="rect">
            <a:avLst/>
          </a:prstGeom>
          <a:solidFill>
            <a:srgbClr val="FBFAF4">
              <a:alpha val="28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30" y="7408926"/>
            <a:ext cx="381030" cy="2720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7464887"/>
            <a:ext cx="95977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123758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3213293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字段输入规则</a:t>
            </a:r>
            <a:endParaRPr lang="en-US" sz="4320" dirty="0"/>
          </a:p>
        </p:txBody>
      </p:sp>
      <p:sp>
        <p:nvSpPr>
          <p:cNvPr id="8" name="Shape 4"/>
          <p:cNvSpPr/>
          <p:nvPr/>
        </p:nvSpPr>
        <p:spPr>
          <a:xfrm>
            <a:off x="761970" y="3345150"/>
            <a:ext cx="7569129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96319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1970" y="4820808"/>
            <a:ext cx="377952" cy="591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3840" dirty="0"/>
          </a:p>
        </p:txBody>
      </p:sp>
      <p:sp>
        <p:nvSpPr>
          <p:cNvPr id="11" name="Text 7"/>
          <p:cNvSpPr/>
          <p:nvPr/>
        </p:nvSpPr>
        <p:spPr>
          <a:xfrm>
            <a:off x="761970" y="5422621"/>
            <a:ext cx="2605674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按系统枚举值录入</a:t>
            </a:r>
            <a:endParaRPr lang="en-US" sz="2520" dirty="0"/>
          </a:p>
        </p:txBody>
      </p:sp>
      <p:sp>
        <p:nvSpPr>
          <p:cNvPr id="12" name="Shape 8"/>
          <p:cNvSpPr/>
          <p:nvPr/>
        </p:nvSpPr>
        <p:spPr>
          <a:xfrm>
            <a:off x="9621408" y="3345150"/>
            <a:ext cx="4246931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3833560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21408" y="3360420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15" name="Text 11"/>
          <p:cNvSpPr/>
          <p:nvPr/>
        </p:nvSpPr>
        <p:spPr>
          <a:xfrm>
            <a:off x="10048159" y="3352830"/>
            <a:ext cx="167754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等 · 证件类型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048159" y="3629071"/>
            <a:ext cx="2548128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 统一社会信用代码、292 批文号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621408" y="3930731"/>
            <a:ext cx="401074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21408" y="3930731"/>
            <a:ext cx="401074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21408" y="406030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10048159" y="4052621"/>
            <a:ext cx="190423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001-012 · 业务类型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0048159" y="4328861"/>
            <a:ext cx="259689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001 存折、002 无折卡、012 二类户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621408" y="4630613"/>
            <a:ext cx="401074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621408" y="4630613"/>
            <a:ext cx="401074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621408" y="476009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5" name="Text 21"/>
          <p:cNvSpPr/>
          <p:nvPr/>
        </p:nvSpPr>
        <p:spPr>
          <a:xfrm>
            <a:off x="10048159" y="4752503"/>
            <a:ext cx="178231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非 0 · 开户种类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0048159" y="5028743"/>
            <a:ext cx="162153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0 余额、0 余额开户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621408" y="5330403"/>
            <a:ext cx="401074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621408" y="5330403"/>
            <a:ext cx="401074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21408" y="5459974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30" name="Text 26"/>
          <p:cNvSpPr/>
          <p:nvPr/>
        </p:nvSpPr>
        <p:spPr>
          <a:xfrm>
            <a:off x="10048159" y="5452384"/>
            <a:ext cx="178231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02 · 财政补贴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0048159" y="5728533"/>
            <a:ext cx="103632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是、02 否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62940"/>
            <a:ext cx="19568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介质发放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79175"/>
            <a:ext cx="4785330" cy="664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5280" dirty="0"/>
          </a:p>
        </p:txBody>
      </p:sp>
      <p:sp>
        <p:nvSpPr>
          <p:cNvPr id="6" name="Text 3"/>
          <p:cNvSpPr/>
          <p:nvPr/>
        </p:nvSpPr>
        <p:spPr>
          <a:xfrm>
            <a:off x="5684550" y="1217844"/>
            <a:ext cx="112773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介质发放</a:t>
            </a:r>
            <a:endParaRPr lang="en-US" sz="204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6949440" y="1147481"/>
            <a:ext cx="64008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60000">
            <a:off x="761970" y="2436876"/>
            <a:ext cx="249933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 rot="60000">
            <a:off x="978865" y="2501465"/>
            <a:ext cx="714451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720" dirty="0"/>
          </a:p>
        </p:txBody>
      </p:sp>
      <p:sp>
        <p:nvSpPr>
          <p:cNvPr id="10" name="Shape 6"/>
          <p:cNvSpPr/>
          <p:nvPr/>
        </p:nvSpPr>
        <p:spPr>
          <a:xfrm rot="60000">
            <a:off x="978865" y="3149376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60000">
            <a:off x="921624" y="5871295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介质发放</a:t>
            </a:r>
            <a:endParaRPr lang="en-US" sz="1980" dirty="0"/>
          </a:p>
        </p:txBody>
      </p:sp>
      <p:sp>
        <p:nvSpPr>
          <p:cNvPr id="12" name="Text 8"/>
          <p:cNvSpPr/>
          <p:nvPr/>
        </p:nvSpPr>
        <p:spPr>
          <a:xfrm rot="60000">
            <a:off x="916503" y="6295735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介质发放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 rot="60000">
            <a:off x="6065490" y="2436876"/>
            <a:ext cx="249933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 rot="60000">
            <a:off x="6282385" y="2501535"/>
            <a:ext cx="714451" cy="744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E83B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720" dirty="0"/>
          </a:p>
        </p:txBody>
      </p:sp>
      <p:sp>
        <p:nvSpPr>
          <p:cNvPr id="15" name="Shape 11"/>
          <p:cNvSpPr/>
          <p:nvPr/>
        </p:nvSpPr>
        <p:spPr>
          <a:xfrm rot="60000">
            <a:off x="6282385" y="3149376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 rot="60000">
            <a:off x="6225144" y="5871266"/>
            <a:ext cx="851215" cy="331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领取人</a:t>
            </a:r>
            <a:endParaRPr lang="en-US" sz="1980" dirty="0"/>
          </a:p>
        </p:txBody>
      </p:sp>
      <p:sp>
        <p:nvSpPr>
          <p:cNvPr id="17" name="Text 13"/>
          <p:cNvSpPr/>
          <p:nvPr/>
        </p:nvSpPr>
        <p:spPr>
          <a:xfrm rot="60000">
            <a:off x="6220023" y="6295735"/>
            <a:ext cx="674013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领取人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 rot="-60000">
            <a:off x="8717250" y="2436876"/>
            <a:ext cx="249933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 rot="-60000">
            <a:off x="8857518" y="2536750"/>
            <a:ext cx="714451" cy="747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720" dirty="0"/>
          </a:p>
        </p:txBody>
      </p:sp>
      <p:sp>
        <p:nvSpPr>
          <p:cNvPr id="20" name="Shape 16"/>
          <p:cNvSpPr/>
          <p:nvPr/>
        </p:nvSpPr>
        <p:spPr>
          <a:xfrm rot="-60000">
            <a:off x="8874618" y="3188147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 rot="-60000">
            <a:off x="8940637" y="5892815"/>
            <a:ext cx="1104047" cy="341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凭证输出</a:t>
            </a:r>
            <a:endParaRPr lang="en-US" sz="1980" dirty="0"/>
          </a:p>
        </p:txBody>
      </p:sp>
      <p:sp>
        <p:nvSpPr>
          <p:cNvPr id="22" name="Text 18"/>
          <p:cNvSpPr/>
          <p:nvPr/>
        </p:nvSpPr>
        <p:spPr>
          <a:xfrm rot="-60000">
            <a:off x="8951062" y="6326459"/>
            <a:ext cx="796242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凭证输出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 rot="60000">
            <a:off x="11369010" y="2436876"/>
            <a:ext cx="249933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 rot="60000">
            <a:off x="11585905" y="2501535"/>
            <a:ext cx="714451" cy="744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720" dirty="0"/>
          </a:p>
        </p:txBody>
      </p:sp>
      <p:sp>
        <p:nvSpPr>
          <p:cNvPr id="25" name="Shape 21"/>
          <p:cNvSpPr/>
          <p:nvPr/>
        </p:nvSpPr>
        <p:spPr>
          <a:xfrm rot="60000">
            <a:off x="11585905" y="3149376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 rot="60000">
            <a:off x="11528664" y="5871295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电子归档</a:t>
            </a:r>
            <a:endParaRPr lang="en-US" sz="1980" dirty="0"/>
          </a:p>
        </p:txBody>
      </p:sp>
      <p:sp>
        <p:nvSpPr>
          <p:cNvPr id="27" name="Text 23"/>
          <p:cNvSpPr/>
          <p:nvPr/>
        </p:nvSpPr>
        <p:spPr>
          <a:xfrm rot="60000">
            <a:off x="11523543" y="6295735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电子归档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 rot="-60000">
            <a:off x="3338749" y="1986351"/>
            <a:ext cx="2649291" cy="5145237"/>
          </a:xfrm>
          <a:prstGeom prst="rect">
            <a:avLst/>
          </a:prstGeom>
          <a:solidFill>
            <a:srgbClr val="16150F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9554" dir="3238358">
              <a:srgbClr val="16150F">
                <a:alpha val="3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 rot="-60000">
            <a:off x="3475269" y="2095158"/>
            <a:ext cx="714451" cy="79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720" dirty="0"/>
          </a:p>
        </p:txBody>
      </p:sp>
      <p:sp>
        <p:nvSpPr>
          <p:cNvPr id="30" name="Shape 26"/>
          <p:cNvSpPr/>
          <p:nvPr/>
        </p:nvSpPr>
        <p:spPr>
          <a:xfrm rot="-60000">
            <a:off x="3505261" y="2787731"/>
            <a:ext cx="35049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 rot="-60000">
            <a:off x="3586460" y="6294269"/>
            <a:ext cx="1165311" cy="362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领取期限</a:t>
            </a:r>
            <a:endParaRPr lang="en-US" sz="1980" dirty="0"/>
          </a:p>
        </p:txBody>
      </p:sp>
      <p:sp>
        <p:nvSpPr>
          <p:cNvPr id="32" name="Text 28"/>
          <p:cNvSpPr/>
          <p:nvPr/>
        </p:nvSpPr>
        <p:spPr>
          <a:xfrm rot="-60000">
            <a:off x="3598255" y="6754581"/>
            <a:ext cx="796242" cy="182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领取期限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 rot="420000">
            <a:off x="3686221" y="1883938"/>
            <a:ext cx="224028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 rot="420000">
            <a:off x="3706246" y="1743669"/>
            <a:ext cx="2290755" cy="5289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领取期限：支持当日领取与非当日领取</a:t>
            </a:r>
            <a:endParaRPr lang="en-US" sz="96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7329373"/>
            <a:ext cx="365760" cy="2612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49710" y="7332071"/>
            <a:ext cx="39776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银行卡、存折、存单，清单领取后发放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18897"/>
            <a:ext cx="1945386" cy="3570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0"/>
              </a:lnSpc>
              <a:buNone/>
            </a:pPr>
            <a:r>
              <a:rPr lang="en-US" sz="32400" dirty="0">
                <a:solidFill>
                  <a:srgbClr val="F5A8BC">
                    <a:alpha val="16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“</a:t>
            </a:r>
            <a:endParaRPr lang="en-US" sz="32400" dirty="0"/>
          </a:p>
        </p:txBody>
      </p:sp>
      <p:sp>
        <p:nvSpPr>
          <p:cNvPr id="5" name="Shape 2"/>
          <p:cNvSpPr/>
          <p:nvPr/>
        </p:nvSpPr>
        <p:spPr>
          <a:xfrm>
            <a:off x="838230" y="2299716"/>
            <a:ext cx="411480" cy="5331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6330" y="2322576"/>
            <a:ext cx="84147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132" kern="0" dirty="0">
                <a:solidFill>
                  <a:srgbClr val="16150F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介质发放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 rot="-60000">
            <a:off x="838779" y="2741463"/>
            <a:ext cx="6263640" cy="1097280"/>
          </a:xfrm>
          <a:prstGeom prst="rect">
            <a:avLst/>
          </a:prstGeom>
          <a:solidFill>
            <a:srgbClr val="F5A8B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35376" dir="3042636">
              <a:srgbClr val="16150F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 rot="-60000">
            <a:off x="1009315" y="2749946"/>
            <a:ext cx="6358890" cy="11666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4"/>
              </a:lnSpc>
              <a:buNone/>
            </a:pPr>
            <a:r>
              <a:rPr lang="en-US" sz="7080" b="1" spc="-88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介质发放</a:t>
            </a:r>
            <a:endParaRPr lang="en-US" sz="708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">
            <a:off x="7009059" y="2934584"/>
            <a:ext cx="502920" cy="3591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 rot="60000">
            <a:off x="837682" y="3915095"/>
            <a:ext cx="5097780" cy="89154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60000">
            <a:off x="834390" y="3892509"/>
            <a:ext cx="5195712" cy="9640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6797"/>
              </a:lnSpc>
              <a:buNone/>
            </a:pPr>
            <a:r>
              <a:rPr lang="en-US" sz="5760" b="1" spc="-7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日 · 领取期限</a:t>
            </a:r>
            <a:endParaRPr lang="en-US" sz="5760" dirty="0"/>
          </a:p>
        </p:txBody>
      </p:sp>
      <p:sp>
        <p:nvSpPr>
          <p:cNvPr id="12" name="Shape 8"/>
          <p:cNvSpPr/>
          <p:nvPr/>
        </p:nvSpPr>
        <p:spPr>
          <a:xfrm rot="-60000">
            <a:off x="837316" y="4883445"/>
            <a:ext cx="5227350" cy="89154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 rot="-60000">
            <a:off x="833658" y="4855738"/>
            <a:ext cx="5326014" cy="9742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6797"/>
              </a:lnSpc>
              <a:buNone/>
            </a:pPr>
            <a:r>
              <a:rPr lang="en-US" sz="5760" b="1" spc="-72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代理人 · 领取人</a:t>
            </a:r>
            <a:endParaRPr lang="en-US" sz="5760" dirty="0"/>
          </a:p>
        </p:txBody>
      </p:sp>
      <p:sp>
        <p:nvSpPr>
          <p:cNvPr id="14" name="Text 10"/>
          <p:cNvSpPr/>
          <p:nvPr/>
        </p:nvSpPr>
        <p:spPr>
          <a:xfrm>
            <a:off x="838230" y="640080"/>
            <a:ext cx="202882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介质发放</a:t>
            </a:r>
            <a:endParaRPr lang="en-US" sz="1440" dirty="0"/>
          </a:p>
        </p:txBody>
      </p:sp>
      <p:sp>
        <p:nvSpPr>
          <p:cNvPr id="15" name="Shape 11"/>
          <p:cNvSpPr/>
          <p:nvPr/>
        </p:nvSpPr>
        <p:spPr>
          <a:xfrm>
            <a:off x="2524018" y="731520"/>
            <a:ext cx="9972812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24018" y="731520"/>
            <a:ext cx="9972812" cy="34779"/>
          </a:xfrm>
          <a:prstGeom prst="rect">
            <a:avLst/>
          </a:prstGeom>
          <a:solidFill>
            <a:srgbClr val="16150F">
              <a:alpha val="45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-120000">
            <a:off x="12633990" y="594360"/>
            <a:ext cx="1158270" cy="29718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 rot="-120000">
            <a:off x="12730551" y="574243"/>
            <a:ext cx="1056589" cy="3648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838230" y="7244517"/>
            <a:ext cx="12954030" cy="451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8230" y="7244517"/>
            <a:ext cx="12954030" cy="34779"/>
          </a:xfrm>
          <a:prstGeom prst="rect">
            <a:avLst/>
          </a:prstGeom>
          <a:solidFill>
            <a:srgbClr val="16150F">
              <a:alpha val="22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7434986"/>
            <a:ext cx="365760" cy="2612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10610" y="7485553"/>
            <a:ext cx="110345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8230" y="3462193"/>
            <a:ext cx="396210" cy="38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5A8BC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8230" y="3462193"/>
            <a:ext cx="396210" cy="57965"/>
          </a:xfrm>
          <a:prstGeom prst="rect">
            <a:avLst/>
          </a:prstGeom>
          <a:solidFill>
            <a:srgbClr val="F5A8BC"/>
          </a:solidFill>
          <a:ln w="12700">
            <a:solidFill>
              <a:srgbClr val="F5A8B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41150" y="3485053"/>
            <a:ext cx="308381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83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银行卡、存折、存单，清单领取后发放</a:t>
            </a:r>
            <a:endParaRPr lang="en-US" sz="13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235" y="3484047"/>
            <a:ext cx="259050" cy="184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8230" y="3918205"/>
            <a:ext cx="9083010" cy="1002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000" b="1" spc="-11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6000" dirty="0"/>
          </a:p>
        </p:txBody>
      </p:sp>
      <p:sp>
        <p:nvSpPr>
          <p:cNvPr id="9" name="Shape 5"/>
          <p:cNvSpPr/>
          <p:nvPr/>
        </p:nvSpPr>
        <p:spPr>
          <a:xfrm>
            <a:off x="10652760" y="937260"/>
            <a:ext cx="3139410" cy="6452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652760" y="937260"/>
            <a:ext cx="46372" cy="6452006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42350" y="2571659"/>
            <a:ext cx="2849910" cy="8930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942350" y="3453069"/>
            <a:ext cx="2849910" cy="11593"/>
          </a:xfrm>
          <a:prstGeom prst="rect">
            <a:avLst/>
          </a:prstGeom>
          <a:solidFill>
            <a:srgbClr val="16150F">
              <a:alpha val="2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942350" y="2602108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11393790" y="2792578"/>
            <a:ext cx="240816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介质发放｜银行卡、存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11393790" y="3048610"/>
            <a:ext cx="228600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折、存单，清单领取后发放</a:t>
            </a:r>
            <a:endParaRPr lang="en-US" sz="1440" dirty="0"/>
          </a:p>
        </p:txBody>
      </p:sp>
      <p:sp>
        <p:nvSpPr>
          <p:cNvPr id="16" name="Shape 12"/>
          <p:cNvSpPr/>
          <p:nvPr/>
        </p:nvSpPr>
        <p:spPr>
          <a:xfrm>
            <a:off x="10942350" y="3464570"/>
            <a:ext cx="2849910" cy="1148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942350" y="4601921"/>
            <a:ext cx="2849910" cy="11593"/>
          </a:xfrm>
          <a:prstGeom prst="rect">
            <a:avLst/>
          </a:prstGeom>
          <a:solidFill>
            <a:srgbClr val="16150F">
              <a:alpha val="26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42350" y="3495111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11456060" y="3685581"/>
            <a:ext cx="240121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日 · 领取期限｜双面 · 凭证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11456060" y="3941521"/>
            <a:ext cx="231160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输出：客户回单 + 介质，行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11456060" y="4197553"/>
            <a:ext cx="100584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内电子凭证</a:t>
            </a:r>
            <a:endParaRPr lang="en-US" sz="1440" dirty="0"/>
          </a:p>
        </p:txBody>
      </p:sp>
      <p:sp>
        <p:nvSpPr>
          <p:cNvPr id="22" name="Text 18"/>
          <p:cNvSpPr/>
          <p:nvPr/>
        </p:nvSpPr>
        <p:spPr>
          <a:xfrm>
            <a:off x="10942350" y="4644055"/>
            <a:ext cx="59740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300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11456060" y="4834524"/>
            <a:ext cx="240807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代理人 · 领取人｜自动 · 电子</a:t>
            </a:r>
            <a:endParaRPr lang="en-US" sz="1440" dirty="0"/>
          </a:p>
        </p:txBody>
      </p:sp>
      <p:sp>
        <p:nvSpPr>
          <p:cNvPr id="24" name="Text 20"/>
          <p:cNvSpPr/>
          <p:nvPr/>
        </p:nvSpPr>
        <p:spPr>
          <a:xfrm>
            <a:off x="11456060" y="5090556"/>
            <a:ext cx="228600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归档：无纸化档案系统自动</a:t>
            </a:r>
            <a:endParaRPr lang="en-US" sz="1440" dirty="0"/>
          </a:p>
        </p:txBody>
      </p:sp>
      <p:sp>
        <p:nvSpPr>
          <p:cNvPr id="25" name="Text 21"/>
          <p:cNvSpPr/>
          <p:nvPr/>
        </p:nvSpPr>
        <p:spPr>
          <a:xfrm>
            <a:off x="11456060" y="5346497"/>
            <a:ext cx="46085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440" dirty="0"/>
          </a:p>
        </p:txBody>
      </p:sp>
      <p:sp>
        <p:nvSpPr>
          <p:cNvPr id="26" name="Text 22"/>
          <p:cNvSpPr/>
          <p:nvPr/>
        </p:nvSpPr>
        <p:spPr>
          <a:xfrm>
            <a:off x="838230" y="685800"/>
            <a:ext cx="633519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介质发放｜银行卡、存折、存单，清单领取后发放</a:t>
            </a:r>
            <a:endParaRPr lang="en-US" sz="1440" dirty="0"/>
          </a:p>
        </p:txBody>
      </p:sp>
      <p:sp>
        <p:nvSpPr>
          <p:cNvPr id="27" name="Shape 23"/>
          <p:cNvSpPr/>
          <p:nvPr/>
        </p:nvSpPr>
        <p:spPr>
          <a:xfrm>
            <a:off x="6408298" y="777240"/>
            <a:ext cx="6500012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8298" y="777240"/>
            <a:ext cx="6500012" cy="34779"/>
          </a:xfrm>
          <a:prstGeom prst="rect">
            <a:avLst/>
          </a:prstGeom>
          <a:solidFill>
            <a:srgbClr val="16150F">
              <a:alpha val="4500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rot="-120000">
            <a:off x="13045470" y="640080"/>
            <a:ext cx="746790" cy="29718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 rot="-120000">
            <a:off x="13141848" y="62709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介质发放</a:t>
            </a:r>
            <a:endParaRPr lang="en-US" sz="108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7389266"/>
            <a:ext cx="365760" cy="2612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310610" y="7439833"/>
            <a:ext cx="2982544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日 · 领取期限｜支持当日领取与非当日领取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 rot="-240000">
            <a:off x="12756337" y="7409383"/>
            <a:ext cx="1036290" cy="221010"/>
          </a:xfrm>
          <a:prstGeom prst="rect">
            <a:avLst/>
          </a:prstGeom>
          <a:solidFill>
            <a:srgbClr val="8DBE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 rot="-240000">
            <a:off x="12837079" y="7373539"/>
            <a:ext cx="1065085" cy="3201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spc="5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日 · 领取期限</a:t>
            </a:r>
            <a:endParaRPr lang="en-US" sz="9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1433894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70" y="1635541"/>
            <a:ext cx="3742731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凭证与介质管理</a:t>
            </a:r>
            <a:endParaRPr lang="en-US" sz="4320" dirty="0"/>
          </a:p>
        </p:txBody>
      </p:sp>
      <p:sp>
        <p:nvSpPr>
          <p:cNvPr id="8" name="Text 4"/>
          <p:cNvSpPr/>
          <p:nvPr/>
        </p:nvSpPr>
        <p:spPr>
          <a:xfrm>
            <a:off x="761970" y="5069799"/>
            <a:ext cx="425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介质发放、回单打印与自动归档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621408" y="5067330"/>
            <a:ext cx="249786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9E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介质业务开办起 5 日内领取</a:t>
            </a:r>
            <a:endParaRPr lang="en-US" sz="16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7913" y="4934551"/>
            <a:ext cx="2011863" cy="364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32"/>
              </a:lnSpc>
              <a:buNone/>
            </a:pPr>
            <a:r>
              <a:rPr lang="en-US" sz="33600" dirty="0">
                <a:solidFill>
                  <a:srgbClr val="B9E8C8">
                    <a:alpha val="12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”</a:t>
            </a:r>
            <a:endParaRPr lang="en-US" sz="33600" dirty="0"/>
          </a:p>
        </p:txBody>
      </p:sp>
      <p:sp>
        <p:nvSpPr>
          <p:cNvPr id="5" name="Shape 2"/>
          <p:cNvSpPr/>
          <p:nvPr/>
        </p:nvSpPr>
        <p:spPr>
          <a:xfrm>
            <a:off x="838230" y="2802179"/>
            <a:ext cx="41148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6330" y="2825039"/>
            <a:ext cx="84147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132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一条流程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838230" y="3272248"/>
            <a:ext cx="4981956" cy="742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630"/>
              </a:lnSpc>
              <a:buNone/>
            </a:pPr>
            <a:r>
              <a:rPr lang="en-US" sz="5520" b="1" spc="-69" kern="0" dirty="0">
                <a:solidFill>
                  <a:srgbClr val="FBFAF4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552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1" y="3668481"/>
            <a:ext cx="8457743" cy="20061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-60000">
            <a:off x="982706" y="3959235"/>
            <a:ext cx="8053578" cy="15286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80"/>
              </a:lnSpc>
              <a:buNone/>
            </a:pPr>
            <a:r>
              <a:rPr lang="en-US" sz="9000" b="1" spc="-112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 · 两个必核</a:t>
            </a:r>
            <a:endParaRPr lang="en-US" sz="9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8664854" y="4362968"/>
            <a:ext cx="533370" cy="3810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8230" y="655350"/>
            <a:ext cx="210083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60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1440" dirty="0"/>
          </a:p>
        </p:txBody>
      </p:sp>
      <p:sp>
        <p:nvSpPr>
          <p:cNvPr id="12" name="Shape 7"/>
          <p:cNvSpPr/>
          <p:nvPr/>
        </p:nvSpPr>
        <p:spPr>
          <a:xfrm>
            <a:off x="2560594" y="746790"/>
            <a:ext cx="10347716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560594" y="746790"/>
            <a:ext cx="10347716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rot="-120000">
            <a:off x="13045470" y="60963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 rot="-120000">
            <a:off x="13141848" y="59664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108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266" y="696316"/>
            <a:ext cx="2310597" cy="23105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 rot="-780000">
            <a:off x="12199102" y="864396"/>
            <a:ext cx="1635587" cy="188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94"/>
              </a:lnSpc>
              <a:buNone/>
            </a:pPr>
            <a:r>
              <a:rPr lang="en-US" sz="276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 · 两个必核｜人脸识别 + 联网核查</a:t>
            </a:r>
            <a:endParaRPr lang="en-US" sz="2760" dirty="0"/>
          </a:p>
        </p:txBody>
      </p:sp>
      <p:sp>
        <p:nvSpPr>
          <p:cNvPr id="18" name="Text 12"/>
          <p:cNvSpPr/>
          <p:nvPr/>
        </p:nvSpPr>
        <p:spPr>
          <a:xfrm rot="-780000">
            <a:off x="12633076" y="2641519"/>
            <a:ext cx="1272113" cy="48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spc="168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两个必核：人脸识别 + 联网核查</a:t>
            </a:r>
            <a:endParaRPr lang="en-US" sz="840" dirty="0"/>
          </a:p>
        </p:txBody>
      </p:sp>
      <p:sp>
        <p:nvSpPr>
          <p:cNvPr id="19" name="Shape 13"/>
          <p:cNvSpPr/>
          <p:nvPr/>
        </p:nvSpPr>
        <p:spPr>
          <a:xfrm>
            <a:off x="838230" y="7218365"/>
            <a:ext cx="12954030" cy="462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8230" y="7218365"/>
            <a:ext cx="12954030" cy="34779"/>
          </a:xfrm>
          <a:prstGeom prst="rect">
            <a:avLst/>
          </a:prstGeom>
          <a:solidFill>
            <a:srgbClr val="FBFAF4">
              <a:alpha val="28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30" y="7408926"/>
            <a:ext cx="381030" cy="2720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7464887"/>
            <a:ext cx="67242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10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70" y="662940"/>
            <a:ext cx="195681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288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761970" y="979175"/>
            <a:ext cx="2773650" cy="664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5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5280" dirty="0"/>
          </a:p>
        </p:txBody>
      </p:sp>
      <p:sp>
        <p:nvSpPr>
          <p:cNvPr id="6" name="Text 3"/>
          <p:cNvSpPr/>
          <p:nvPr/>
        </p:nvSpPr>
        <p:spPr>
          <a:xfrm>
            <a:off x="3672870" y="1217844"/>
            <a:ext cx="112773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一条流程</a:t>
            </a:r>
            <a:endParaRPr lang="en-US" sz="204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4937760" y="1147481"/>
            <a:ext cx="64008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60000">
            <a:off x="761970" y="2436876"/>
            <a:ext cx="316227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 rot="60000">
            <a:off x="978865" y="2495155"/>
            <a:ext cx="714451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F5A8B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720" dirty="0"/>
          </a:p>
        </p:txBody>
      </p:sp>
      <p:sp>
        <p:nvSpPr>
          <p:cNvPr id="10" name="Shape 6"/>
          <p:cNvSpPr/>
          <p:nvPr/>
        </p:nvSpPr>
        <p:spPr>
          <a:xfrm rot="60000">
            <a:off x="978957" y="3143067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 rot="60000">
            <a:off x="921624" y="5864894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一条流程</a:t>
            </a:r>
            <a:endParaRPr lang="en-US" sz="1980" dirty="0"/>
          </a:p>
        </p:txBody>
      </p:sp>
      <p:sp>
        <p:nvSpPr>
          <p:cNvPr id="12" name="Text 8"/>
          <p:cNvSpPr/>
          <p:nvPr/>
        </p:nvSpPr>
        <p:spPr>
          <a:xfrm rot="60000">
            <a:off x="916503" y="6289335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一条流程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 rot="60000">
            <a:off x="7391370" y="2436876"/>
            <a:ext cx="316227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 rot="60000">
            <a:off x="7608265" y="2495225"/>
            <a:ext cx="714451" cy="744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E83B2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720" dirty="0"/>
          </a:p>
        </p:txBody>
      </p:sp>
      <p:sp>
        <p:nvSpPr>
          <p:cNvPr id="15" name="Shape 11"/>
          <p:cNvSpPr/>
          <p:nvPr/>
        </p:nvSpPr>
        <p:spPr>
          <a:xfrm rot="60000">
            <a:off x="7608357" y="3143067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 rot="60000">
            <a:off x="7551024" y="5864894"/>
            <a:ext cx="1102675" cy="336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</a:t>
            </a:r>
            <a:endParaRPr lang="en-US" sz="1980" dirty="0"/>
          </a:p>
        </p:txBody>
      </p:sp>
      <p:sp>
        <p:nvSpPr>
          <p:cNvPr id="17" name="Text 13"/>
          <p:cNvSpPr/>
          <p:nvPr/>
        </p:nvSpPr>
        <p:spPr>
          <a:xfrm rot="60000">
            <a:off x="7545903" y="6289335"/>
            <a:ext cx="796242" cy="16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三个关键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 rot="-60000">
            <a:off x="10706070" y="2436876"/>
            <a:ext cx="3162270" cy="4244370"/>
          </a:xfrm>
          <a:prstGeom prst="rect">
            <a:avLst/>
          </a:prstGeom>
          <a:solidFill>
            <a:srgbClr val="FBFAF4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81937" dir="3267739">
              <a:srgbClr val="16150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 rot="-60000">
            <a:off x="10846430" y="2544797"/>
            <a:ext cx="714451" cy="747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720" dirty="0"/>
          </a:p>
        </p:txBody>
      </p:sp>
      <p:sp>
        <p:nvSpPr>
          <p:cNvPr id="20" name="Shape 16"/>
          <p:cNvSpPr/>
          <p:nvPr/>
        </p:nvSpPr>
        <p:spPr>
          <a:xfrm rot="-60000">
            <a:off x="10863621" y="3196194"/>
            <a:ext cx="350490" cy="53310"/>
          </a:xfrm>
          <a:prstGeom prst="rect">
            <a:avLst/>
          </a:prstGeom>
          <a:solidFill>
            <a:srgbClr val="161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 rot="-60000">
            <a:off x="10929549" y="5900953"/>
            <a:ext cx="1104047" cy="341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六项合规</a:t>
            </a:r>
            <a:endParaRPr lang="en-US" sz="1980" dirty="0"/>
          </a:p>
        </p:txBody>
      </p:sp>
      <p:sp>
        <p:nvSpPr>
          <p:cNvPr id="22" name="Text 18"/>
          <p:cNvSpPr/>
          <p:nvPr/>
        </p:nvSpPr>
        <p:spPr>
          <a:xfrm rot="-60000">
            <a:off x="10939973" y="6334597"/>
            <a:ext cx="796242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16150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六项合规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 rot="-60000">
            <a:off x="3981846" y="1986351"/>
            <a:ext cx="3352008" cy="5145237"/>
          </a:xfrm>
          <a:prstGeom prst="rect">
            <a:avLst/>
          </a:prstGeom>
          <a:solidFill>
            <a:srgbClr val="16150F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29554" dir="3238358">
              <a:srgbClr val="16150F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 rot="-60000">
            <a:off x="4118458" y="2104394"/>
            <a:ext cx="714451" cy="79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37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720" dirty="0"/>
          </a:p>
        </p:txBody>
      </p:sp>
      <p:sp>
        <p:nvSpPr>
          <p:cNvPr id="25" name="Shape 21"/>
          <p:cNvSpPr/>
          <p:nvPr/>
        </p:nvSpPr>
        <p:spPr>
          <a:xfrm rot="-60000">
            <a:off x="4148358" y="2796875"/>
            <a:ext cx="350490" cy="533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 rot="-60000">
            <a:off x="4229649" y="6303413"/>
            <a:ext cx="1165311" cy="362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18"/>
              </a:lnSpc>
              <a:buNone/>
            </a:pPr>
            <a:r>
              <a:rPr lang="en-US" sz="19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两个必核</a:t>
            </a:r>
            <a:endParaRPr lang="en-US" sz="1980" dirty="0"/>
          </a:p>
        </p:txBody>
      </p:sp>
      <p:sp>
        <p:nvSpPr>
          <p:cNvPr id="27" name="Text 23"/>
          <p:cNvSpPr/>
          <p:nvPr/>
        </p:nvSpPr>
        <p:spPr>
          <a:xfrm rot="-60000">
            <a:off x="4241444" y="6763817"/>
            <a:ext cx="796242" cy="182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56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两个必核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 rot="420000">
            <a:off x="5391942" y="1869948"/>
            <a:ext cx="1889790" cy="22101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 rot="420000">
            <a:off x="5420289" y="1750527"/>
            <a:ext cx="1923532" cy="4871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两个必核：人脸识别 + 联网核查</a:t>
            </a:r>
            <a:endParaRPr lang="en-US" sz="96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" y="7329373"/>
            <a:ext cx="365760" cy="2612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49710" y="7332071"/>
            <a:ext cx="5349240" cy="294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登录→证件→核实→协议→上传→确认→作业→归档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32767"/>
            <a:ext cx="81947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99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914400" y="2359380"/>
            <a:ext cx="9698035" cy="1040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2"/>
              </a:lnSpc>
              <a:buNone/>
            </a:pPr>
            <a:r>
              <a:rPr lang="en-US" sz="6960" b="1" spc="-10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登录→证件→核实→协议</a:t>
            </a:r>
            <a:endParaRPr lang="en-US" sz="6960" dirty="0"/>
          </a:p>
        </p:txBody>
      </p:sp>
      <p:sp>
        <p:nvSpPr>
          <p:cNvPr id="6" name="Text 3"/>
          <p:cNvSpPr/>
          <p:nvPr/>
        </p:nvSpPr>
        <p:spPr>
          <a:xfrm>
            <a:off x="914400" y="3419992"/>
            <a:ext cx="10571196" cy="1040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352"/>
              </a:lnSpc>
              <a:buNone/>
            </a:pPr>
            <a:r>
              <a:rPr lang="en-US" sz="6960" b="1" spc="-104" kern="0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→上传→确认→作业→归档</a:t>
            </a:r>
            <a:endParaRPr lang="en-US" sz="6960" dirty="0"/>
          </a:p>
        </p:txBody>
      </p:sp>
      <p:sp>
        <p:nvSpPr>
          <p:cNvPr id="7" name="Shape 4"/>
          <p:cNvSpPr/>
          <p:nvPr/>
        </p:nvSpPr>
        <p:spPr>
          <a:xfrm>
            <a:off x="914400" y="4838822"/>
            <a:ext cx="4135008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35410" y="4931816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52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4508449" y="5044562"/>
            <a:ext cx="32004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5410" y="5374203"/>
            <a:ext cx="21221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1135410" y="5791352"/>
            <a:ext cx="37719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一条流程：登录→证件→核实→协议→上传→确认→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1135410" y="6018489"/>
            <a:ext cx="89154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作业→归档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5247559" y="4838822"/>
            <a:ext cx="4135191" cy="1612544"/>
          </a:xfrm>
          <a:prstGeom prst="rect">
            <a:avLst/>
          </a:prstGeom>
          <a:solidFill>
            <a:srgbClr val="211F18"/>
          </a:solidFill>
          <a:ln w="28575">
            <a:solidFill>
              <a:srgbClr val="FBFAF4"/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68569" y="4931816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B9E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52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8841699" y="5044562"/>
            <a:ext cx="32004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569" y="5374203"/>
            <a:ext cx="21221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FBFA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 · 两个必核</a:t>
            </a:r>
            <a:endParaRPr lang="en-US" sz="2280" dirty="0"/>
          </a:p>
        </p:txBody>
      </p:sp>
      <p:sp>
        <p:nvSpPr>
          <p:cNvPr id="17" name="Text 12"/>
          <p:cNvSpPr/>
          <p:nvPr/>
        </p:nvSpPr>
        <p:spPr>
          <a:xfrm>
            <a:off x="5468569" y="5791352"/>
            <a:ext cx="23541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FBFAF4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两个必核：人脸识别 + 联网核查</a:t>
            </a:r>
            <a:endParaRPr lang="en-US" sz="1260" dirty="0"/>
          </a:p>
        </p:txBody>
      </p:sp>
      <p:sp>
        <p:nvSpPr>
          <p:cNvPr id="18" name="Shape 13"/>
          <p:cNvSpPr/>
          <p:nvPr/>
        </p:nvSpPr>
        <p:spPr>
          <a:xfrm>
            <a:off x="9580809" y="4838822"/>
            <a:ext cx="4135191" cy="1612544"/>
          </a:xfrm>
          <a:prstGeom prst="rect">
            <a:avLst/>
          </a:prstGeom>
          <a:solidFill>
            <a:srgbClr val="B9E8C8"/>
          </a:solidFill>
          <a:ln w="28575">
            <a:solidFill>
              <a:srgbClr val="16150F"/>
            </a:solidFill>
            <a:prstDash val="solid"/>
          </a:ln>
          <a:effectLst>
            <a:outerShdw sx="100000" sy="100000" kx="0" ky="0" algn="bl" rotWithShape="0" blurRad="76200" dist="142875" dir="3187806">
              <a:srgbClr val="16150F">
                <a:alpha val="2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801819" y="4931816"/>
            <a:ext cx="519379" cy="507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2520" dirty="0">
                <a:solidFill>
                  <a:srgbClr val="1615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52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480000">
            <a:off x="13174950" y="5044562"/>
            <a:ext cx="32004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01819" y="5374203"/>
            <a:ext cx="212217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项 · 三个关键</a:t>
            </a:r>
            <a:endParaRPr lang="en-US" sz="2280" dirty="0"/>
          </a:p>
        </p:txBody>
      </p:sp>
      <p:sp>
        <p:nvSpPr>
          <p:cNvPr id="22" name="Text 16"/>
          <p:cNvSpPr/>
          <p:nvPr/>
        </p:nvSpPr>
        <p:spPr>
          <a:xfrm>
            <a:off x="9801819" y="5791352"/>
            <a:ext cx="3415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1260" b="1" dirty="0">
                <a:solidFill>
                  <a:srgbClr val="16150F">
                    <a:alpha val="6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三个关键：协议完整、资料齐全、介质 5 日领取</a:t>
            </a:r>
            <a:endParaRPr lang="en-US" sz="1260" dirty="0"/>
          </a:p>
        </p:txBody>
      </p:sp>
      <p:sp>
        <p:nvSpPr>
          <p:cNvPr id="23" name="Shape 17"/>
          <p:cNvSpPr/>
          <p:nvPr/>
        </p:nvSpPr>
        <p:spPr>
          <a:xfrm rot="420000">
            <a:off x="12955219" y="4732111"/>
            <a:ext cx="830550" cy="19815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 rot="420000">
            <a:off x="13035229" y="4682368"/>
            <a:ext cx="798195" cy="3249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7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 · 两个必核</a:t>
            </a:r>
            <a:endParaRPr lang="en-US" sz="780" dirty="0"/>
          </a:p>
        </p:txBody>
      </p:sp>
      <p:sp>
        <p:nvSpPr>
          <p:cNvPr id="25" name="Text 19"/>
          <p:cNvSpPr/>
          <p:nvPr/>
        </p:nvSpPr>
        <p:spPr>
          <a:xfrm>
            <a:off x="914400" y="685800"/>
            <a:ext cx="202882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spc="324" kern="0" dirty="0">
                <a:solidFill>
                  <a:srgbClr val="FBFAF4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1440" dirty="0"/>
          </a:p>
        </p:txBody>
      </p:sp>
      <p:sp>
        <p:nvSpPr>
          <p:cNvPr id="26" name="Shape 20"/>
          <p:cNvSpPr/>
          <p:nvPr/>
        </p:nvSpPr>
        <p:spPr>
          <a:xfrm>
            <a:off x="2600188" y="777240"/>
            <a:ext cx="10231862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600188" y="777240"/>
            <a:ext cx="10231862" cy="34779"/>
          </a:xfrm>
          <a:prstGeom prst="rect">
            <a:avLst/>
          </a:prstGeom>
          <a:solidFill>
            <a:srgbClr val="FBFAF4">
              <a:alpha val="45000"/>
            </a:srgbClr>
          </a:solidFill>
          <a:ln w="12700">
            <a:solidFill>
              <a:srgbClr val="FBFAF4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 rot="-120000">
            <a:off x="12969210" y="640080"/>
            <a:ext cx="746790" cy="29718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 rot="-120000">
            <a:off x="13065679" y="627096"/>
            <a:ext cx="645292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一条流程</a:t>
            </a:r>
            <a:endParaRPr lang="en-US" sz="108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424105"/>
            <a:ext cx="381030" cy="2720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02050" y="7480066"/>
            <a:ext cx="67242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spc="54" kern="0" dirty="0">
                <a:solidFill>
                  <a:srgbClr val="FBFAF4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B9E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1270" y="259050"/>
            <a:ext cx="533370" cy="3810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85096"/>
            <a:ext cx="701070" cy="500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70" y="761970"/>
            <a:ext cx="844963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225" kern="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3436386" y="761970"/>
            <a:ext cx="43204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368"/>
              </a:lnSpc>
              <a:buNone/>
            </a:pPr>
            <a:r>
              <a:rPr lang="en-US" sz="1140" b="1" spc="200" kern="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1140" dirty="0"/>
          </a:p>
        </p:txBody>
      </p:sp>
      <p:sp>
        <p:nvSpPr>
          <p:cNvPr id="8" name="Text 4"/>
          <p:cNvSpPr/>
          <p:nvPr/>
        </p:nvSpPr>
        <p:spPr>
          <a:xfrm>
            <a:off x="761970" y="1635541"/>
            <a:ext cx="2154326" cy="72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培训小结</a:t>
            </a:r>
            <a:endParaRPr lang="en-US" sz="4320" dirty="0"/>
          </a:p>
        </p:txBody>
      </p:sp>
      <p:sp>
        <p:nvSpPr>
          <p:cNvPr id="9" name="Text 5"/>
          <p:cNvSpPr/>
          <p:nvPr/>
        </p:nvSpPr>
        <p:spPr>
          <a:xfrm>
            <a:off x="761970" y="3347618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关键要点回顾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61970" y="5928330"/>
            <a:ext cx="188823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F5A8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合规第一，流程熟练</a:t>
            </a:r>
            <a:endParaRPr lang="en-US" sz="1620" dirty="0"/>
          </a:p>
        </p:txBody>
      </p:sp>
      <p:sp>
        <p:nvSpPr>
          <p:cNvPr id="11" name="Shape 7"/>
          <p:cNvSpPr/>
          <p:nvPr/>
        </p:nvSpPr>
        <p:spPr>
          <a:xfrm>
            <a:off x="6299119" y="3345150"/>
            <a:ext cx="7569312" cy="4122390"/>
          </a:xfrm>
          <a:prstGeom prst="rect">
            <a:avLst/>
          </a:prstGeom>
          <a:solidFill>
            <a:srgbClr val="FBFAF4"/>
          </a:solidFill>
          <a:ln w="12700">
            <a:solidFill>
              <a:srgbClr val="16150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95250" dir="3187806">
              <a:srgbClr val="16150F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3833651" y="3345150"/>
            <a:ext cx="34779" cy="4122390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99119" y="3360420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14" name="Text 10"/>
          <p:cNvSpPr/>
          <p:nvPr/>
        </p:nvSpPr>
        <p:spPr>
          <a:xfrm>
            <a:off x="6725869" y="3352830"/>
            <a:ext cx="143370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步 · 一条流程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25869" y="3629071"/>
            <a:ext cx="359661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登录→证件→核实→协议→上传→确认→作业→归档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9119" y="3930731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99119" y="3930731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9119" y="406030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19" name="Text 15"/>
          <p:cNvSpPr/>
          <p:nvPr/>
        </p:nvSpPr>
        <p:spPr>
          <a:xfrm>
            <a:off x="6725869" y="4052621"/>
            <a:ext cx="143370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 · 两个必核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725869" y="4328861"/>
            <a:ext cx="148434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 + 联网核查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99119" y="4630613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99119" y="4630613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99119" y="4760092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4" name="Text 20"/>
          <p:cNvSpPr/>
          <p:nvPr/>
        </p:nvSpPr>
        <p:spPr>
          <a:xfrm>
            <a:off x="6725869" y="4752503"/>
            <a:ext cx="143370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项 · 三个关键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25869" y="5028743"/>
            <a:ext cx="2546970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协议完整、资料齐全、介质 5 日领取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99119" y="5330403"/>
            <a:ext cx="7333031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99119" y="5330403"/>
            <a:ext cx="7333031" cy="11593"/>
          </a:xfrm>
          <a:prstGeom prst="rect">
            <a:avLst/>
          </a:prstGeom>
          <a:solidFill>
            <a:srgbClr val="16150F"/>
          </a:solidFill>
          <a:ln w="12700">
            <a:solidFill>
              <a:srgbClr val="16150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99119" y="5459974"/>
            <a:ext cx="18097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020" dirty="0"/>
          </a:p>
        </p:txBody>
      </p:sp>
      <p:sp>
        <p:nvSpPr>
          <p:cNvPr id="29" name="Text 25"/>
          <p:cNvSpPr/>
          <p:nvPr/>
        </p:nvSpPr>
        <p:spPr>
          <a:xfrm>
            <a:off x="6725869" y="5452384"/>
            <a:ext cx="143370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61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 · 六项合规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6725869" y="5728533"/>
            <a:ext cx="4456146" cy="20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6150F">
                    <a:alpha val="6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实名核验、数量上限、只收不付、固定介质、假币收缴、联社审批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2026-08-08T15:15:31Z</dcterms:created>
  <dcterms:modified xsi:type="dcterms:W3CDTF">2026-08-08T15:15:31Z</dcterms:modified>
</cp:coreProperties>
</file>