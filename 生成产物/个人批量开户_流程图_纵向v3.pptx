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hd"/>
          <p:cNvSpPr/>
          <p:nvPr/>
        </p:nvSpPr>
        <p:spPr>
          <a:xfrm>
            <a:off x="0" y="0"/>
            <a:ext cx="12192000" cy="850000"/>
          </a:xfrm>
          <a:prstGeom prst="roundRect">
            <a:avLst>
              <a:gd name="adj" fval="8000"/>
            </a:avLst>
          </a:prstGeom>
          <a:solidFill>
            <a:srgbClr val="1F3864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2600" b="1" dirty="0">
                <a:solidFill>
                  <a:srgbClr val="FFFFFF"/>
                </a:solidFill>
              </a:rPr>
              <a:t>个人批量开户业务办理流程（纵向）</a:t>
            </a:r>
          </a:p>
        </p:txBody>
      </p:sp>
      <p:sp>
        <p:nvSpPr>
          <p:cNvPr id="2" name="m0"/>
          <p:cNvSpPr/>
          <p:nvPr/>
        </p:nvSpPr>
        <p:spPr>
          <a:xfrm>
            <a:off x="900000" y="1000000"/>
            <a:ext cx="2600000" cy="216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登录系统进入场景</a:t>
            </a:r>
          </a:p>
        </p:txBody>
      </p:sp>
      <p:sp>
        <p:nvSpPr>
          <p:cNvPr id="3" name="m1"/>
          <p:cNvSpPr/>
          <p:nvPr/>
        </p:nvSpPr>
        <p:spPr>
          <a:xfrm>
            <a:off x="900000" y="1275000"/>
            <a:ext cx="2600000" cy="216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选择证件类型</a:t>
            </a:r>
          </a:p>
        </p:txBody>
      </p:sp>
      <p:sp>
        <p:nvSpPr>
          <p:cNvPr id="4" name="m2"/>
          <p:cNvSpPr/>
          <p:nvPr/>
        </p:nvSpPr>
        <p:spPr>
          <a:xfrm>
            <a:off x="900000" y="1550000"/>
            <a:ext cx="2600000" cy="216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证件读取核验</a:t>
            </a:r>
          </a:p>
        </p:txBody>
      </p:sp>
      <p:sp>
        <p:nvSpPr>
          <p:cNvPr id="5" name="m3"/>
          <p:cNvSpPr/>
          <p:nvPr/>
        </p:nvSpPr>
        <p:spPr>
          <a:xfrm>
            <a:off x="900000" y="1825000"/>
            <a:ext cx="2600000" cy="216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人脸识别核验</a:t>
            </a:r>
          </a:p>
        </p:txBody>
      </p:sp>
      <p:sp>
        <p:nvSpPr>
          <p:cNvPr id="6" name="m4"/>
          <p:cNvSpPr/>
          <p:nvPr/>
        </p:nvSpPr>
        <p:spPr>
          <a:xfrm>
            <a:off x="900000" y="2100000"/>
            <a:ext cx="2600000" cy="21600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客户信息是否齐全</a:t>
            </a:r>
          </a:p>
        </p:txBody>
      </p:sp>
      <p:sp>
        <p:nvSpPr>
          <p:cNvPr id="7" name="b4"/>
          <p:cNvSpPr/>
          <p:nvPr/>
        </p:nvSpPr>
        <p:spPr>
          <a:xfrm>
            <a:off x="3800000" y="2100000"/>
            <a:ext cx="2700000" cy="216000"/>
          </a:xfrm>
          <a:prstGeom prst="roundRect">
            <a:avLst>
              <a:gd name="adj" fval="8000"/>
            </a:avLst>
          </a:prstGeom>
          <a:solidFill>
            <a:srgbClr val="FCE4EC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900" b="1" dirty="0">
                <a:solidFill>
                  <a:srgbClr val="C00000"/>
                </a:solidFill>
              </a:rPr>
              <a:t>跳转客户信息维护</a:t>
            </a:r>
          </a:p>
        </p:txBody>
      </p:sp>
      <p:sp>
        <p:nvSpPr>
          <p:cNvPr id="8" name="m5"/>
          <p:cNvSpPr/>
          <p:nvPr/>
        </p:nvSpPr>
        <p:spPr>
          <a:xfrm>
            <a:off x="900000" y="2375000"/>
            <a:ext cx="2600000" cy="216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企业身份核实</a:t>
            </a:r>
          </a:p>
        </p:txBody>
      </p:sp>
      <p:sp>
        <p:nvSpPr>
          <p:cNvPr id="9" name="m6"/>
          <p:cNvSpPr/>
          <p:nvPr/>
        </p:nvSpPr>
        <p:spPr>
          <a:xfrm>
            <a:off x="900000" y="2650000"/>
            <a:ext cx="2600000" cy="216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核查结果确认</a:t>
            </a:r>
          </a:p>
        </p:txBody>
      </p:sp>
      <p:sp>
        <p:nvSpPr>
          <p:cNvPr id="10" name="m7"/>
          <p:cNvSpPr/>
          <p:nvPr/>
        </p:nvSpPr>
        <p:spPr>
          <a:xfrm>
            <a:off x="900000" y="2925000"/>
            <a:ext cx="2600000" cy="216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委托协议查询</a:t>
            </a:r>
          </a:p>
        </p:txBody>
      </p:sp>
      <p:sp>
        <p:nvSpPr>
          <p:cNvPr id="11" name="m8"/>
          <p:cNvSpPr/>
          <p:nvPr/>
        </p:nvSpPr>
        <p:spPr>
          <a:xfrm>
            <a:off x="900000" y="3200000"/>
            <a:ext cx="2600000" cy="21600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委托协议是否存在</a:t>
            </a:r>
          </a:p>
        </p:txBody>
      </p:sp>
      <p:sp>
        <p:nvSpPr>
          <p:cNvPr id="12" name="b8"/>
          <p:cNvSpPr/>
          <p:nvPr/>
        </p:nvSpPr>
        <p:spPr>
          <a:xfrm>
            <a:off x="3800000" y="3200000"/>
            <a:ext cx="2700000" cy="216000"/>
          </a:xfrm>
          <a:prstGeom prst="roundRect">
            <a:avLst>
              <a:gd name="adj" fval="8000"/>
            </a:avLst>
          </a:prstGeom>
          <a:solidFill>
            <a:srgbClr val="E2EFDA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900" b="1" dirty="0">
                <a:solidFill>
                  <a:srgbClr val="375623"/>
                </a:solidFill>
              </a:rPr>
              <a:t>协议编辑/新增</a:t>
            </a:r>
          </a:p>
        </p:txBody>
      </p:sp>
      <p:sp>
        <p:nvSpPr>
          <p:cNvPr id="13" name="m9"/>
          <p:cNvSpPr/>
          <p:nvPr/>
        </p:nvSpPr>
        <p:spPr>
          <a:xfrm>
            <a:off x="900000" y="3475000"/>
            <a:ext cx="2600000" cy="216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批量数据文件导入</a:t>
            </a:r>
          </a:p>
        </p:txBody>
      </p:sp>
      <p:sp>
        <p:nvSpPr>
          <p:cNvPr id="14" name="m10"/>
          <p:cNvSpPr/>
          <p:nvPr/>
        </p:nvSpPr>
        <p:spPr>
          <a:xfrm>
            <a:off x="900000" y="3750000"/>
            <a:ext cx="2600000" cy="216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文件检查确认</a:t>
            </a:r>
          </a:p>
        </p:txBody>
      </p:sp>
      <p:sp>
        <p:nvSpPr>
          <p:cNvPr id="15" name="m11"/>
          <p:cNvSpPr/>
          <p:nvPr/>
        </p:nvSpPr>
        <p:spPr>
          <a:xfrm>
            <a:off x="900000" y="4025000"/>
            <a:ext cx="2600000" cy="21600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是否财政补贴资金</a:t>
            </a:r>
          </a:p>
        </p:txBody>
      </p:sp>
      <p:sp>
        <p:nvSpPr>
          <p:cNvPr id="16" name="b11"/>
          <p:cNvSpPr/>
          <p:nvPr/>
        </p:nvSpPr>
        <p:spPr>
          <a:xfrm>
            <a:off x="3800000" y="4025000"/>
            <a:ext cx="2700000" cy="216000"/>
          </a:xfrm>
          <a:prstGeom prst="roundRect">
            <a:avLst>
              <a:gd name="adj" fval="8000"/>
            </a:avLst>
          </a:prstGeom>
          <a:solidFill>
            <a:srgbClr val="FCE4EC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900" b="1" dirty="0">
                <a:solidFill>
                  <a:srgbClr val="C00000"/>
                </a:solidFill>
              </a:rPr>
              <a:t>影像资料上传</a:t>
            </a:r>
          </a:p>
        </p:txBody>
      </p:sp>
      <p:sp>
        <p:nvSpPr>
          <p:cNvPr id="17" name="m12"/>
          <p:cNvSpPr/>
          <p:nvPr/>
        </p:nvSpPr>
        <p:spPr>
          <a:xfrm>
            <a:off x="900000" y="4300000"/>
            <a:ext cx="2600000" cy="216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交易确认提交</a:t>
            </a:r>
          </a:p>
        </p:txBody>
      </p:sp>
      <p:sp>
        <p:nvSpPr>
          <p:cNvPr id="18" name="m13"/>
          <p:cNvSpPr/>
          <p:nvPr/>
        </p:nvSpPr>
        <p:spPr>
          <a:xfrm>
            <a:off x="900000" y="4575000"/>
            <a:ext cx="2600000" cy="216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柜外清签名确认</a:t>
            </a:r>
          </a:p>
        </p:txBody>
      </p:sp>
      <p:sp>
        <p:nvSpPr>
          <p:cNvPr id="19" name="m14"/>
          <p:cNvSpPr/>
          <p:nvPr/>
        </p:nvSpPr>
        <p:spPr>
          <a:xfrm>
            <a:off x="900000" y="4850000"/>
            <a:ext cx="2600000" cy="216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提交集中作业</a:t>
            </a:r>
          </a:p>
        </p:txBody>
      </p:sp>
      <p:sp>
        <p:nvSpPr>
          <p:cNvPr id="20" name="m15"/>
          <p:cNvSpPr/>
          <p:nvPr/>
        </p:nvSpPr>
        <p:spPr>
          <a:xfrm>
            <a:off x="900000" y="5125000"/>
            <a:ext cx="2600000" cy="216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业务受理成功</a:t>
            </a:r>
          </a:p>
        </p:txBody>
      </p:sp>
      <p:sp>
        <p:nvSpPr>
          <p:cNvPr id="21" name="m16"/>
          <p:cNvSpPr/>
          <p:nvPr/>
        </p:nvSpPr>
        <p:spPr>
          <a:xfrm>
            <a:off x="900000" y="5400000"/>
            <a:ext cx="2600000" cy="216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服务评价</a:t>
            </a:r>
          </a:p>
        </p:txBody>
      </p:sp>
      <p:sp>
        <p:nvSpPr>
          <p:cNvPr id="22" name="m17"/>
          <p:cNvSpPr/>
          <p:nvPr/>
        </p:nvSpPr>
        <p:spPr>
          <a:xfrm>
            <a:off x="900000" y="5675000"/>
            <a:ext cx="2600000" cy="216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凭证及回单打印</a:t>
            </a:r>
          </a:p>
        </p:txBody>
      </p:sp>
      <p:sp>
        <p:nvSpPr>
          <p:cNvPr id="23" name="m18"/>
          <p:cNvSpPr/>
          <p:nvPr/>
        </p:nvSpPr>
        <p:spPr>
          <a:xfrm>
            <a:off x="900000" y="5950000"/>
            <a:ext cx="2600000" cy="216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介质发放</a:t>
            </a:r>
          </a:p>
        </p:txBody>
      </p:sp>
      <p:sp>
        <p:nvSpPr>
          <p:cNvPr id="24" name="vl24"/>
          <p:cNvSpPr/>
          <p:nvPr/>
        </p:nvSpPr>
        <p:spPr>
          <a:xfrm>
            <a:off x="2195500" y="121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ah25"/>
          <p:cNvSpPr/>
          <p:nvPr/>
        </p:nvSpPr>
        <p:spPr>
          <a:xfrm rot="0">
            <a:off x="2181000" y="123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vl25"/>
          <p:cNvSpPr/>
          <p:nvPr/>
        </p:nvSpPr>
        <p:spPr>
          <a:xfrm>
            <a:off x="2195500" y="1491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ah26"/>
          <p:cNvSpPr/>
          <p:nvPr/>
        </p:nvSpPr>
        <p:spPr>
          <a:xfrm rot="0">
            <a:off x="2181000" y="151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vl26"/>
          <p:cNvSpPr/>
          <p:nvPr/>
        </p:nvSpPr>
        <p:spPr>
          <a:xfrm>
            <a:off x="2195500" y="176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ah27"/>
          <p:cNvSpPr/>
          <p:nvPr/>
        </p:nvSpPr>
        <p:spPr>
          <a:xfrm rot="0">
            <a:off x="2181000" y="178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vl27"/>
          <p:cNvSpPr/>
          <p:nvPr/>
        </p:nvSpPr>
        <p:spPr>
          <a:xfrm>
            <a:off x="2195500" y="2041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ah28"/>
          <p:cNvSpPr/>
          <p:nvPr/>
        </p:nvSpPr>
        <p:spPr>
          <a:xfrm rot="0">
            <a:off x="2181000" y="206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hl28"/>
          <p:cNvSpPr/>
          <p:nvPr/>
        </p:nvSpPr>
        <p:spPr>
          <a:xfrm>
            <a:off x="3500000" y="2203500"/>
            <a:ext cx="300000" cy="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ah29"/>
          <p:cNvSpPr/>
          <p:nvPr/>
        </p:nvSpPr>
        <p:spPr>
          <a:xfrm rot="0">
            <a:off x="3762000" y="2189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lb29"/>
          <p:cNvSpPr/>
          <p:nvPr/>
        </p:nvSpPr>
        <p:spPr>
          <a:xfrm>
            <a:off x="3610000" y="2128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C00000"/>
                </a:solidFill>
              </a:rPr>
              <a:t>否</a:t>
            </a:r>
          </a:p>
        </p:txBody>
      </p:sp>
      <p:sp>
        <p:nvSpPr>
          <p:cNvPr id="30" name="vl30"/>
          <p:cNvSpPr/>
          <p:nvPr/>
        </p:nvSpPr>
        <p:spPr>
          <a:xfrm>
            <a:off x="2195500" y="231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ah31"/>
          <p:cNvSpPr/>
          <p:nvPr/>
        </p:nvSpPr>
        <p:spPr>
          <a:xfrm rot="0">
            <a:off x="2181000" y="233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vl31"/>
          <p:cNvSpPr/>
          <p:nvPr/>
        </p:nvSpPr>
        <p:spPr>
          <a:xfrm>
            <a:off x="2195500" y="2591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ah32"/>
          <p:cNvSpPr/>
          <p:nvPr/>
        </p:nvSpPr>
        <p:spPr>
          <a:xfrm rot="0">
            <a:off x="2181000" y="261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vl32"/>
          <p:cNvSpPr/>
          <p:nvPr/>
        </p:nvSpPr>
        <p:spPr>
          <a:xfrm>
            <a:off x="2195500" y="286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ah33"/>
          <p:cNvSpPr/>
          <p:nvPr/>
        </p:nvSpPr>
        <p:spPr>
          <a:xfrm rot="0">
            <a:off x="2181000" y="288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vl33"/>
          <p:cNvSpPr/>
          <p:nvPr/>
        </p:nvSpPr>
        <p:spPr>
          <a:xfrm>
            <a:off x="2195500" y="3141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ah34"/>
          <p:cNvSpPr/>
          <p:nvPr/>
        </p:nvSpPr>
        <p:spPr>
          <a:xfrm rot="0">
            <a:off x="2181000" y="316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hl34"/>
          <p:cNvSpPr/>
          <p:nvPr/>
        </p:nvSpPr>
        <p:spPr>
          <a:xfrm>
            <a:off x="3500000" y="3303500"/>
            <a:ext cx="300000" cy="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ah35"/>
          <p:cNvSpPr/>
          <p:nvPr/>
        </p:nvSpPr>
        <p:spPr>
          <a:xfrm rot="0">
            <a:off x="3762000" y="3289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lb35"/>
          <p:cNvSpPr/>
          <p:nvPr/>
        </p:nvSpPr>
        <p:spPr>
          <a:xfrm>
            <a:off x="3610000" y="3228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375623"/>
                </a:solidFill>
              </a:rPr>
              <a:t>是/否</a:t>
            </a:r>
          </a:p>
        </p:txBody>
      </p:sp>
      <p:sp>
        <p:nvSpPr>
          <p:cNvPr id="36" name="vl36"/>
          <p:cNvSpPr/>
          <p:nvPr/>
        </p:nvSpPr>
        <p:spPr>
          <a:xfrm>
            <a:off x="2195500" y="341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ah37"/>
          <p:cNvSpPr/>
          <p:nvPr/>
        </p:nvSpPr>
        <p:spPr>
          <a:xfrm rot="0">
            <a:off x="2181000" y="343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vl37"/>
          <p:cNvSpPr/>
          <p:nvPr/>
        </p:nvSpPr>
        <p:spPr>
          <a:xfrm>
            <a:off x="2195500" y="3691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ah38"/>
          <p:cNvSpPr/>
          <p:nvPr/>
        </p:nvSpPr>
        <p:spPr>
          <a:xfrm rot="0">
            <a:off x="2181000" y="371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vl38"/>
          <p:cNvSpPr/>
          <p:nvPr/>
        </p:nvSpPr>
        <p:spPr>
          <a:xfrm>
            <a:off x="2195500" y="396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ah39"/>
          <p:cNvSpPr/>
          <p:nvPr/>
        </p:nvSpPr>
        <p:spPr>
          <a:xfrm rot="0">
            <a:off x="2181000" y="398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hl39"/>
          <p:cNvSpPr/>
          <p:nvPr/>
        </p:nvSpPr>
        <p:spPr>
          <a:xfrm>
            <a:off x="3500000" y="4128500"/>
            <a:ext cx="300000" cy="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ah40"/>
          <p:cNvSpPr/>
          <p:nvPr/>
        </p:nvSpPr>
        <p:spPr>
          <a:xfrm rot="0">
            <a:off x="3762000" y="4114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lb40"/>
          <p:cNvSpPr/>
          <p:nvPr/>
        </p:nvSpPr>
        <p:spPr>
          <a:xfrm>
            <a:off x="3610000" y="4053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C00000"/>
                </a:solidFill>
              </a:rPr>
              <a:t>否</a:t>
            </a:r>
          </a:p>
        </p:txBody>
      </p:sp>
      <p:sp>
        <p:nvSpPr>
          <p:cNvPr id="41" name="vl41"/>
          <p:cNvSpPr/>
          <p:nvPr/>
        </p:nvSpPr>
        <p:spPr>
          <a:xfrm>
            <a:off x="2195500" y="4241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ah42"/>
          <p:cNvSpPr/>
          <p:nvPr/>
        </p:nvSpPr>
        <p:spPr>
          <a:xfrm rot="0">
            <a:off x="2181000" y="426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vl42"/>
          <p:cNvSpPr/>
          <p:nvPr/>
        </p:nvSpPr>
        <p:spPr>
          <a:xfrm>
            <a:off x="2195500" y="451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ah43"/>
          <p:cNvSpPr/>
          <p:nvPr/>
        </p:nvSpPr>
        <p:spPr>
          <a:xfrm rot="0">
            <a:off x="2181000" y="453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vl43"/>
          <p:cNvSpPr/>
          <p:nvPr/>
        </p:nvSpPr>
        <p:spPr>
          <a:xfrm>
            <a:off x="2195500" y="4791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ah44"/>
          <p:cNvSpPr/>
          <p:nvPr/>
        </p:nvSpPr>
        <p:spPr>
          <a:xfrm rot="0">
            <a:off x="2181000" y="481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vl44"/>
          <p:cNvSpPr/>
          <p:nvPr/>
        </p:nvSpPr>
        <p:spPr>
          <a:xfrm>
            <a:off x="2195500" y="506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ah45"/>
          <p:cNvSpPr/>
          <p:nvPr/>
        </p:nvSpPr>
        <p:spPr>
          <a:xfrm rot="0">
            <a:off x="2181000" y="508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vl45"/>
          <p:cNvSpPr/>
          <p:nvPr/>
        </p:nvSpPr>
        <p:spPr>
          <a:xfrm>
            <a:off x="2195500" y="5341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ah46"/>
          <p:cNvSpPr/>
          <p:nvPr/>
        </p:nvSpPr>
        <p:spPr>
          <a:xfrm rot="0">
            <a:off x="2181000" y="536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vl46"/>
          <p:cNvSpPr/>
          <p:nvPr/>
        </p:nvSpPr>
        <p:spPr>
          <a:xfrm>
            <a:off x="2195500" y="5616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ah47"/>
          <p:cNvSpPr/>
          <p:nvPr/>
        </p:nvSpPr>
        <p:spPr>
          <a:xfrm rot="0">
            <a:off x="2181000" y="563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vl47"/>
          <p:cNvSpPr/>
          <p:nvPr/>
        </p:nvSpPr>
        <p:spPr>
          <a:xfrm>
            <a:off x="2195500" y="5891000"/>
            <a:ext cx="9000" cy="5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ah48"/>
          <p:cNvSpPr/>
          <p:nvPr/>
        </p:nvSpPr>
        <p:spPr>
          <a:xfrm rot="0">
            <a:off x="2181000" y="591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lark-training-ppt-generator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流程图</dc:title>
  <dc:creator>lark-training-ppt-generator</dc:creator>
</cp:coreProperties>
</file>