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280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风格变体 A — Ocean Gradient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42062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蓝青系 · 清晰专业  |  三栏布局（上说明 + 中字段卡 + 下注意事项）  |  注意事项：底部通栏橙色高亮  |  样例：步骤3：选择开户介质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13232"/>
            <a:ext cx="8229600" cy="1371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41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813816"/>
            <a:ext cx="7845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步骤3：选择开户介质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225296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25296"/>
            <a:ext cx="54864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1252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" y="1417320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客户经过开户协议阅读和确认后，在介质选择界面根据客户意愿选择需要开通的介质类型，再由客户勾选需要开的业务种类。柜面渠道支持全部 6 种介质：银行卡、存折、存单、大额存单、一本通、电子账户。每种介质完成后均进入步骤4（密码设置）。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883664"/>
            <a:ext cx="267004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883664"/>
            <a:ext cx="2670048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193852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银行卡开户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2130552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卡种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（卡片信息自动读取）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36976" y="1883664"/>
            <a:ext cx="267004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6976" y="1883664"/>
            <a:ext cx="2670048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193852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存折开户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130552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业务种类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通兑标志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支取方式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转存方式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利率类型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16752" y="1883664"/>
            <a:ext cx="267004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1883664"/>
            <a:ext cx="2670048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089904" y="193852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存单开户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9904" y="2130552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业务种类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通兑标志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支取方式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转存方式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利率类型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2679192"/>
            <a:ext cx="267004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79192"/>
            <a:ext cx="2670048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2734056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大额存单开户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" y="2926080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科目来源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存单形式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36976" y="2679192"/>
            <a:ext cx="267004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6976" y="2679192"/>
            <a:ext cx="2670048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3310128" y="2734056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一本通开户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0128" y="2926080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通兑标志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支取方式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16752" y="2679192"/>
            <a:ext cx="267004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16752" y="2679192"/>
            <a:ext cx="2670048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6089904" y="2734056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电子账户开户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9904" y="2926080"/>
            <a:ext cx="2523744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卡种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产品代码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E86A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474720"/>
            <a:ext cx="8229600" cy="45720"/>
          </a:xfrm>
          <a:prstGeom prst="rect">
            <a:avLst/>
          </a:prstGeom>
          <a:solidFill>
            <a:srgbClr val="E86A33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" y="3547872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注意事项（底部通栏 · 橙色高亮）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" y="3749040"/>
            <a:ext cx="79735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 若客户开立储蓄账户且介质为存单，则客户必须进行资金存入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 存折和存单开户必须录入现金"冠字号码"，遗漏将影响合规检查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 大额存单的"科目来源"选择不同，后续操作路径不同（现金直接输入 vs 转账需介质识别）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4462272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489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易错点提示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0" y="4489704"/>
            <a:ext cx="67482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储蓄账户+存单组合容易遗漏资金存入步骤，导致开户失败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存折/存单开户遗漏冠字号码录入将影响合规检查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8874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风格样例预览 · 制度手册转宣讲 PPT 工作流（Step 2.5.3）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280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风格变体 B — Charcoal Minimal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42062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深灰系 · 沉稳留白  |  双栏布局（左文右图）  |  注意事项：右侧固定侧栏  |  样例：步骤3：选择开户介质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13232"/>
            <a:ext cx="82296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310896" cy="31089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41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813816"/>
            <a:ext cx="7845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步骤3：选择开户介质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225296"/>
            <a:ext cx="47548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261872"/>
            <a:ext cx="4498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" y="1463040"/>
            <a:ext cx="4498848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客户经过开户协议阅读和确认后，在介质选择界面根据客户意愿选择需要开通的介质类型，再由客户勾选需要开的业务种类。柜面渠道支持全部 6 种介质：银行卡、存折、存单、大额存单、一本通、电子账户。每种介质完成后均进入步骤4（密码设置）。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57984"/>
            <a:ext cx="47548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203704"/>
            <a:ext cx="4498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关键字段（6 种介质）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" y="2432304"/>
            <a:ext cx="4498848" cy="1956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银行卡开户：卡种 / （卡片信息自动读取）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存折开户：业务种类 / 通兑标志 / 支取方式 / 开户金额 / 凭证号码 / 转存方式 / 利率类型 / 期限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存单开户：业务种类 / 通兑标志 / 支取方式 / 开户金额 / 凭证号码 / 转存方式 / 利率类型 / 期限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大额存单开户：科目来源 / 存单形式 / 开户金额 / 凭证号码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一本通开户：通兑标志 / 支取方式 / 凭证号码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电子账户开户：卡种 / 产品代码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0680" y="1225296"/>
            <a:ext cx="3246120" cy="137160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0680" y="1225296"/>
            <a:ext cx="3246120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9" name="Text 17"/>
          <p:cNvSpPr/>
          <p:nvPr/>
        </p:nvSpPr>
        <p:spPr>
          <a:xfrm>
            <a:off x="5550408" y="1225296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介质选择界面（示意图）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50408" y="1554480"/>
            <a:ext cx="1476756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6984" y="1554480"/>
            <a:ext cx="140360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银行卡开户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100316" y="1554480"/>
            <a:ext cx="1476756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6892" y="1554480"/>
            <a:ext cx="140360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存折开户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550408" y="1993392"/>
            <a:ext cx="1476756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1993392"/>
            <a:ext cx="140360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存单开户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100316" y="1993392"/>
            <a:ext cx="1476756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6892" y="1993392"/>
            <a:ext cx="140360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大额存单开户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550408" y="2432304"/>
            <a:ext cx="1476756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2432304"/>
            <a:ext cx="140360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一本通开户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100316" y="2432304"/>
            <a:ext cx="1476756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6892" y="2432304"/>
            <a:ext cx="140360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电子账户开户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440680" y="2706624"/>
            <a:ext cx="54864" cy="1773936"/>
          </a:xfrm>
          <a:prstGeom prst="rect">
            <a:avLst/>
          </a:prstGeom>
          <a:solidFill>
            <a:srgbClr val="0A8EA9"/>
          </a:solidFill>
          <a:ln/>
        </p:spPr>
      </p:sp>
      <p:sp>
        <p:nvSpPr>
          <p:cNvPr id="33" name="Shape 31"/>
          <p:cNvSpPr/>
          <p:nvPr/>
        </p:nvSpPr>
        <p:spPr>
          <a:xfrm>
            <a:off x="5495544" y="2706624"/>
            <a:ext cx="3191256" cy="1773936"/>
          </a:xfrm>
          <a:prstGeom prst="roundRect">
            <a:avLst>
              <a:gd name="adj" fmla="val 2062"/>
            </a:avLst>
          </a:prstGeom>
          <a:solidFill>
            <a:srgbClr val="EAF6F9"/>
          </a:solidFill>
          <a:ln w="12700">
            <a:solidFill>
              <a:srgbClr val="0A8E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5272" y="276148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E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注意事项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05272" y="2980944"/>
            <a:ext cx="2971800" cy="1444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 若客户开立储蓄账户且介质为存单，则客户必须进行资金存入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 存折和存单开户必须录入现金"冠字号码"，遗漏将影响合规检查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 大额存单的"科目来源"选择不同，后续操作路径不同（现金直接输入 vs 转账需介质识别）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BF1F1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5994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易错点提示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0" y="4599432"/>
            <a:ext cx="6748272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储蓄账户+存单组合容易遗漏资金存入步骤，导致开户失败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存折/存单开户遗漏冠字号码录入将影响合规检查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8874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风格样例预览 · 制度手册转宣讲 PPT 工作流（Step 2.5.3）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B85C3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280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C3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风格变体 C — Warm Terracotta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420624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C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暖色系 · 亲和全员  |  卡片矩阵布局  |  注意事项：折叠卡片式  |  样例：步骤3：选择开户介质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13232"/>
            <a:ext cx="8229600" cy="1371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310896" cy="310896"/>
          </a:xfrm>
          <a:prstGeom prst="ellipse">
            <a:avLst/>
          </a:prstGeom>
          <a:solidFill>
            <a:srgbClr val="B85C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41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813816"/>
            <a:ext cx="7845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C3D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步骤3：选择开户介质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22529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25296"/>
            <a:ext cx="54864" cy="4572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1243584"/>
            <a:ext cx="7973568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客户经过开户协议阅读和确认后，在介质选择界面根据客户意愿选择需要开通的介质类型，再由客户勾选需要开的业务种类。柜面渠道支持全部 6 种介质：银行卡、存折、存单、大额存单、一本通、电子账户。每种介质完成后均进入步骤4（密码设置）。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73936"/>
            <a:ext cx="2670048" cy="63093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73936"/>
            <a:ext cx="54864" cy="63093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181965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银行卡开户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" y="2011680"/>
            <a:ext cx="2487168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卡种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（卡片信息自动读取）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36976" y="1773936"/>
            <a:ext cx="2670048" cy="63093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6976" y="1773936"/>
            <a:ext cx="54864" cy="63093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181965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存折开户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2011680"/>
            <a:ext cx="2487168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业务种类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通兑标志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支取方式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转存方式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利率类型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16752" y="1773936"/>
            <a:ext cx="2670048" cy="63093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6752" y="1773936"/>
            <a:ext cx="54864" cy="63093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181965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存单开户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44768" y="2011680"/>
            <a:ext cx="2487168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业务种类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通兑标志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支取方式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转存方式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利率类型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2514600"/>
            <a:ext cx="2670048" cy="63093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514600"/>
            <a:ext cx="54864" cy="63093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256032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大额存单开户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" y="2752344"/>
            <a:ext cx="2487168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科目来源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存单形式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开户金额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36976" y="2514600"/>
            <a:ext cx="2670048" cy="63093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6976" y="2514600"/>
            <a:ext cx="54864" cy="63093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56032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一本通开户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64992" y="2752344"/>
            <a:ext cx="2487168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通兑标志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支取方式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凭证号码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016752" y="2514600"/>
            <a:ext cx="2670048" cy="63093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08B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16752" y="2514600"/>
            <a:ext cx="54864" cy="630936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2560320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电子账户开户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44768" y="2752344"/>
            <a:ext cx="2487168" cy="3566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卡种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产品代码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" y="3255264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BEFE6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255264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5C3D2E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374136"/>
            <a:ext cx="2651760" cy="118872"/>
          </a:xfrm>
          <a:prstGeom prst="rect">
            <a:avLst/>
          </a:prstGeom>
          <a:solidFill>
            <a:srgbClr val="5C3D2E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2552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注意事项 (1)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352958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若客户开立储蓄账户且介质为存单，则客户必须进行资金存入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46120" y="3255264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BEFE6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3255264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5C3D2E"/>
          </a:solidFill>
          <a:ln/>
        </p:spPr>
      </p:sp>
      <p:sp>
        <p:nvSpPr>
          <p:cNvPr id="45" name="Shape 43"/>
          <p:cNvSpPr/>
          <p:nvPr/>
        </p:nvSpPr>
        <p:spPr>
          <a:xfrm>
            <a:off x="3246120" y="3374136"/>
            <a:ext cx="2651760" cy="118872"/>
          </a:xfrm>
          <a:prstGeom prst="rect">
            <a:avLst/>
          </a:prstGeom>
          <a:solidFill>
            <a:srgbClr val="5C3D2E"/>
          </a:solidFill>
          <a:ln/>
        </p:spPr>
      </p:sp>
      <p:sp>
        <p:nvSpPr>
          <p:cNvPr id="46" name="Text 44"/>
          <p:cNvSpPr/>
          <p:nvPr/>
        </p:nvSpPr>
        <p:spPr>
          <a:xfrm>
            <a:off x="3337560" y="32552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注意事项 (2)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37560" y="352958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存折和存单开户必须录入现金"冠字号码"，遗漏将影响合规检查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35040" y="3255264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BEFE6"/>
          </a:solidFill>
          <a:ln w="12700">
            <a:solidFill>
              <a:srgbClr val="B85C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255264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5C3D2E"/>
          </a:solidFill>
          <a:ln/>
        </p:spPr>
      </p:sp>
      <p:sp>
        <p:nvSpPr>
          <p:cNvPr id="50" name="Shape 48"/>
          <p:cNvSpPr/>
          <p:nvPr/>
        </p:nvSpPr>
        <p:spPr>
          <a:xfrm>
            <a:off x="6035040" y="3374136"/>
            <a:ext cx="2651760" cy="118872"/>
          </a:xfrm>
          <a:prstGeom prst="rect">
            <a:avLst/>
          </a:prstGeom>
          <a:solidFill>
            <a:srgbClr val="5C3D2E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0" y="325526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注意事项 (3)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26480" y="352958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大额存单的"科目来源"选择不同，后续操作路径不同（现金直接输入 vs 转账需介质识别）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443984"/>
            <a:ext cx="8229600" cy="384048"/>
          </a:xfrm>
          <a:prstGeom prst="roundRect">
            <a:avLst>
              <a:gd name="adj" fmla="val 9524"/>
            </a:avLst>
          </a:prstGeom>
          <a:solidFill>
            <a:srgbClr val="FBEAE3"/>
          </a:solidFill>
          <a:ln w="12700">
            <a:solidFill>
              <a:srgbClr val="8A3A1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44714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易错点提示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828800" y="4471416"/>
            <a:ext cx="674827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储蓄账户+存单组合容易遗漏资金存入步骤，导致开户失败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D2B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存折/存单开户遗漏冠字号码录入将影响合规检查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8874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风格样例预览 · 制度手册转宣讲 PPT 工作流（Step 2.5.3）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风格样例预览</dc:title>
  <dc:subject>Step 2.5.3 风格样例对比</dc:subject>
  <dc:creator>lark-workflow-handbook-deck</dc:creator>
  <cp:lastModifiedBy>lark-workflow-handbook-deck</cp:lastModifiedBy>
  <cp:revision>1</cp:revision>
  <dcterms:created xsi:type="dcterms:W3CDTF">2026-07-30T04:29:08Z</dcterms:created>
  <dcterms:modified xsi:type="dcterms:W3CDTF">2026-07-30T04:29:08Z</dcterms:modified>
</cp:coreProperties>
</file>