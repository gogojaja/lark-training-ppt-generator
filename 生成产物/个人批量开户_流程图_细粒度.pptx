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hd"/>
          <p:cNvSpPr/>
          <p:nvPr/>
        </p:nvSpPr>
        <p:spPr>
          <a:xfrm>
            <a:off x="0" y="0"/>
            <a:ext cx="12192000" cy="85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2600" b="1" dirty="0">
                <a:solidFill>
                  <a:srgbClr val="FFFFFF"/>
                </a:solidFill>
              </a:rPr>
              <a:t>个人批量开户业务办理流程</a:t>
            </a:r>
          </a:p>
        </p:txBody>
      </p:sp>
      <p:sp>
        <p:nvSpPr>
          <p:cNvPr id="2" name="a0"/>
          <p:cNvSpPr/>
          <p:nvPr/>
        </p:nvSpPr>
        <p:spPr>
          <a:xfrm>
            <a:off x="400000" y="11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登录系统</a:t>
            </a:r>
          </a:p>
          <a:p>
            <a:pPr algn="ctr"/>
            <a:r>
              <a:rPr lang="zh-CN" sz="1300" b="1" dirty="0">
                <a:solidFill>
                  <a:srgbClr val="1F3864"/>
                </a:solidFill>
              </a:rPr>
              <a:t>进入场景</a:t>
            </a:r>
          </a:p>
        </p:txBody>
      </p:sp>
      <p:sp>
        <p:nvSpPr>
          <p:cNvPr id="3" name="a1"/>
          <p:cNvSpPr/>
          <p:nvPr/>
        </p:nvSpPr>
        <p:spPr>
          <a:xfrm>
            <a:off x="400000" y="18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选择证件类型</a:t>
            </a:r>
          </a:p>
        </p:txBody>
      </p:sp>
      <p:sp>
        <p:nvSpPr>
          <p:cNvPr id="4" name="a2"/>
          <p:cNvSpPr/>
          <p:nvPr/>
        </p:nvSpPr>
        <p:spPr>
          <a:xfrm>
            <a:off x="400000" y="25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证件读取核验</a:t>
            </a:r>
          </a:p>
        </p:txBody>
      </p:sp>
      <p:sp>
        <p:nvSpPr>
          <p:cNvPr id="5" name="a3"/>
          <p:cNvSpPr/>
          <p:nvPr/>
        </p:nvSpPr>
        <p:spPr>
          <a:xfrm>
            <a:off x="400000" y="32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人脸识别核验</a:t>
            </a:r>
          </a:p>
        </p:txBody>
      </p:sp>
      <p:sp>
        <p:nvSpPr>
          <p:cNvPr id="6" name="a4"/>
          <p:cNvSpPr/>
          <p:nvPr/>
        </p:nvSpPr>
        <p:spPr>
          <a:xfrm>
            <a:off x="400000" y="3950000"/>
            <a:ext cx="3600000" cy="700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客户信息</a:t>
            </a:r>
          </a:p>
          <a:p>
            <a:pPr algn="ctr"/>
            <a:r>
              <a:rPr lang="zh-CN" sz="1300" b="1" dirty="0">
                <a:solidFill>
                  <a:srgbClr val="1F3864"/>
                </a:solidFill>
              </a:rPr>
              <a:t>是否齐全</a:t>
            </a:r>
          </a:p>
        </p:txBody>
      </p:sp>
      <p:sp>
        <p:nvSpPr>
          <p:cNvPr id="7" name="a5"/>
          <p:cNvSpPr/>
          <p:nvPr/>
        </p:nvSpPr>
        <p:spPr>
          <a:xfrm>
            <a:off x="400000" y="46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企业身份核实</a:t>
            </a:r>
          </a:p>
        </p:txBody>
      </p:sp>
      <p:sp>
        <p:nvSpPr>
          <p:cNvPr id="8" name="a6"/>
          <p:cNvSpPr/>
          <p:nvPr/>
        </p:nvSpPr>
        <p:spPr>
          <a:xfrm>
            <a:off x="400000" y="53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核查结果确认</a:t>
            </a:r>
          </a:p>
        </p:txBody>
      </p:sp>
      <p:sp>
        <p:nvSpPr>
          <p:cNvPr id="9" name="a7"/>
          <p:cNvSpPr/>
          <p:nvPr/>
        </p:nvSpPr>
        <p:spPr>
          <a:xfrm>
            <a:off x="400000" y="60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委托协议查询</a:t>
            </a:r>
          </a:p>
        </p:txBody>
      </p:sp>
      <p:sp>
        <p:nvSpPr>
          <p:cNvPr id="10" name="b7"/>
          <p:cNvSpPr/>
          <p:nvPr/>
        </p:nvSpPr>
        <p:spPr>
          <a:xfrm>
            <a:off x="4400000" y="6050000"/>
            <a:ext cx="3600000" cy="700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委托协议</a:t>
            </a:r>
          </a:p>
          <a:p>
            <a:pPr algn="ctr"/>
            <a:r>
              <a:rPr lang="zh-CN" sz="1300" b="1" dirty="0">
                <a:solidFill>
                  <a:srgbClr val="1F3864"/>
                </a:solidFill>
              </a:rPr>
              <a:t>是否存在</a:t>
            </a:r>
          </a:p>
        </p:txBody>
      </p:sp>
      <p:sp>
        <p:nvSpPr>
          <p:cNvPr id="11" name="b6"/>
          <p:cNvSpPr/>
          <p:nvPr/>
        </p:nvSpPr>
        <p:spPr>
          <a:xfrm>
            <a:off x="4400000" y="53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批量数据文件导入</a:t>
            </a:r>
          </a:p>
        </p:txBody>
      </p:sp>
      <p:sp>
        <p:nvSpPr>
          <p:cNvPr id="12" name="b5"/>
          <p:cNvSpPr/>
          <p:nvPr/>
        </p:nvSpPr>
        <p:spPr>
          <a:xfrm>
            <a:off x="4400000" y="46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文件检查确认</a:t>
            </a:r>
          </a:p>
        </p:txBody>
      </p:sp>
      <p:sp>
        <p:nvSpPr>
          <p:cNvPr id="13" name="b4"/>
          <p:cNvSpPr/>
          <p:nvPr/>
        </p:nvSpPr>
        <p:spPr>
          <a:xfrm>
            <a:off x="4400000" y="3950000"/>
            <a:ext cx="3600000" cy="700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是否财政</a:t>
            </a:r>
          </a:p>
          <a:p>
            <a:pPr algn="ctr"/>
            <a:r>
              <a:rPr lang="zh-CN" sz="1300" b="1" dirty="0">
                <a:solidFill>
                  <a:srgbClr val="1F3864"/>
                </a:solidFill>
              </a:rPr>
              <a:t>补贴资金</a:t>
            </a:r>
          </a:p>
        </p:txBody>
      </p:sp>
      <p:sp>
        <p:nvSpPr>
          <p:cNvPr id="14" name="b3"/>
          <p:cNvSpPr/>
          <p:nvPr/>
        </p:nvSpPr>
        <p:spPr>
          <a:xfrm>
            <a:off x="4400000" y="32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交易确认提交</a:t>
            </a:r>
          </a:p>
        </p:txBody>
      </p:sp>
      <p:sp>
        <p:nvSpPr>
          <p:cNvPr id="15" name="b2"/>
          <p:cNvSpPr/>
          <p:nvPr/>
        </p:nvSpPr>
        <p:spPr>
          <a:xfrm>
            <a:off x="4400000" y="25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柜外清签名确认</a:t>
            </a:r>
          </a:p>
        </p:txBody>
      </p:sp>
      <p:sp>
        <p:nvSpPr>
          <p:cNvPr id="16" name="b1"/>
          <p:cNvSpPr/>
          <p:nvPr/>
        </p:nvSpPr>
        <p:spPr>
          <a:xfrm>
            <a:off x="4400000" y="18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提交集中作业</a:t>
            </a:r>
          </a:p>
        </p:txBody>
      </p:sp>
      <p:sp>
        <p:nvSpPr>
          <p:cNvPr id="17" name="b0"/>
          <p:cNvSpPr/>
          <p:nvPr/>
        </p:nvSpPr>
        <p:spPr>
          <a:xfrm>
            <a:off x="4400000" y="11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业务受理成功</a:t>
            </a:r>
          </a:p>
        </p:txBody>
      </p:sp>
      <p:sp>
        <p:nvSpPr>
          <p:cNvPr id="18" name="c0"/>
          <p:cNvSpPr/>
          <p:nvPr/>
        </p:nvSpPr>
        <p:spPr>
          <a:xfrm>
            <a:off x="8400000" y="11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服务评价</a:t>
            </a:r>
          </a:p>
        </p:txBody>
      </p:sp>
      <p:sp>
        <p:nvSpPr>
          <p:cNvPr id="19" name="c1"/>
          <p:cNvSpPr/>
          <p:nvPr/>
        </p:nvSpPr>
        <p:spPr>
          <a:xfrm>
            <a:off x="8400000" y="18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凭证及回单打印</a:t>
            </a:r>
          </a:p>
        </p:txBody>
      </p:sp>
      <p:sp>
        <p:nvSpPr>
          <p:cNvPr id="20" name="c2"/>
          <p:cNvSpPr/>
          <p:nvPr/>
        </p:nvSpPr>
        <p:spPr>
          <a:xfrm>
            <a:off x="8400000" y="25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1F3864"/>
                </a:solidFill>
              </a:rPr>
              <a:t>介质发放</a:t>
            </a:r>
          </a:p>
        </p:txBody>
      </p:sp>
      <p:sp>
        <p:nvSpPr>
          <p:cNvPr id="21" name="c3"/>
          <p:cNvSpPr/>
          <p:nvPr/>
        </p:nvSpPr>
        <p:spPr>
          <a:xfrm>
            <a:off x="8400000" y="32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C00000"/>
                </a:solidFill>
              </a:rPr>
              <a:t>影像资料上传</a:t>
            </a:r>
          </a:p>
          <a:p>
            <a:pPr algn="ctr"/>
            <a:r>
              <a:rPr lang="zh-CN" sz="1300" b="1" dirty="0">
                <a:solidFill>
                  <a:srgbClr val="C00000"/>
                </a:solidFill>
              </a:rPr>
              <a:t>至集中作业中心</a:t>
            </a:r>
          </a:p>
        </p:txBody>
      </p:sp>
      <p:sp>
        <p:nvSpPr>
          <p:cNvPr id="22" name="c4"/>
          <p:cNvSpPr/>
          <p:nvPr/>
        </p:nvSpPr>
        <p:spPr>
          <a:xfrm>
            <a:off x="8400000" y="39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C00000"/>
                </a:solidFill>
              </a:rPr>
              <a:t>跳转客户信息</a:t>
            </a:r>
          </a:p>
          <a:p>
            <a:pPr algn="ctr"/>
            <a:r>
              <a:rPr lang="zh-CN" sz="1300" b="1" dirty="0">
                <a:solidFill>
                  <a:srgbClr val="C00000"/>
                </a:solidFill>
              </a:rPr>
              <a:t>维护场景</a:t>
            </a:r>
          </a:p>
        </p:txBody>
      </p:sp>
      <p:sp>
        <p:nvSpPr>
          <p:cNvPr id="23" name="c6"/>
          <p:cNvSpPr/>
          <p:nvPr/>
        </p:nvSpPr>
        <p:spPr>
          <a:xfrm>
            <a:off x="8400000" y="53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375623"/>
                </a:solidFill>
              </a:rPr>
              <a:t>协议编辑</a:t>
            </a:r>
          </a:p>
        </p:txBody>
      </p:sp>
      <p:sp>
        <p:nvSpPr>
          <p:cNvPr id="24" name="c7"/>
          <p:cNvSpPr/>
          <p:nvPr/>
        </p:nvSpPr>
        <p:spPr>
          <a:xfrm>
            <a:off x="8400000" y="6050000"/>
            <a:ext cx="3600000" cy="440000"/>
          </a:xfrm>
          <a:prstGeom prst="roundRect">
            <a:avLst>
              <a:gd name="adj" fval="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300" b="1" dirty="0">
                <a:solidFill>
                  <a:srgbClr val="375623"/>
                </a:solidFill>
              </a:rPr>
              <a:t>协议新增</a:t>
            </a:r>
          </a:p>
        </p:txBody>
      </p:sp>
      <p:cxnSp>
        <p:nvCxnSpPr>
          <p:cNvPr id="25" name="v"/>
          <p:cNvCxnSpPr/>
          <p:nvPr/>
        </p:nvCxnSpPr>
        <p:spPr>
          <a:xfrm rot="5400000">
            <a:off x="2200000" y="15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26" name="v"/>
          <p:cNvCxnSpPr/>
          <p:nvPr/>
        </p:nvCxnSpPr>
        <p:spPr>
          <a:xfrm rot="5400000">
            <a:off x="2200000" y="22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27" name="v"/>
          <p:cNvCxnSpPr/>
          <p:nvPr/>
        </p:nvCxnSpPr>
        <p:spPr>
          <a:xfrm rot="5400000">
            <a:off x="2200000" y="29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28" name="v"/>
          <p:cNvCxnSpPr/>
          <p:nvPr/>
        </p:nvCxnSpPr>
        <p:spPr>
          <a:xfrm rot="5400000">
            <a:off x="2200000" y="36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29" name="v"/>
          <p:cNvCxnSpPr/>
          <p:nvPr/>
        </p:nvCxnSpPr>
        <p:spPr>
          <a:xfrm rot="5400000">
            <a:off x="2200000" y="4650000"/>
            <a:ext cx="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30" name="v"/>
          <p:cNvCxnSpPr/>
          <p:nvPr/>
        </p:nvCxnSpPr>
        <p:spPr>
          <a:xfrm rot="5400000">
            <a:off x="2200000" y="50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31" name="v"/>
          <p:cNvCxnSpPr/>
          <p:nvPr/>
        </p:nvCxnSpPr>
        <p:spPr>
          <a:xfrm rot="5400000">
            <a:off x="2200000" y="57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32" name="v"/>
          <p:cNvCxnSpPr/>
          <p:nvPr/>
        </p:nvCxnSpPr>
        <p:spPr>
          <a:xfrm rot="5400000">
            <a:off x="2200000" y="4650000"/>
            <a:ext cx="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33" name="lb33"/>
          <p:cNvSpPr/>
          <p:nvPr/>
        </p:nvSpPr>
        <p:spPr>
          <a:xfrm>
            <a:off x="3000000" y="4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1F3864"/>
                </a:solidFill>
              </a:rPr>
              <a:t>是</a:t>
            </a:r>
          </a:p>
        </p:txBody>
      </p:sp>
      <p:cxnSp>
        <p:nvCxnSpPr>
          <p:cNvPr id="34" name="e1"/>
          <p:cNvCxnSpPr/>
          <p:nvPr/>
        </p:nvCxnSpPr>
        <p:spPr>
          <a:xfrm rot="0">
            <a:off x="4000000" y="4300000"/>
            <a:ext cx="4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35" name="e2"/>
          <p:cNvCxnSpPr/>
          <p:nvPr/>
        </p:nvCxnSpPr>
        <p:spPr>
          <a:xfrm rot="5400000">
            <a:off x="8400000" y="4170000"/>
            <a:ext cx="0" cy="13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36" name="lb36"/>
          <p:cNvSpPr/>
          <p:nvPr/>
        </p:nvSpPr>
        <p:spPr>
          <a:xfrm>
            <a:off x="7600000" y="44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cxnSp>
        <p:nvCxnSpPr>
          <p:cNvPr id="37" name="e1"/>
          <p:cNvCxnSpPr/>
          <p:nvPr/>
        </p:nvCxnSpPr>
        <p:spPr>
          <a:xfrm rot="0">
            <a:off x="4000000" y="6270000"/>
            <a:ext cx="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38" name="e2"/>
          <p:cNvCxnSpPr/>
          <p:nvPr/>
        </p:nvCxnSpPr>
        <p:spPr>
          <a:xfrm rot="5400000">
            <a:off x="4400000" y="6270000"/>
            <a:ext cx="0" cy="13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39" name="v"/>
          <p:cNvCxnSpPr/>
          <p:nvPr/>
        </p:nvCxnSpPr>
        <p:spPr>
          <a:xfrm rot="5400000">
            <a:off x="6200000" y="5350000"/>
            <a:ext cx="0" cy="14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40" name="v"/>
          <p:cNvCxnSpPr/>
          <p:nvPr/>
        </p:nvCxnSpPr>
        <p:spPr>
          <a:xfrm rot="5400000">
            <a:off x="6200000" y="4650000"/>
            <a:ext cx="0" cy="114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41" name="v"/>
          <p:cNvCxnSpPr/>
          <p:nvPr/>
        </p:nvCxnSpPr>
        <p:spPr>
          <a:xfrm rot="5400000">
            <a:off x="6200000" y="3950000"/>
            <a:ext cx="0" cy="114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42" name="v"/>
          <p:cNvCxnSpPr/>
          <p:nvPr/>
        </p:nvCxnSpPr>
        <p:spPr>
          <a:xfrm rot="5400000">
            <a:off x="6200000" y="3250000"/>
            <a:ext cx="0" cy="14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43" name="v"/>
          <p:cNvCxnSpPr/>
          <p:nvPr/>
        </p:nvCxnSpPr>
        <p:spPr>
          <a:xfrm rot="5400000">
            <a:off x="6200000" y="2550000"/>
            <a:ext cx="0" cy="114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44" name="v"/>
          <p:cNvCxnSpPr/>
          <p:nvPr/>
        </p:nvCxnSpPr>
        <p:spPr>
          <a:xfrm rot="5400000">
            <a:off x="6200000" y="1850000"/>
            <a:ext cx="0" cy="114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45" name="v"/>
          <p:cNvCxnSpPr/>
          <p:nvPr/>
        </p:nvCxnSpPr>
        <p:spPr>
          <a:xfrm rot="5400000">
            <a:off x="6200000" y="1150000"/>
            <a:ext cx="0" cy="114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46" name="e1"/>
          <p:cNvCxnSpPr/>
          <p:nvPr/>
        </p:nvCxnSpPr>
        <p:spPr>
          <a:xfrm rot="0">
            <a:off x="8000000" y="6400000"/>
            <a:ext cx="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47" name="e2"/>
          <p:cNvCxnSpPr/>
          <p:nvPr/>
        </p:nvCxnSpPr>
        <p:spPr>
          <a:xfrm rot="5400000">
            <a:off x="8400000" y="6270000"/>
            <a:ext cx="0" cy="13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48" name="lb48"/>
          <p:cNvSpPr/>
          <p:nvPr/>
        </p:nvSpPr>
        <p:spPr>
          <a:xfrm>
            <a:off x="7700000" y="64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cxnSp>
        <p:nvCxnSpPr>
          <p:cNvPr id="49" name="e1"/>
          <p:cNvCxnSpPr/>
          <p:nvPr/>
        </p:nvCxnSpPr>
        <p:spPr>
          <a:xfrm rot="0">
            <a:off x="8000000" y="6400000"/>
            <a:ext cx="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50" name="e2"/>
          <p:cNvCxnSpPr/>
          <p:nvPr/>
        </p:nvCxnSpPr>
        <p:spPr>
          <a:xfrm rot="5400000">
            <a:off x="8400000" y="5570000"/>
            <a:ext cx="0" cy="83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51" name="lb51"/>
          <p:cNvSpPr/>
          <p:nvPr/>
        </p:nvSpPr>
        <p:spPr>
          <a:xfrm>
            <a:off x="7700000" y="57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375623"/>
                </a:solidFill>
              </a:rPr>
              <a:t>是</a:t>
            </a:r>
          </a:p>
        </p:txBody>
      </p:sp>
      <p:cxnSp>
        <p:nvCxnSpPr>
          <p:cNvPr id="52" name="v"/>
          <p:cNvCxnSpPr/>
          <p:nvPr/>
        </p:nvCxnSpPr>
        <p:spPr>
          <a:xfrm rot="5400000">
            <a:off x="6200000" y="3250000"/>
            <a:ext cx="0" cy="14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53" name="lb53"/>
          <p:cNvSpPr/>
          <p:nvPr/>
        </p:nvSpPr>
        <p:spPr>
          <a:xfrm>
            <a:off x="3000000" y="4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1F3864"/>
                </a:solidFill>
              </a:rPr>
              <a:t>是</a:t>
            </a:r>
          </a:p>
        </p:txBody>
      </p:sp>
      <p:cxnSp>
        <p:nvCxnSpPr>
          <p:cNvPr id="54" name="e1"/>
          <p:cNvCxnSpPr/>
          <p:nvPr/>
        </p:nvCxnSpPr>
        <p:spPr>
          <a:xfrm rot="0">
            <a:off x="8000000" y="4300000"/>
            <a:ext cx="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55" name="e2"/>
          <p:cNvCxnSpPr/>
          <p:nvPr/>
        </p:nvCxnSpPr>
        <p:spPr>
          <a:xfrm rot="5400000">
            <a:off x="8400000" y="3470000"/>
            <a:ext cx="0" cy="83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56" name="lb56"/>
          <p:cNvSpPr/>
          <p:nvPr/>
        </p:nvSpPr>
        <p:spPr>
          <a:xfrm>
            <a:off x="7600000" y="44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cxnSp>
        <p:nvCxnSpPr>
          <p:cNvPr id="57" name="e1"/>
          <p:cNvCxnSpPr/>
          <p:nvPr/>
        </p:nvCxnSpPr>
        <p:spPr>
          <a:xfrm rot="0">
            <a:off x="8000000" y="1370000"/>
            <a:ext cx="40000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none"/>
          </a:ln>
        </p:spPr>
        <p:txBody>
          <a:bodyPr/>
          <a:lstStyle/>
          <a:p/>
        </p:txBody>
      </p:cxnSp>
      <p:cxnSp>
        <p:nvCxnSpPr>
          <p:cNvPr id="58" name="e2"/>
          <p:cNvCxnSpPr/>
          <p:nvPr/>
        </p:nvCxnSpPr>
        <p:spPr>
          <a:xfrm rot="5400000">
            <a:off x="8400000" y="1370000"/>
            <a:ext cx="0" cy="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59" name="v"/>
          <p:cNvCxnSpPr/>
          <p:nvPr/>
        </p:nvCxnSpPr>
        <p:spPr>
          <a:xfrm rot="5400000">
            <a:off x="10200000" y="15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cxnSp>
        <p:nvCxnSpPr>
          <p:cNvPr id="60" name="v"/>
          <p:cNvCxnSpPr/>
          <p:nvPr/>
        </p:nvCxnSpPr>
        <p:spPr>
          <a:xfrm rot="5400000">
            <a:off x="10200000" y="2290000"/>
            <a:ext cx="0" cy="26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