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hd"/>
          <p:cNvSpPr/>
          <p:nvPr/>
        </p:nvSpPr>
        <p:spPr>
          <a:xfrm>
            <a:off x="0" y="0"/>
            <a:ext cx="12192000" cy="850000"/>
          </a:xfrm>
          <a:prstGeom prst="roundRect">
            <a:avLst>
              <a:gd name="adj" fval="8000"/>
            </a:avLst>
          </a:prstGeom>
          <a:solidFill>
            <a:srgbClr val="1F3864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2600" b="1" dirty="0">
                <a:solidFill>
                  <a:srgbClr val="FFFFFF"/>
                </a:solidFill>
              </a:rPr>
              <a:t>个人批量开户业务办理流程</a:t>
            </a:r>
          </a:p>
        </p:txBody>
      </p:sp>
      <p:sp>
        <p:nvSpPr>
          <p:cNvPr id="2" name="n1"/>
          <p:cNvSpPr/>
          <p:nvPr/>
        </p:nvSpPr>
        <p:spPr>
          <a:xfrm>
            <a:off x="3900000" y="1000000"/>
            <a:ext cx="4400000" cy="52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400" b="1" dirty="0">
                <a:solidFill>
                  <a:srgbClr val="1F3864"/>
                </a:solidFill>
              </a:rPr>
              <a:t>客户到达网点</a:t>
            </a:r>
          </a:p>
          <a:p>
            <a:pPr algn="ctr"/>
            <a:r>
              <a:rPr lang="zh-CN" sz="1400" b="1" dirty="0">
                <a:solidFill>
                  <a:srgbClr val="1F3864"/>
                </a:solidFill>
              </a:rPr>
              <a:t>厅堂身份识别与分流</a:t>
            </a:r>
          </a:p>
        </p:txBody>
      </p:sp>
      <p:sp>
        <p:nvSpPr>
          <p:cNvPr id="3" name="n2"/>
          <p:cNvSpPr/>
          <p:nvPr/>
        </p:nvSpPr>
        <p:spPr>
          <a:xfrm>
            <a:off x="3900000" y="1800000"/>
            <a:ext cx="4400000" cy="52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400" b="1" dirty="0">
                <a:solidFill>
                  <a:srgbClr val="1F3864"/>
                </a:solidFill>
              </a:rPr>
              <a:t>单位代理人提交批量开户资料</a:t>
            </a:r>
          </a:p>
          <a:p>
            <a:pPr algn="ctr"/>
            <a:r>
              <a:rPr lang="zh-CN" sz="1400" b="1" dirty="0">
                <a:solidFill>
                  <a:srgbClr val="1F3864"/>
                </a:solidFill>
              </a:rPr>
              <a:t>柜员初审+运营主管复审</a:t>
            </a:r>
          </a:p>
        </p:txBody>
      </p:sp>
      <p:sp>
        <p:nvSpPr>
          <p:cNvPr id="4" name="d1"/>
          <p:cNvSpPr/>
          <p:nvPr/>
        </p:nvSpPr>
        <p:spPr>
          <a:xfrm>
            <a:off x="4100000" y="2600000"/>
            <a:ext cx="4000000" cy="900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400" b="1" dirty="0">
                <a:solidFill>
                  <a:srgbClr val="1F3864"/>
                </a:solidFill>
              </a:rPr>
              <a:t>资料是否齐全</a:t>
            </a:r>
          </a:p>
        </p:txBody>
      </p:sp>
      <p:sp>
        <p:nvSpPr>
          <p:cNvPr id="5" name="b1"/>
          <p:cNvSpPr/>
          <p:nvPr/>
        </p:nvSpPr>
        <p:spPr>
          <a:xfrm>
            <a:off x="8500000" y="2750000"/>
            <a:ext cx="3200000" cy="520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C00000"/>
                </a:solidFill>
              </a:rPr>
              <a:t>指导代理人补充</a:t>
            </a:r>
          </a:p>
          <a:p>
            <a:pPr algn="ctr"/>
            <a:r>
              <a:rPr lang="zh-CN" sz="1300" b="1" dirty="0">
                <a:solidFill>
                  <a:srgbClr val="C00000"/>
                </a:solidFill>
              </a:rPr>
              <a:t>完善资料</a:t>
            </a:r>
          </a:p>
        </p:txBody>
      </p:sp>
      <p:sp>
        <p:nvSpPr>
          <p:cNvPr id="6" name="n3"/>
          <p:cNvSpPr/>
          <p:nvPr/>
        </p:nvSpPr>
        <p:spPr>
          <a:xfrm>
            <a:off x="3900000" y="3700000"/>
            <a:ext cx="4400000" cy="52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400" b="1" dirty="0">
                <a:solidFill>
                  <a:srgbClr val="1F3864"/>
                </a:solidFill>
              </a:rPr>
              <a:t>批量开户数据文件导入</a:t>
            </a:r>
          </a:p>
          <a:p>
            <a:pPr algn="ctr"/>
            <a:r>
              <a:rPr lang="zh-CN" sz="1400" b="1" dirty="0">
                <a:solidFill>
                  <a:srgbClr val="1F3864"/>
                </a:solidFill>
              </a:rPr>
              <a:t>（政府补贴/非补贴分流）</a:t>
            </a:r>
          </a:p>
        </p:txBody>
      </p:sp>
      <p:sp>
        <p:nvSpPr>
          <p:cNvPr id="7" name="d2"/>
          <p:cNvSpPr/>
          <p:nvPr/>
        </p:nvSpPr>
        <p:spPr>
          <a:xfrm>
            <a:off x="4100000" y="4450000"/>
            <a:ext cx="4000000" cy="900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400" b="1" dirty="0">
                <a:solidFill>
                  <a:srgbClr val="1F3864"/>
                </a:solidFill>
              </a:rPr>
              <a:t>是否财政补贴资金</a:t>
            </a:r>
          </a:p>
        </p:txBody>
      </p:sp>
      <p:sp>
        <p:nvSpPr>
          <p:cNvPr id="8" name="b2"/>
          <p:cNvSpPr/>
          <p:nvPr/>
        </p:nvSpPr>
        <p:spPr>
          <a:xfrm>
            <a:off x="8500000" y="4550000"/>
            <a:ext cx="3200000" cy="560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C00000"/>
                </a:solidFill>
              </a:rPr>
              <a:t>非补贴：高速扫描上传</a:t>
            </a:r>
          </a:p>
          <a:p>
            <a:pPr algn="ctr"/>
            <a:r>
              <a:rPr lang="zh-CN" sz="1300" b="1" dirty="0">
                <a:solidFill>
                  <a:srgbClr val="C00000"/>
                </a:solidFill>
              </a:rPr>
              <a:t>至集中作业中心</a:t>
            </a:r>
          </a:p>
        </p:txBody>
      </p:sp>
      <p:sp>
        <p:nvSpPr>
          <p:cNvPr id="9" name="n4"/>
          <p:cNvSpPr/>
          <p:nvPr/>
        </p:nvSpPr>
        <p:spPr>
          <a:xfrm>
            <a:off x="3900000" y="5550000"/>
            <a:ext cx="4400000" cy="56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400" b="1" dirty="0">
                <a:solidFill>
                  <a:srgbClr val="1F3864"/>
                </a:solidFill>
              </a:rPr>
              <a:t>系统批量身份核查·信息维护</a:t>
            </a:r>
          </a:p>
          <a:p>
            <a:pPr algn="ctr"/>
            <a:r>
              <a:rPr lang="zh-CN" sz="1400" b="1" dirty="0">
                <a:solidFill>
                  <a:srgbClr val="1F3864"/>
                </a:solidFill>
              </a:rPr>
              <a:t>账户批量开立</a:t>
            </a:r>
          </a:p>
        </p:txBody>
      </p:sp>
      <p:sp>
        <p:nvSpPr>
          <p:cNvPr id="10" name="n5"/>
          <p:cNvSpPr/>
          <p:nvPr/>
        </p:nvSpPr>
        <p:spPr>
          <a:xfrm>
            <a:off x="3900000" y="6270000"/>
            <a:ext cx="4400000" cy="56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400" b="1" dirty="0">
                <a:solidFill>
                  <a:srgbClr val="1F3864"/>
                </a:solidFill>
              </a:rPr>
              <a:t>电子凭证确认·电子签名</a:t>
            </a:r>
          </a:p>
          <a:p>
            <a:pPr algn="ctr"/>
            <a:r>
              <a:rPr lang="zh-CN" sz="1400" b="1" dirty="0">
                <a:solidFill>
                  <a:srgbClr val="1F3864"/>
                </a:solidFill>
              </a:rPr>
              <a:t>柜员审核·凭证打印归档</a:t>
            </a:r>
          </a:p>
        </p:txBody>
      </p:sp>
      <p:cxnSp>
        <p:nvCxnSpPr>
          <p:cNvPr id="11" name="v"/>
          <p:cNvCxnSpPr/>
          <p:nvPr/>
        </p:nvCxnSpPr>
        <p:spPr>
          <a:xfrm rot="5400000">
            <a:off x="6100000" y="1520000"/>
            <a:ext cx="0" cy="28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12" name="v"/>
          <p:cNvCxnSpPr/>
          <p:nvPr/>
        </p:nvCxnSpPr>
        <p:spPr>
          <a:xfrm rot="5400000">
            <a:off x="6100000" y="2320000"/>
            <a:ext cx="0" cy="28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13" name="v"/>
          <p:cNvCxnSpPr/>
          <p:nvPr/>
        </p:nvCxnSpPr>
        <p:spPr>
          <a:xfrm rot="5400000">
            <a:off x="6100000" y="3500000"/>
            <a:ext cx="0" cy="2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4" name="lb14"/>
          <p:cNvSpPr/>
          <p:nvPr/>
        </p:nvSpPr>
        <p:spPr>
          <a:xfrm>
            <a:off x="3300000" y="34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1F3864"/>
                </a:solidFill>
              </a:rPr>
              <a:t>是</a:t>
            </a:r>
          </a:p>
        </p:txBody>
      </p:sp>
      <p:cxnSp>
        <p:nvCxnSpPr>
          <p:cNvPr id="15" name="e1"/>
          <p:cNvCxnSpPr/>
          <p:nvPr/>
        </p:nvCxnSpPr>
        <p:spPr>
          <a:xfrm rot="0">
            <a:off x="8100000" y="3050000"/>
            <a:ext cx="40000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none"/>
          </a:ln>
        </p:spPr>
        <p:txBody>
          <a:bodyPr/>
          <a:lstStyle/>
          <a:p/>
        </p:txBody>
      </p:cxnSp>
      <p:cxnSp>
        <p:nvCxnSpPr>
          <p:cNvPr id="16" name="e2"/>
          <p:cNvCxnSpPr/>
          <p:nvPr/>
        </p:nvCxnSpPr>
        <p:spPr>
          <a:xfrm rot="5400000">
            <a:off x="8500000" y="3010000"/>
            <a:ext cx="0" cy="4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7" name="lb17"/>
          <p:cNvSpPr/>
          <p:nvPr/>
        </p:nvSpPr>
        <p:spPr>
          <a:xfrm>
            <a:off x="8100000" y="252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cxnSp>
        <p:nvCxnSpPr>
          <p:cNvPr id="18" name="v"/>
          <p:cNvCxnSpPr/>
          <p:nvPr/>
        </p:nvCxnSpPr>
        <p:spPr>
          <a:xfrm rot="5400000">
            <a:off x="6100000" y="4220000"/>
            <a:ext cx="0" cy="23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19" name="v"/>
          <p:cNvCxnSpPr/>
          <p:nvPr/>
        </p:nvCxnSpPr>
        <p:spPr>
          <a:xfrm rot="5400000">
            <a:off x="6100000" y="5350000"/>
            <a:ext cx="0" cy="2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20" name="lb20"/>
          <p:cNvSpPr/>
          <p:nvPr/>
        </p:nvSpPr>
        <p:spPr>
          <a:xfrm>
            <a:off x="3300000" y="532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1F3864"/>
                </a:solidFill>
              </a:rPr>
              <a:t>是</a:t>
            </a:r>
          </a:p>
        </p:txBody>
      </p:sp>
      <p:cxnSp>
        <p:nvCxnSpPr>
          <p:cNvPr id="21" name="e1"/>
          <p:cNvCxnSpPr/>
          <p:nvPr/>
        </p:nvCxnSpPr>
        <p:spPr>
          <a:xfrm rot="0">
            <a:off x="8100000" y="4900000"/>
            <a:ext cx="40000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none"/>
          </a:ln>
        </p:spPr>
        <p:txBody>
          <a:bodyPr/>
          <a:lstStyle/>
          <a:p/>
        </p:txBody>
      </p:cxnSp>
      <p:cxnSp>
        <p:nvCxnSpPr>
          <p:cNvPr id="22" name="e2"/>
          <p:cNvCxnSpPr/>
          <p:nvPr/>
        </p:nvCxnSpPr>
        <p:spPr>
          <a:xfrm rot="5400000">
            <a:off x="8500000" y="4830000"/>
            <a:ext cx="0" cy="7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23" name="lb23"/>
          <p:cNvSpPr/>
          <p:nvPr/>
        </p:nvSpPr>
        <p:spPr>
          <a:xfrm>
            <a:off x="8100000" y="432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cxnSp>
        <p:nvCxnSpPr>
          <p:cNvPr id="24" name="v"/>
          <p:cNvCxnSpPr/>
          <p:nvPr/>
        </p:nvCxnSpPr>
        <p:spPr>
          <a:xfrm rot="5400000">
            <a:off x="6100000" y="6110000"/>
            <a:ext cx="0" cy="1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