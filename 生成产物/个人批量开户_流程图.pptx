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itle"/>
          <p:cNvSpPr/>
          <p:nvPr/>
        </p:nvSpPr>
        <p:spPr>
          <a:xfrm>
            <a:off x="600000" y="250000"/>
            <a:ext cx="10992000" cy="600000"/>
          </a:xfrm>
          <a:prstGeom prst="roundRect">
            <a:avLst>
              <a:gd name="adj" fval="8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2800" b="1" dirty="0">
                <a:solidFill>
                  <a:srgbClr val="1F3864"/>
                </a:solidFill>
              </a:rPr>
              <a:t>个人批量开户流程</a:t>
            </a:r>
          </a:p>
        </p:txBody>
      </p:sp>
      <p:sp>
        <p:nvSpPr>
          <p:cNvPr id="2" name="step1"/>
          <p:cNvSpPr/>
          <p:nvPr/>
        </p:nvSpPr>
        <p:spPr>
          <a:xfrm>
            <a:off x="2596000" y="1200000"/>
            <a:ext cx="7000000" cy="382250"/>
          </a:xfrm>
          <a:prstGeom prst="roundRect">
            <a:avLst>
              <a:gd name="adj" fval="8000"/>
            </a:avLst>
          </a:prstGeom>
          <a:solidFill>
            <a:srgbClr val="C00000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1600" b="1" dirty="0">
                <a:solidFill>
                  <a:srgbClr val="FFFFFF"/>
                </a:solidFill>
              </a:rPr>
              <a:t>客户到达与身份识别</a:t>
            </a:r>
          </a:p>
        </p:txBody>
      </p:sp>
      <p:cxnSp>
        <p:nvCxnSpPr>
          <p:cNvPr id="3" name="arrow3"/>
          <p:cNvCxnSpPr>
            <a:stCxn/>
            <a:endCxn/>
          </p:cNvCxnSpPr>
          <p:nvPr/>
        </p:nvCxnSpPr>
        <p:spPr>
          <a:xfrm flipV="0" rot="5400000">
            <a:off x="6096000" y="1732250"/>
            <a:ext cx="300000" cy="3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4" name="step2"/>
          <p:cNvSpPr/>
          <p:nvPr/>
        </p:nvSpPr>
        <p:spPr>
          <a:xfrm>
            <a:off x="2596000" y="1882250"/>
            <a:ext cx="7000000" cy="382250"/>
          </a:xfrm>
          <a:prstGeom prst="roundRect">
            <a:avLst>
              <a:gd name="adj" fval="8000"/>
            </a:avLst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1600" b="1" dirty="0">
                <a:solidFill>
                  <a:srgbClr val="FFFFFF"/>
                </a:solidFill>
              </a:rPr>
              <a:t>单位代理资料审核</a:t>
            </a:r>
          </a:p>
        </p:txBody>
      </p:sp>
      <p:cxnSp>
        <p:nvCxnSpPr>
          <p:cNvPr id="5" name="arrow5"/>
          <p:cNvCxnSpPr>
            <a:stCxn/>
            <a:endCxn/>
          </p:cNvCxnSpPr>
          <p:nvPr/>
        </p:nvCxnSpPr>
        <p:spPr>
          <a:xfrm flipV="0" rot="5400000">
            <a:off x="6096000" y="2414500"/>
            <a:ext cx="300000" cy="3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6" name="step3"/>
          <p:cNvSpPr/>
          <p:nvPr/>
        </p:nvSpPr>
        <p:spPr>
          <a:xfrm>
            <a:off x="2596000" y="2564500"/>
            <a:ext cx="7000000" cy="382250"/>
          </a:xfrm>
          <a:prstGeom prst="roundRect">
            <a:avLst>
              <a:gd name="adj" fval="8000"/>
            </a:avLst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1600" b="1" dirty="0">
                <a:solidFill>
                  <a:srgbClr val="FFFFFF"/>
                </a:solidFill>
              </a:rPr>
              <a:t>批量数据文件导入</a:t>
            </a:r>
          </a:p>
        </p:txBody>
      </p:sp>
      <p:cxnSp>
        <p:nvCxnSpPr>
          <p:cNvPr id="7" name="arrow7"/>
          <p:cNvCxnSpPr>
            <a:stCxn/>
            <a:endCxn/>
          </p:cNvCxnSpPr>
          <p:nvPr/>
        </p:nvCxnSpPr>
        <p:spPr>
          <a:xfrm flipV="0" rot="5400000">
            <a:off x="6096000" y="3096750"/>
            <a:ext cx="300000" cy="3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8" name="step4"/>
          <p:cNvSpPr/>
          <p:nvPr/>
        </p:nvSpPr>
        <p:spPr>
          <a:xfrm>
            <a:off x="2596000" y="3246750"/>
            <a:ext cx="7000000" cy="382250"/>
          </a:xfrm>
          <a:prstGeom prst="roundRect">
            <a:avLst>
              <a:gd name="adj" fval="8000"/>
            </a:avLst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1600" b="1" dirty="0">
                <a:solidFill>
                  <a:srgbClr val="FFFFFF"/>
                </a:solidFill>
              </a:rPr>
              <a:t>客户信息批量核查</a:t>
            </a:r>
          </a:p>
        </p:txBody>
      </p:sp>
      <p:cxnSp>
        <p:nvCxnSpPr>
          <p:cNvPr id="9" name="arrow9"/>
          <p:cNvCxnSpPr>
            <a:stCxn/>
            <a:endCxn/>
          </p:cNvCxnSpPr>
          <p:nvPr/>
        </p:nvCxnSpPr>
        <p:spPr>
          <a:xfrm flipV="0" rot="5400000">
            <a:off x="6096000" y="3779000"/>
            <a:ext cx="300000" cy="3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10" name="step5"/>
          <p:cNvSpPr/>
          <p:nvPr/>
        </p:nvSpPr>
        <p:spPr>
          <a:xfrm>
            <a:off x="2596000" y="3929000"/>
            <a:ext cx="7000000" cy="382250"/>
          </a:xfrm>
          <a:prstGeom prst="roundRect">
            <a:avLst>
              <a:gd name="adj" fval="8000"/>
            </a:avLst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1600" b="1" dirty="0">
                <a:solidFill>
                  <a:srgbClr val="FFFFFF"/>
                </a:solidFill>
              </a:rPr>
              <a:t>账户批量开立</a:t>
            </a:r>
          </a:p>
        </p:txBody>
      </p:sp>
      <p:cxnSp>
        <p:nvCxnSpPr>
          <p:cNvPr id="11" name="arrow11"/>
          <p:cNvCxnSpPr>
            <a:stCxn/>
            <a:endCxn/>
          </p:cNvCxnSpPr>
          <p:nvPr/>
        </p:nvCxnSpPr>
        <p:spPr>
          <a:xfrm flipV="0" rot="5400000">
            <a:off x="6096000" y="4461250"/>
            <a:ext cx="300000" cy="3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12" name="step6"/>
          <p:cNvSpPr/>
          <p:nvPr/>
        </p:nvSpPr>
        <p:spPr>
          <a:xfrm>
            <a:off x="2596000" y="4611250"/>
            <a:ext cx="7000000" cy="382250"/>
          </a:xfrm>
          <a:prstGeom prst="roundRect">
            <a:avLst>
              <a:gd name="adj" fval="8000"/>
            </a:avLst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1600" b="1" dirty="0">
                <a:solidFill>
                  <a:srgbClr val="FFFFFF"/>
                </a:solidFill>
              </a:rPr>
              <a:t>电子凭证签署审核</a:t>
            </a:r>
          </a:p>
        </p:txBody>
      </p:sp>
      <p:cxnSp>
        <p:nvCxnSpPr>
          <p:cNvPr id="13" name="arrow13"/>
          <p:cNvCxnSpPr>
            <a:stCxn/>
            <a:endCxn/>
          </p:cNvCxnSpPr>
          <p:nvPr/>
        </p:nvCxnSpPr>
        <p:spPr>
          <a:xfrm flipV="0" rot="5400000">
            <a:off x="6096000" y="5143500"/>
            <a:ext cx="300000" cy="3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14" name="step7"/>
          <p:cNvSpPr/>
          <p:nvPr/>
        </p:nvSpPr>
        <p:spPr>
          <a:xfrm>
            <a:off x="2596000" y="5293500"/>
            <a:ext cx="7000000" cy="382250"/>
          </a:xfrm>
          <a:prstGeom prst="roundRect">
            <a:avLst>
              <a:gd name="adj" fval="8000"/>
            </a:avLst>
          </a:prstGeom>
          <a:solidFill>
            <a:srgbClr val="2E75B6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1600" b="1" dirty="0">
                <a:solidFill>
                  <a:srgbClr val="FFFFFF"/>
                </a:solidFill>
              </a:rPr>
              <a:t>凭证打印与回执</a:t>
            </a:r>
          </a:p>
        </p:txBody>
      </p:sp>
      <p:cxnSp>
        <p:nvCxnSpPr>
          <p:cNvPr id="15" name="arrow15"/>
          <p:cNvCxnSpPr>
            <a:stCxn/>
            <a:endCxn/>
          </p:cNvCxnSpPr>
          <p:nvPr/>
        </p:nvCxnSpPr>
        <p:spPr>
          <a:xfrm flipV="0" rot="5400000">
            <a:off x="6096000" y="5825750"/>
            <a:ext cx="300000" cy="300000"/>
          </a:xfrm>
          <a:prstGeom prst="line">
            <a:avLst/>
          </a:prstGeom>
          <a:ln w="28575">
            <a:solidFill>
              <a:srgbClr val="1F3864"/>
            </a:solidFill>
            <a:headEnd type="none"/>
            <a:tailEnd type="triangle" w="med" len="med"/>
          </a:ln>
        </p:spPr>
        <p:txBody>
          <a:bodyPr/>
          <a:lstStyle/>
          <a:p/>
        </p:txBody>
      </p:cxnSp>
      <p:sp>
        <p:nvSpPr>
          <p:cNvPr id="16" name="step8"/>
          <p:cNvSpPr/>
          <p:nvPr/>
        </p:nvSpPr>
        <p:spPr>
          <a:xfrm>
            <a:off x="2596000" y="5975750"/>
            <a:ext cx="7000000" cy="382250"/>
          </a:xfrm>
          <a:prstGeom prst="roundRect">
            <a:avLst>
              <a:gd name="adj" fval="8000"/>
            </a:avLst>
          </a:prstGeom>
          <a:solidFill>
            <a:srgbClr val="1E7145"/>
          </a:solidFill>
          <a:ln w="9525">
            <a:solidFill>
              <a:srgbClr val="1F3864"/>
            </a:solidFill>
          </a:ln>
        </p:spPr>
        <p:txBody>
          <a:bodyPr wrap="square" anchor="ctr"/>
          <a:lstStyle/>
          <a:p>
            <a:pPr algn="ctr"/>
            <a:r>
              <a:rPr lang="zh-CN" sz="1600" b="1" dirty="0">
                <a:solidFill>
                  <a:srgbClr val="FFFFFF"/>
                </a:solidFill>
              </a:rPr>
              <a:t>服务评价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lark-training-ppt-generator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流程图</dc:title>
  <dc:creator>lark-training-ppt-generator</dc:creator>
</cp:coreProperties>
</file>