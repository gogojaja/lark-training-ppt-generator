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hd"/>
          <p:cNvSpPr/>
          <p:nvPr/>
        </p:nvSpPr>
        <p:spPr>
          <a:xfrm>
            <a:off x="0" y="0"/>
            <a:ext cx="12192000" cy="85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2600" b="1" dirty="0">
                <a:solidFill>
                  <a:srgbClr val="FFFFFF"/>
                </a:solidFill>
              </a:rPr>
              <a:t>个人批量开户业务办理流程（纵向）</a:t>
            </a:r>
          </a:p>
        </p:txBody>
      </p:sp>
      <p:sp>
        <p:nvSpPr>
          <p:cNvPr id="2" name="m0"/>
          <p:cNvSpPr/>
          <p:nvPr/>
        </p:nvSpPr>
        <p:spPr>
          <a:xfrm>
            <a:off x="400000" y="98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登录系统进入场景</a:t>
            </a:r>
          </a:p>
        </p:txBody>
      </p:sp>
      <p:sp>
        <p:nvSpPr>
          <p:cNvPr id="3" name="m1"/>
          <p:cNvSpPr/>
          <p:nvPr/>
        </p:nvSpPr>
        <p:spPr>
          <a:xfrm>
            <a:off x="400000" y="121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选择证件类型</a:t>
            </a:r>
          </a:p>
        </p:txBody>
      </p:sp>
      <p:sp>
        <p:nvSpPr>
          <p:cNvPr id="4" name="m2"/>
          <p:cNvSpPr/>
          <p:nvPr/>
        </p:nvSpPr>
        <p:spPr>
          <a:xfrm>
            <a:off x="400000" y="145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证件读取核验</a:t>
            </a:r>
          </a:p>
        </p:txBody>
      </p:sp>
      <p:sp>
        <p:nvSpPr>
          <p:cNvPr id="5" name="m3"/>
          <p:cNvSpPr/>
          <p:nvPr/>
        </p:nvSpPr>
        <p:spPr>
          <a:xfrm>
            <a:off x="400000" y="168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人脸识别核验</a:t>
            </a:r>
          </a:p>
        </p:txBody>
      </p:sp>
      <p:sp>
        <p:nvSpPr>
          <p:cNvPr id="6" name="m4"/>
          <p:cNvSpPr/>
          <p:nvPr/>
        </p:nvSpPr>
        <p:spPr>
          <a:xfrm>
            <a:off x="400000" y="1920000"/>
            <a:ext cx="4600000" cy="235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客户信息是否齐全</a:t>
            </a:r>
          </a:p>
        </p:txBody>
      </p:sp>
      <p:sp>
        <p:nvSpPr>
          <p:cNvPr id="7" name="b4"/>
          <p:cNvSpPr/>
          <p:nvPr/>
        </p:nvSpPr>
        <p:spPr>
          <a:xfrm>
            <a:off x="5300000" y="1962500"/>
            <a:ext cx="3100000" cy="15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跳转客户信息维护</a:t>
            </a:r>
          </a:p>
        </p:txBody>
      </p:sp>
      <p:sp>
        <p:nvSpPr>
          <p:cNvPr id="8" name="m5"/>
          <p:cNvSpPr/>
          <p:nvPr/>
        </p:nvSpPr>
        <p:spPr>
          <a:xfrm>
            <a:off x="400000" y="215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企业身份核实</a:t>
            </a:r>
          </a:p>
        </p:txBody>
      </p:sp>
      <p:sp>
        <p:nvSpPr>
          <p:cNvPr id="9" name="m6"/>
          <p:cNvSpPr/>
          <p:nvPr/>
        </p:nvSpPr>
        <p:spPr>
          <a:xfrm>
            <a:off x="400000" y="239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核查结果确认</a:t>
            </a:r>
          </a:p>
        </p:txBody>
      </p:sp>
      <p:sp>
        <p:nvSpPr>
          <p:cNvPr id="10" name="m7"/>
          <p:cNvSpPr/>
          <p:nvPr/>
        </p:nvSpPr>
        <p:spPr>
          <a:xfrm>
            <a:off x="400000" y="262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委托协议查询</a:t>
            </a:r>
          </a:p>
        </p:txBody>
      </p:sp>
      <p:sp>
        <p:nvSpPr>
          <p:cNvPr id="11" name="m8"/>
          <p:cNvSpPr/>
          <p:nvPr/>
        </p:nvSpPr>
        <p:spPr>
          <a:xfrm>
            <a:off x="400000" y="2860000"/>
            <a:ext cx="4600000" cy="235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委托协议是否存在</a:t>
            </a:r>
          </a:p>
        </p:txBody>
      </p:sp>
      <p:sp>
        <p:nvSpPr>
          <p:cNvPr id="12" name="b8"/>
          <p:cNvSpPr/>
          <p:nvPr/>
        </p:nvSpPr>
        <p:spPr>
          <a:xfrm>
            <a:off x="5300000" y="2902500"/>
            <a:ext cx="3100000" cy="150000"/>
          </a:xfrm>
          <a:prstGeom prst="roundRect">
            <a:avLst>
              <a:gd name="adj" fval="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375623"/>
                </a:solidFill>
              </a:rPr>
              <a:t>协议编辑/新增</a:t>
            </a:r>
          </a:p>
        </p:txBody>
      </p:sp>
      <p:sp>
        <p:nvSpPr>
          <p:cNvPr id="13" name="m9"/>
          <p:cNvSpPr/>
          <p:nvPr/>
        </p:nvSpPr>
        <p:spPr>
          <a:xfrm>
            <a:off x="400000" y="309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批量数据文件导入</a:t>
            </a:r>
          </a:p>
        </p:txBody>
      </p:sp>
      <p:sp>
        <p:nvSpPr>
          <p:cNvPr id="14" name="m10"/>
          <p:cNvSpPr/>
          <p:nvPr/>
        </p:nvSpPr>
        <p:spPr>
          <a:xfrm>
            <a:off x="400000" y="333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文件检查确认</a:t>
            </a:r>
          </a:p>
        </p:txBody>
      </p:sp>
      <p:sp>
        <p:nvSpPr>
          <p:cNvPr id="15" name="m11"/>
          <p:cNvSpPr/>
          <p:nvPr/>
        </p:nvSpPr>
        <p:spPr>
          <a:xfrm>
            <a:off x="400000" y="3565000"/>
            <a:ext cx="4600000" cy="235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是否财政补贴资金</a:t>
            </a:r>
          </a:p>
        </p:txBody>
      </p:sp>
      <p:sp>
        <p:nvSpPr>
          <p:cNvPr id="16" name="b11"/>
          <p:cNvSpPr/>
          <p:nvPr/>
        </p:nvSpPr>
        <p:spPr>
          <a:xfrm>
            <a:off x="5300000" y="3607500"/>
            <a:ext cx="3100000" cy="15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影像资料上传</a:t>
            </a:r>
          </a:p>
        </p:txBody>
      </p:sp>
      <p:sp>
        <p:nvSpPr>
          <p:cNvPr id="17" name="m12"/>
          <p:cNvSpPr/>
          <p:nvPr/>
        </p:nvSpPr>
        <p:spPr>
          <a:xfrm>
            <a:off x="400000" y="380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交易确认提交</a:t>
            </a:r>
          </a:p>
        </p:txBody>
      </p:sp>
      <p:sp>
        <p:nvSpPr>
          <p:cNvPr id="18" name="m13"/>
          <p:cNvSpPr/>
          <p:nvPr/>
        </p:nvSpPr>
        <p:spPr>
          <a:xfrm>
            <a:off x="400000" y="403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柜外清签名确认</a:t>
            </a:r>
          </a:p>
        </p:txBody>
      </p:sp>
      <p:sp>
        <p:nvSpPr>
          <p:cNvPr id="19" name="m14"/>
          <p:cNvSpPr/>
          <p:nvPr/>
        </p:nvSpPr>
        <p:spPr>
          <a:xfrm>
            <a:off x="400000" y="427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提交集中作业</a:t>
            </a:r>
          </a:p>
        </p:txBody>
      </p:sp>
      <p:sp>
        <p:nvSpPr>
          <p:cNvPr id="20" name="m15"/>
          <p:cNvSpPr/>
          <p:nvPr/>
        </p:nvSpPr>
        <p:spPr>
          <a:xfrm>
            <a:off x="400000" y="450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业务受理成功</a:t>
            </a:r>
          </a:p>
        </p:txBody>
      </p:sp>
      <p:sp>
        <p:nvSpPr>
          <p:cNvPr id="21" name="m16"/>
          <p:cNvSpPr/>
          <p:nvPr/>
        </p:nvSpPr>
        <p:spPr>
          <a:xfrm>
            <a:off x="400000" y="474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服务评价</a:t>
            </a:r>
          </a:p>
        </p:txBody>
      </p:sp>
      <p:sp>
        <p:nvSpPr>
          <p:cNvPr id="22" name="m17"/>
          <p:cNvSpPr/>
          <p:nvPr/>
        </p:nvSpPr>
        <p:spPr>
          <a:xfrm>
            <a:off x="400000" y="4975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凭证及回单打印</a:t>
            </a:r>
          </a:p>
        </p:txBody>
      </p:sp>
      <p:sp>
        <p:nvSpPr>
          <p:cNvPr id="23" name="m18"/>
          <p:cNvSpPr/>
          <p:nvPr/>
        </p:nvSpPr>
        <p:spPr>
          <a:xfrm>
            <a:off x="400000" y="5210000"/>
            <a:ext cx="46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介质发放</a:t>
            </a:r>
          </a:p>
        </p:txBody>
      </p:sp>
      <p:sp>
        <p:nvSpPr>
          <p:cNvPr id="24" name="vl24"/>
          <p:cNvSpPr/>
          <p:nvPr/>
        </p:nvSpPr>
        <p:spPr>
          <a:xfrm>
            <a:off x="2695500" y="113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ah25"/>
          <p:cNvSpPr/>
          <p:nvPr/>
        </p:nvSpPr>
        <p:spPr>
          <a:xfrm rot="0">
            <a:off x="2681000" y="117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vl25"/>
          <p:cNvSpPr/>
          <p:nvPr/>
        </p:nvSpPr>
        <p:spPr>
          <a:xfrm>
            <a:off x="2695500" y="136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ah26"/>
          <p:cNvSpPr/>
          <p:nvPr/>
        </p:nvSpPr>
        <p:spPr>
          <a:xfrm rot="0">
            <a:off x="2681000" y="14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vl26"/>
          <p:cNvSpPr/>
          <p:nvPr/>
        </p:nvSpPr>
        <p:spPr>
          <a:xfrm>
            <a:off x="2695500" y="160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ah27"/>
          <p:cNvSpPr/>
          <p:nvPr/>
        </p:nvSpPr>
        <p:spPr>
          <a:xfrm rot="0">
            <a:off x="2681000" y="164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vl27"/>
          <p:cNvSpPr/>
          <p:nvPr/>
        </p:nvSpPr>
        <p:spPr>
          <a:xfrm>
            <a:off x="2695500" y="183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ah28"/>
          <p:cNvSpPr/>
          <p:nvPr/>
        </p:nvSpPr>
        <p:spPr>
          <a:xfrm rot="0">
            <a:off x="2681000" y="188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hl28"/>
          <p:cNvSpPr/>
          <p:nvPr/>
        </p:nvSpPr>
        <p:spPr>
          <a:xfrm>
            <a:off x="5000000" y="20330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ah29"/>
          <p:cNvSpPr/>
          <p:nvPr/>
        </p:nvSpPr>
        <p:spPr>
          <a:xfrm rot="0">
            <a:off x="5262000" y="20185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lb29"/>
          <p:cNvSpPr/>
          <p:nvPr/>
        </p:nvSpPr>
        <p:spPr>
          <a:xfrm>
            <a:off x="5090000" y="19575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30" name="vl30"/>
          <p:cNvSpPr/>
          <p:nvPr/>
        </p:nvSpPr>
        <p:spPr>
          <a:xfrm>
            <a:off x="2695500" y="2155000"/>
            <a:ext cx="9000" cy="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ah31"/>
          <p:cNvSpPr/>
          <p:nvPr/>
        </p:nvSpPr>
        <p:spPr>
          <a:xfrm rot="0">
            <a:off x="2681000" y="211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vl31"/>
          <p:cNvSpPr/>
          <p:nvPr/>
        </p:nvSpPr>
        <p:spPr>
          <a:xfrm>
            <a:off x="2695500" y="230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ah32"/>
          <p:cNvSpPr/>
          <p:nvPr/>
        </p:nvSpPr>
        <p:spPr>
          <a:xfrm rot="0">
            <a:off x="2681000" y="235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vl32"/>
          <p:cNvSpPr/>
          <p:nvPr/>
        </p:nvSpPr>
        <p:spPr>
          <a:xfrm>
            <a:off x="2695500" y="254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ah33"/>
          <p:cNvSpPr/>
          <p:nvPr/>
        </p:nvSpPr>
        <p:spPr>
          <a:xfrm rot="0">
            <a:off x="2681000" y="25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vl33"/>
          <p:cNvSpPr/>
          <p:nvPr/>
        </p:nvSpPr>
        <p:spPr>
          <a:xfrm>
            <a:off x="2695500" y="277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ah34"/>
          <p:cNvSpPr/>
          <p:nvPr/>
        </p:nvSpPr>
        <p:spPr>
          <a:xfrm rot="0">
            <a:off x="2681000" y="282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hl34"/>
          <p:cNvSpPr/>
          <p:nvPr/>
        </p:nvSpPr>
        <p:spPr>
          <a:xfrm>
            <a:off x="5000000" y="29730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ah35"/>
          <p:cNvSpPr/>
          <p:nvPr/>
        </p:nvSpPr>
        <p:spPr>
          <a:xfrm rot="0">
            <a:off x="5262000" y="29585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lb35"/>
          <p:cNvSpPr/>
          <p:nvPr/>
        </p:nvSpPr>
        <p:spPr>
          <a:xfrm>
            <a:off x="5090000" y="28975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375623"/>
                </a:solidFill>
              </a:rPr>
              <a:t>是/否</a:t>
            </a:r>
          </a:p>
        </p:txBody>
      </p:sp>
      <p:sp>
        <p:nvSpPr>
          <p:cNvPr id="36" name="vl36"/>
          <p:cNvSpPr/>
          <p:nvPr/>
        </p:nvSpPr>
        <p:spPr>
          <a:xfrm>
            <a:off x="2695500" y="3095000"/>
            <a:ext cx="9000" cy="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ah37"/>
          <p:cNvSpPr/>
          <p:nvPr/>
        </p:nvSpPr>
        <p:spPr>
          <a:xfrm rot="0">
            <a:off x="2681000" y="305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vl37"/>
          <p:cNvSpPr/>
          <p:nvPr/>
        </p:nvSpPr>
        <p:spPr>
          <a:xfrm>
            <a:off x="2695500" y="324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ah38"/>
          <p:cNvSpPr/>
          <p:nvPr/>
        </p:nvSpPr>
        <p:spPr>
          <a:xfrm rot="0">
            <a:off x="2681000" y="329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vl38"/>
          <p:cNvSpPr/>
          <p:nvPr/>
        </p:nvSpPr>
        <p:spPr>
          <a:xfrm>
            <a:off x="2695500" y="348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ah39"/>
          <p:cNvSpPr/>
          <p:nvPr/>
        </p:nvSpPr>
        <p:spPr>
          <a:xfrm rot="0">
            <a:off x="2681000" y="352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hl39"/>
          <p:cNvSpPr/>
          <p:nvPr/>
        </p:nvSpPr>
        <p:spPr>
          <a:xfrm>
            <a:off x="5000000" y="3678000"/>
            <a:ext cx="30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ah40"/>
          <p:cNvSpPr/>
          <p:nvPr/>
        </p:nvSpPr>
        <p:spPr>
          <a:xfrm rot="0">
            <a:off x="5262000" y="36635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lb40"/>
          <p:cNvSpPr/>
          <p:nvPr/>
        </p:nvSpPr>
        <p:spPr>
          <a:xfrm>
            <a:off x="5090000" y="36025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41" name="vl41"/>
          <p:cNvSpPr/>
          <p:nvPr/>
        </p:nvSpPr>
        <p:spPr>
          <a:xfrm>
            <a:off x="2695500" y="3800000"/>
            <a:ext cx="9000" cy="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ah42"/>
          <p:cNvSpPr/>
          <p:nvPr/>
        </p:nvSpPr>
        <p:spPr>
          <a:xfrm rot="0">
            <a:off x="2681000" y="37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vl42"/>
          <p:cNvSpPr/>
          <p:nvPr/>
        </p:nvSpPr>
        <p:spPr>
          <a:xfrm>
            <a:off x="2695500" y="395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ah43"/>
          <p:cNvSpPr/>
          <p:nvPr/>
        </p:nvSpPr>
        <p:spPr>
          <a:xfrm rot="0">
            <a:off x="2681000" y="399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vl43"/>
          <p:cNvSpPr/>
          <p:nvPr/>
        </p:nvSpPr>
        <p:spPr>
          <a:xfrm>
            <a:off x="2695500" y="418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ah44"/>
          <p:cNvSpPr/>
          <p:nvPr/>
        </p:nvSpPr>
        <p:spPr>
          <a:xfrm rot="0">
            <a:off x="2681000" y="423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vl44"/>
          <p:cNvSpPr/>
          <p:nvPr/>
        </p:nvSpPr>
        <p:spPr>
          <a:xfrm>
            <a:off x="2695500" y="442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ah45"/>
          <p:cNvSpPr/>
          <p:nvPr/>
        </p:nvSpPr>
        <p:spPr>
          <a:xfrm rot="0">
            <a:off x="2681000" y="446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vl45"/>
          <p:cNvSpPr/>
          <p:nvPr/>
        </p:nvSpPr>
        <p:spPr>
          <a:xfrm>
            <a:off x="2695500" y="465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ah46"/>
          <p:cNvSpPr/>
          <p:nvPr/>
        </p:nvSpPr>
        <p:spPr>
          <a:xfrm rot="0">
            <a:off x="2681000" y="470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vl46"/>
          <p:cNvSpPr/>
          <p:nvPr/>
        </p:nvSpPr>
        <p:spPr>
          <a:xfrm>
            <a:off x="2695500" y="489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ah47"/>
          <p:cNvSpPr/>
          <p:nvPr/>
        </p:nvSpPr>
        <p:spPr>
          <a:xfrm rot="0">
            <a:off x="2681000" y="49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vl47"/>
          <p:cNvSpPr/>
          <p:nvPr/>
        </p:nvSpPr>
        <p:spPr>
          <a:xfrm>
            <a:off x="2695500" y="512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ah48"/>
          <p:cNvSpPr/>
          <p:nvPr/>
        </p:nvSpPr>
        <p:spPr>
          <a:xfrm rot="0">
            <a:off x="2681000" y="517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