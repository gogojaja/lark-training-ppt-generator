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hd"/>
          <p:cNvSpPr/>
          <p:nvPr/>
        </p:nvSpPr>
        <p:spPr>
          <a:xfrm>
            <a:off x="0" y="0"/>
            <a:ext cx="12192000" cy="850000"/>
          </a:xfrm>
          <a:prstGeom prst="roundRect">
            <a:avLst>
              <a:gd name="adj" fval="8000"/>
            </a:avLst>
          </a:prstGeom>
          <a:solidFill>
            <a:srgbClr val="1F3864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2600" b="1" dirty="0">
                <a:solidFill>
                  <a:srgbClr val="FFFFFF"/>
                </a:solidFill>
              </a:rPr>
              <a:t>综合账户激活业务办理流程（柜面）</a:t>
            </a:r>
          </a:p>
        </p:txBody>
      </p:sp>
      <p:sp>
        <p:nvSpPr>
          <p:cNvPr id="2" name="m0"/>
          <p:cNvSpPr/>
          <p:nvPr/>
        </p:nvSpPr>
        <p:spPr>
          <a:xfrm>
            <a:off x="900000" y="1000000"/>
            <a:ext cx="2600000" cy="216000"/>
          </a:xfrm>
          <a:prstGeom prst="roundRect">
            <a:avLst>
              <a:gd name="adj" fval="8000"/>
            </a:avLst>
          </a:prstGeom>
          <a:solidFill>
            <a:srgbClr val="C6EFCE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006100"/>
                </a:solidFill>
              </a:rPr>
              <a:t>客户到达网点取号</a:t>
            </a:r>
          </a:p>
        </p:txBody>
      </p:sp>
      <p:sp>
        <p:nvSpPr>
          <p:cNvPr id="3" name="m1"/>
          <p:cNvSpPr/>
          <p:nvPr/>
        </p:nvSpPr>
        <p:spPr>
          <a:xfrm>
            <a:off x="900000" y="1275000"/>
            <a:ext cx="2600000" cy="216000"/>
          </a:xfrm>
          <a:prstGeom prst="roundRect">
            <a:avLst>
              <a:gd name="adj" fval="8000"/>
            </a:avLst>
          </a:prstGeom>
          <a:solidFill>
            <a:srgbClr val="C6EFCE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006100"/>
                </a:solidFill>
              </a:rPr>
              <a:t>厅堂人员Pad身份识别与分流</a:t>
            </a:r>
          </a:p>
        </p:txBody>
      </p:sp>
      <p:sp>
        <p:nvSpPr>
          <p:cNvPr id="4" name="m2"/>
          <p:cNvSpPr/>
          <p:nvPr/>
        </p:nvSpPr>
        <p:spPr>
          <a:xfrm>
            <a:off x="900000" y="1550000"/>
            <a:ext cx="2600000" cy="216000"/>
          </a:xfrm>
          <a:prstGeom prst="roundRect">
            <a:avLst>
              <a:gd name="adj" fval="8000"/>
            </a:avLst>
          </a:prstGeom>
          <a:solidFill>
            <a:srgbClr val="C6EFCE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006100"/>
                </a:solidFill>
              </a:rPr>
              <a:t>柜员输入交易代码030611进入场景</a:t>
            </a:r>
          </a:p>
        </p:txBody>
      </p:sp>
      <p:sp>
        <p:nvSpPr>
          <p:cNvPr id="5" name="m3"/>
          <p:cNvSpPr/>
          <p:nvPr/>
        </p:nvSpPr>
        <p:spPr>
          <a:xfrm>
            <a:off x="900000" y="1825000"/>
            <a:ext cx="2600000" cy="216000"/>
          </a:xfrm>
          <a:prstGeom prst="diamond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7F6000"/>
                </a:solidFill>
              </a:rPr>
              <a:t>选择证件类型并读取身份证件</a:t>
            </a:r>
          </a:p>
        </p:txBody>
      </p:sp>
      <p:sp>
        <p:nvSpPr>
          <p:cNvPr id="6" name="b3"/>
          <p:cNvSpPr/>
          <p:nvPr/>
        </p:nvSpPr>
        <p:spPr>
          <a:xfrm>
            <a:off x="3800000" y="1825000"/>
            <a:ext cx="2700000" cy="216000"/>
          </a:xfrm>
          <a:prstGeom prst="roundRect">
            <a:avLst>
              <a:gd name="adj" fval="8000"/>
            </a:avLst>
          </a:prstGeom>
          <a:solidFill>
            <a:srgbClr val="FCE4EC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900" b="1" dirty="0">
                <a:solidFill>
                  <a:srgbClr val="C00000"/>
                </a:solidFill>
              </a:rPr>
              <a:t>信息缺失→客户信息维护</a:t>
            </a:r>
          </a:p>
        </p:txBody>
      </p:sp>
      <p:sp>
        <p:nvSpPr>
          <p:cNvPr id="7" name="m4"/>
          <p:cNvSpPr/>
          <p:nvPr/>
        </p:nvSpPr>
        <p:spPr>
          <a:xfrm>
            <a:off x="900000" y="2100000"/>
            <a:ext cx="2600000" cy="216000"/>
          </a:xfrm>
          <a:prstGeom prst="diamond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7F6000"/>
                </a:solidFill>
              </a:rPr>
              <a:t>人脸识别身份核实</a:t>
            </a:r>
          </a:p>
        </p:txBody>
      </p:sp>
      <p:sp>
        <p:nvSpPr>
          <p:cNvPr id="8" name="b4"/>
          <p:cNvSpPr/>
          <p:nvPr/>
        </p:nvSpPr>
        <p:spPr>
          <a:xfrm>
            <a:off x="3800000" y="2100000"/>
            <a:ext cx="2700000" cy="216000"/>
          </a:xfrm>
          <a:prstGeom prst="roundRect">
            <a:avLst>
              <a:gd name="adj" fval="8000"/>
            </a:avLst>
          </a:prstGeom>
          <a:solidFill>
            <a:srgbClr val="FCE4EC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900" b="1" dirty="0">
                <a:solidFill>
                  <a:srgbClr val="C00000"/>
                </a:solidFill>
              </a:rPr>
              <a:t>不通过→上级现场审核</a:t>
            </a:r>
          </a:p>
        </p:txBody>
      </p:sp>
      <p:sp>
        <p:nvSpPr>
          <p:cNvPr id="9" name="m5"/>
          <p:cNvSpPr/>
          <p:nvPr/>
        </p:nvSpPr>
        <p:spPr>
          <a:xfrm>
            <a:off x="900000" y="2375000"/>
            <a:ext cx="2600000" cy="216000"/>
          </a:xfrm>
          <a:prstGeom prst="roundRect">
            <a:avLst>
              <a:gd name="adj" fval="8000"/>
            </a:avLst>
          </a:prstGeom>
          <a:solidFill>
            <a:srgbClr val="C6EFCE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006100"/>
                </a:solidFill>
              </a:rPr>
              <a:t>读取介质（IC卡/磁条卡/存折/存单）</a:t>
            </a:r>
          </a:p>
        </p:txBody>
      </p:sp>
      <p:sp>
        <p:nvSpPr>
          <p:cNvPr id="10" name="m6"/>
          <p:cNvSpPr/>
          <p:nvPr/>
        </p:nvSpPr>
        <p:spPr>
          <a:xfrm>
            <a:off x="900000" y="2650000"/>
            <a:ext cx="2600000" cy="216000"/>
          </a:xfrm>
          <a:prstGeom prst="diamond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7F6000"/>
                </a:solidFill>
              </a:rPr>
              <a:t>校验介质状态与账户状态</a:t>
            </a:r>
          </a:p>
        </p:txBody>
      </p:sp>
      <p:sp>
        <p:nvSpPr>
          <p:cNvPr id="11" name="b6"/>
          <p:cNvSpPr/>
          <p:nvPr/>
        </p:nvSpPr>
        <p:spPr>
          <a:xfrm>
            <a:off x="3800000" y="2650000"/>
            <a:ext cx="2700000" cy="216000"/>
          </a:xfrm>
          <a:prstGeom prst="roundRect">
            <a:avLst>
              <a:gd name="adj" fval="8000"/>
            </a:avLst>
          </a:prstGeom>
          <a:solidFill>
            <a:srgbClr val="FCE4EC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900" b="1" dirty="0">
                <a:solidFill>
                  <a:srgbClr val="C00000"/>
                </a:solidFill>
              </a:rPr>
              <a:t>状态异常→拒绝交易</a:t>
            </a:r>
          </a:p>
        </p:txBody>
      </p:sp>
      <p:sp>
        <p:nvSpPr>
          <p:cNvPr id="12" name="m7"/>
          <p:cNvSpPr/>
          <p:nvPr/>
        </p:nvSpPr>
        <p:spPr>
          <a:xfrm>
            <a:off x="900000" y="2925000"/>
            <a:ext cx="2600000" cy="216000"/>
          </a:xfrm>
          <a:prstGeom prst="diamond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7F6000"/>
                </a:solidFill>
              </a:rPr>
              <a:t>不动户验证原密码（仅密码类）</a:t>
            </a:r>
          </a:p>
        </p:txBody>
      </p:sp>
      <p:sp>
        <p:nvSpPr>
          <p:cNvPr id="13" name="b7"/>
          <p:cNvSpPr/>
          <p:nvPr/>
        </p:nvSpPr>
        <p:spPr>
          <a:xfrm>
            <a:off x="3800000" y="2925000"/>
            <a:ext cx="2700000" cy="216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900" b="1" dirty="0">
                <a:solidFill>
                  <a:srgbClr val="1F3864"/>
                </a:solidFill>
              </a:rPr>
              <a:t>非密码类→跳过验密</a:t>
            </a:r>
          </a:p>
        </p:txBody>
      </p:sp>
      <p:sp>
        <p:nvSpPr>
          <p:cNvPr id="14" name="m8"/>
          <p:cNvSpPr/>
          <p:nvPr/>
        </p:nvSpPr>
        <p:spPr>
          <a:xfrm>
            <a:off x="900000" y="3200000"/>
            <a:ext cx="2600000" cy="216000"/>
          </a:xfrm>
          <a:prstGeom prst="roundRect">
            <a:avLst>
              <a:gd name="adj" fval="8000"/>
            </a:avLst>
          </a:prstGeom>
          <a:solidFill>
            <a:srgbClr val="C6EFCE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006100"/>
                </a:solidFill>
              </a:rPr>
              <a:t>设置取款密码和查询密码</a:t>
            </a:r>
          </a:p>
        </p:txBody>
      </p:sp>
      <p:sp>
        <p:nvSpPr>
          <p:cNvPr id="15" name="m9"/>
          <p:cNvSpPr/>
          <p:nvPr/>
        </p:nvSpPr>
        <p:spPr>
          <a:xfrm>
            <a:off x="900000" y="3475000"/>
            <a:ext cx="2600000" cy="216000"/>
          </a:xfrm>
          <a:prstGeom prst="roundRect">
            <a:avLst>
              <a:gd name="adj" fval="8000"/>
            </a:avLst>
          </a:prstGeom>
          <a:solidFill>
            <a:srgbClr val="C6EFCE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006100"/>
                </a:solidFill>
              </a:rPr>
              <a:t>阅读账户协议（同号换卡跳过）</a:t>
            </a:r>
          </a:p>
        </p:txBody>
      </p:sp>
      <p:sp>
        <p:nvSpPr>
          <p:cNvPr id="16" name="m10"/>
          <p:cNvSpPr/>
          <p:nvPr/>
        </p:nvSpPr>
        <p:spPr>
          <a:xfrm>
            <a:off x="900000" y="3750000"/>
            <a:ext cx="2600000" cy="216000"/>
          </a:xfrm>
          <a:prstGeom prst="roundRect">
            <a:avLst>
              <a:gd name="adj" fval="8000"/>
            </a:avLst>
          </a:prstGeom>
          <a:solidFill>
            <a:srgbClr val="C6EFCE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006100"/>
                </a:solidFill>
              </a:rPr>
              <a:t>业务信息确认与电子签名</a:t>
            </a:r>
          </a:p>
        </p:txBody>
      </p:sp>
      <p:sp>
        <p:nvSpPr>
          <p:cNvPr id="17" name="m11"/>
          <p:cNvSpPr/>
          <p:nvPr/>
        </p:nvSpPr>
        <p:spPr>
          <a:xfrm>
            <a:off x="900000" y="4025000"/>
            <a:ext cx="2600000" cy="216000"/>
          </a:xfrm>
          <a:prstGeom prst="roundRect">
            <a:avLst>
              <a:gd name="adj" fval="8000"/>
            </a:avLst>
          </a:prstGeom>
          <a:solidFill>
            <a:srgbClr val="C6EFCE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006100"/>
                </a:solidFill>
              </a:rPr>
              <a:t>凭证打印与回单服务</a:t>
            </a:r>
          </a:p>
        </p:txBody>
      </p:sp>
      <p:sp>
        <p:nvSpPr>
          <p:cNvPr id="18" name="m12"/>
          <p:cNvSpPr/>
          <p:nvPr/>
        </p:nvSpPr>
        <p:spPr>
          <a:xfrm>
            <a:off x="900000" y="4300000"/>
            <a:ext cx="2600000" cy="216000"/>
          </a:xfrm>
          <a:prstGeom prst="roundRect">
            <a:avLst>
              <a:gd name="adj" fval="8000"/>
            </a:avLst>
          </a:prstGeom>
          <a:solidFill>
            <a:srgbClr val="C6EFCE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006100"/>
                </a:solidFill>
              </a:rPr>
              <a:t>客户评价（非常满意/满意/不满意）</a:t>
            </a:r>
          </a:p>
        </p:txBody>
      </p:sp>
      <p:sp>
        <p:nvSpPr>
          <p:cNvPr id="19" name="m13"/>
          <p:cNvSpPr/>
          <p:nvPr/>
        </p:nvSpPr>
        <p:spPr>
          <a:xfrm>
            <a:off x="900000" y="4575000"/>
            <a:ext cx="2600000" cy="216000"/>
          </a:xfrm>
          <a:prstGeom prst="roundRect">
            <a:avLst>
              <a:gd name="adj" fval="8000"/>
            </a:avLst>
          </a:prstGeom>
          <a:solidFill>
            <a:srgbClr val="C6EFCE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006100"/>
                </a:solidFill>
              </a:rPr>
              <a:t>系统质检与自动归档</a:t>
            </a:r>
          </a:p>
        </p:txBody>
      </p:sp>
      <p:sp>
        <p:nvSpPr>
          <p:cNvPr id="20" name="vl20"/>
          <p:cNvSpPr/>
          <p:nvPr/>
        </p:nvSpPr>
        <p:spPr>
          <a:xfrm>
            <a:off x="2195500" y="1216000"/>
            <a:ext cx="9000" cy="5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ah21"/>
          <p:cNvSpPr/>
          <p:nvPr/>
        </p:nvSpPr>
        <p:spPr>
          <a:xfrm rot="0">
            <a:off x="2181000" y="1237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vl21"/>
          <p:cNvSpPr/>
          <p:nvPr/>
        </p:nvSpPr>
        <p:spPr>
          <a:xfrm>
            <a:off x="2195500" y="1491000"/>
            <a:ext cx="9000" cy="5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ah22"/>
          <p:cNvSpPr/>
          <p:nvPr/>
        </p:nvSpPr>
        <p:spPr>
          <a:xfrm rot="0">
            <a:off x="2181000" y="1512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vl22"/>
          <p:cNvSpPr/>
          <p:nvPr/>
        </p:nvSpPr>
        <p:spPr>
          <a:xfrm>
            <a:off x="2195500" y="1766000"/>
            <a:ext cx="9000" cy="5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ah23"/>
          <p:cNvSpPr/>
          <p:nvPr/>
        </p:nvSpPr>
        <p:spPr>
          <a:xfrm rot="0">
            <a:off x="2181000" y="1787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hl23"/>
          <p:cNvSpPr/>
          <p:nvPr/>
        </p:nvSpPr>
        <p:spPr>
          <a:xfrm>
            <a:off x="3500000" y="1928500"/>
            <a:ext cx="300000" cy="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ah24"/>
          <p:cNvSpPr/>
          <p:nvPr/>
        </p:nvSpPr>
        <p:spPr>
          <a:xfrm rot="0">
            <a:off x="3762000" y="1914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lb24"/>
          <p:cNvSpPr/>
          <p:nvPr/>
        </p:nvSpPr>
        <p:spPr>
          <a:xfrm>
            <a:off x="3610000" y="185300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zh-CN" sz="1100" b="1" dirty="0">
                <a:solidFill>
                  <a:srgbClr val="C00000"/>
                </a:solidFill>
              </a:rPr>
              <a:t>缺失</a:t>
            </a:r>
          </a:p>
        </p:txBody>
      </p:sp>
      <p:sp>
        <p:nvSpPr>
          <p:cNvPr id="25" name="vl25"/>
          <p:cNvSpPr/>
          <p:nvPr/>
        </p:nvSpPr>
        <p:spPr>
          <a:xfrm>
            <a:off x="2195500" y="2041000"/>
            <a:ext cx="9000" cy="5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ah26"/>
          <p:cNvSpPr/>
          <p:nvPr/>
        </p:nvSpPr>
        <p:spPr>
          <a:xfrm rot="0">
            <a:off x="2181000" y="2062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hl26"/>
          <p:cNvSpPr/>
          <p:nvPr/>
        </p:nvSpPr>
        <p:spPr>
          <a:xfrm>
            <a:off x="3500000" y="2203500"/>
            <a:ext cx="300000" cy="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ah27"/>
          <p:cNvSpPr/>
          <p:nvPr/>
        </p:nvSpPr>
        <p:spPr>
          <a:xfrm rot="0">
            <a:off x="3762000" y="2189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lb27"/>
          <p:cNvSpPr/>
          <p:nvPr/>
        </p:nvSpPr>
        <p:spPr>
          <a:xfrm>
            <a:off x="3610000" y="212800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zh-CN" sz="1100" b="1" dirty="0">
                <a:solidFill>
                  <a:srgbClr val="C00000"/>
                </a:solidFill>
              </a:rPr>
              <a:t>不通过</a:t>
            </a:r>
          </a:p>
        </p:txBody>
      </p:sp>
      <p:sp>
        <p:nvSpPr>
          <p:cNvPr id="28" name="vl28"/>
          <p:cNvSpPr/>
          <p:nvPr/>
        </p:nvSpPr>
        <p:spPr>
          <a:xfrm>
            <a:off x="2195500" y="2316000"/>
            <a:ext cx="9000" cy="5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ah29"/>
          <p:cNvSpPr/>
          <p:nvPr/>
        </p:nvSpPr>
        <p:spPr>
          <a:xfrm rot="0">
            <a:off x="2181000" y="2337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vl29"/>
          <p:cNvSpPr/>
          <p:nvPr/>
        </p:nvSpPr>
        <p:spPr>
          <a:xfrm>
            <a:off x="2195500" y="2591000"/>
            <a:ext cx="9000" cy="5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ah30"/>
          <p:cNvSpPr/>
          <p:nvPr/>
        </p:nvSpPr>
        <p:spPr>
          <a:xfrm rot="0">
            <a:off x="2181000" y="2612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hl30"/>
          <p:cNvSpPr/>
          <p:nvPr/>
        </p:nvSpPr>
        <p:spPr>
          <a:xfrm>
            <a:off x="3500000" y="2753500"/>
            <a:ext cx="300000" cy="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ah31"/>
          <p:cNvSpPr/>
          <p:nvPr/>
        </p:nvSpPr>
        <p:spPr>
          <a:xfrm rot="0">
            <a:off x="3762000" y="2739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lb31"/>
          <p:cNvSpPr/>
          <p:nvPr/>
        </p:nvSpPr>
        <p:spPr>
          <a:xfrm>
            <a:off x="3610000" y="267800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zh-CN" sz="1100" b="1" dirty="0">
                <a:solidFill>
                  <a:srgbClr val="C00000"/>
                </a:solidFill>
              </a:rPr>
              <a:t>异常</a:t>
            </a:r>
          </a:p>
        </p:txBody>
      </p:sp>
      <p:sp>
        <p:nvSpPr>
          <p:cNvPr id="32" name="vl32"/>
          <p:cNvSpPr/>
          <p:nvPr/>
        </p:nvSpPr>
        <p:spPr>
          <a:xfrm>
            <a:off x="2195500" y="2866000"/>
            <a:ext cx="9000" cy="5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ah33"/>
          <p:cNvSpPr/>
          <p:nvPr/>
        </p:nvSpPr>
        <p:spPr>
          <a:xfrm rot="0">
            <a:off x="2181000" y="2887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hl33"/>
          <p:cNvSpPr/>
          <p:nvPr/>
        </p:nvSpPr>
        <p:spPr>
          <a:xfrm>
            <a:off x="3500000" y="3028500"/>
            <a:ext cx="300000" cy="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ah34"/>
          <p:cNvSpPr/>
          <p:nvPr/>
        </p:nvSpPr>
        <p:spPr>
          <a:xfrm rot="0">
            <a:off x="3762000" y="3014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lb34"/>
          <p:cNvSpPr/>
          <p:nvPr/>
        </p:nvSpPr>
        <p:spPr>
          <a:xfrm>
            <a:off x="3610000" y="295300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zh-CN" sz="1100" b="1" dirty="0">
                <a:solidFill>
                  <a:srgbClr val="1F3864"/>
                </a:solidFill>
              </a:rPr>
              <a:t>非密码</a:t>
            </a:r>
          </a:p>
        </p:txBody>
      </p:sp>
      <p:sp>
        <p:nvSpPr>
          <p:cNvPr id="35" name="vl35"/>
          <p:cNvSpPr/>
          <p:nvPr/>
        </p:nvSpPr>
        <p:spPr>
          <a:xfrm>
            <a:off x="2195500" y="3141000"/>
            <a:ext cx="9000" cy="5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ah36"/>
          <p:cNvSpPr/>
          <p:nvPr/>
        </p:nvSpPr>
        <p:spPr>
          <a:xfrm rot="0">
            <a:off x="2181000" y="3162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vl36"/>
          <p:cNvSpPr/>
          <p:nvPr/>
        </p:nvSpPr>
        <p:spPr>
          <a:xfrm>
            <a:off x="2195500" y="3416000"/>
            <a:ext cx="9000" cy="5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ah37"/>
          <p:cNvSpPr/>
          <p:nvPr/>
        </p:nvSpPr>
        <p:spPr>
          <a:xfrm rot="0">
            <a:off x="2181000" y="3437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vl37"/>
          <p:cNvSpPr/>
          <p:nvPr/>
        </p:nvSpPr>
        <p:spPr>
          <a:xfrm>
            <a:off x="2195500" y="3691000"/>
            <a:ext cx="9000" cy="5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ah38"/>
          <p:cNvSpPr/>
          <p:nvPr/>
        </p:nvSpPr>
        <p:spPr>
          <a:xfrm rot="0">
            <a:off x="2181000" y="3712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vl38"/>
          <p:cNvSpPr/>
          <p:nvPr/>
        </p:nvSpPr>
        <p:spPr>
          <a:xfrm>
            <a:off x="2195500" y="3966000"/>
            <a:ext cx="9000" cy="5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ah39"/>
          <p:cNvSpPr/>
          <p:nvPr/>
        </p:nvSpPr>
        <p:spPr>
          <a:xfrm rot="0">
            <a:off x="2181000" y="3987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vl39"/>
          <p:cNvSpPr/>
          <p:nvPr/>
        </p:nvSpPr>
        <p:spPr>
          <a:xfrm>
            <a:off x="2195500" y="4241000"/>
            <a:ext cx="9000" cy="5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ah40"/>
          <p:cNvSpPr/>
          <p:nvPr/>
        </p:nvSpPr>
        <p:spPr>
          <a:xfrm rot="0">
            <a:off x="2181000" y="4262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vl40"/>
          <p:cNvSpPr/>
          <p:nvPr/>
        </p:nvSpPr>
        <p:spPr>
          <a:xfrm>
            <a:off x="2195500" y="4516000"/>
            <a:ext cx="9000" cy="5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ah41"/>
          <p:cNvSpPr/>
          <p:nvPr/>
        </p:nvSpPr>
        <p:spPr>
          <a:xfrm rot="0">
            <a:off x="2181000" y="4537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Microsoft YaHei"/>
      </a:majorFont>
      <a:minorFont>
        <a:latin typeface="Microsoft YaHei"/>
        <a:ea typeface="Microsoft YaHei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lark-training-ppt-generator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流程图</dc:title>
  <dc:creator>lark-training-ppt-generator</dc:creator>
</cp:coreProperties>
</file>