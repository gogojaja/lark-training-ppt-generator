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 name="title"/>
          <p:cNvSpPr/>
          <p:nvPr/>
        </p:nvSpPr>
        <p:spPr>
          <a:xfrm>
            <a:off x="1000000" y="2500000"/>
            <a:ext cx="10192000" cy="1500000"/>
          </a:xfrm>
          <a:prstGeom prst="roundRect">
            <a:avLst>
              <a:gd name="adj" fval="8000"/>
            </a:avLst>
          </a:prstGeom>
          <a:solidFill>
            <a:srgbClr val="1F3864"/>
          </a:solidFill>
          <a:ln w="9525">
            <a:solidFill>
              <a:srgbClr val="1F3864"/>
            </a:solidFill>
          </a:ln>
        </p:spPr>
        <p:txBody>
          <a:bodyPr wrap="square" anchor="ctr" lIns="91440" rIns="91440" tIns="45720" bIns="45720"/>
          <a:lstStyle/>
          <a:p>
            <a:pPr algn="ctr"/>
            <a:r>
              <a:rPr lang="zh-CN" sz="4000" b="1" dirty="0">
                <a:solidFill>
                  <a:srgbClr val="FFFFFF"/>
                </a:solidFill>
              </a:rPr>
              <a:t>个人批量开户</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2800" b="1" dirty="0">
                <a:solidFill>
                  <a:srgbClr val="006100"/>
                </a:solidFill>
              </a:rPr>
              <a:t>场景说明</a:t>
            </a:r>
          </a:p>
        </p:txBody>
      </p:sp>
      <p:sp>
        <p:nvSpPr>
          <p:cNvPr id="2" name="content"/>
          <p:cNvSpPr/>
          <p:nvPr/>
        </p:nvSpPr>
        <p:spPr>
          <a:xfrm>
            <a:off x="500000" y="1000000"/>
            <a:ext cx="11192000" cy="5658000"/>
          </a:xfrm>
          <a:prstGeom prst="rect">
            <a:avLst/>
          </a:prstGeom>
          <a:solidFill>
            <a:srgbClr val="C6EFCE"/>
          </a:solidFill>
          <a:ln w="9525">
            <a:solidFill>
              <a:srgbClr val="808080"/>
            </a:solidFill>
          </a:ln>
        </p:spPr>
        <p:txBody>
          <a:bodyPr wrap="square" anchor="t" lIns="91440" rIns="91440" tIns="91440" bIns="91440"/>
          <a:lstStyle/>
          <a:p>
            <a:pPr algn="l" marL="91440"/>
            <a:r>
              <a:rPr lang="zh-CN" sz="1400" b="0" dirty="0">
                <a:solidFill>
                  <a:srgbClr val="006100"/>
                </a:solidFill>
              </a:rPr>
              <a:t>受申请单位委托，为其批量办理开 立个人银行账户，主要包括批量开立借记卡（I、II 类个人结算账 户）、存折、存单。办理个人批量开户业务时，代理人通过柜面进 行业务办理。</a:t>
            </a:r>
          </a:p>
          <a:p>
            <a:pPr algn="l" marL="91440"/>
            <a:r>
              <a:rPr lang="zh-CN" sz="1400" b="0" dirty="0">
                <a:solidFill>
                  <a:srgbClr val="006100"/>
                </a:solidFill>
              </a:rPr>
              <a:t>我社为客户提供制式批量开户代发委托协议，由代理人按要求进行填写，完成委托协议签订，进行个人批量开户业务办 理。 2.我社为单位提供个人批量开户，包含个人结算账户、储蓄户 的开立服务，同时支持零余额开户及非零余额开户处理(开立存单 时不支持零余额开户，开户金额 50 元以上)。 3.我社为被代理人提供批量开立银行卡、存折、存单。 4.本场景支持证件类型：二代居民身份证、户口簿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2800" b="1" dirty="0">
                <a:solidFill>
                  <a:srgbClr val="006100"/>
                </a:solidFill>
              </a:rPr>
              <a:t>业务规则</a:t>
            </a:r>
          </a:p>
        </p:txBody>
      </p:sp>
      <p:sp>
        <p:nvSpPr>
          <p:cNvPr id="2" name="content"/>
          <p:cNvSpPr/>
          <p:nvPr/>
        </p:nvSpPr>
        <p:spPr>
          <a:xfrm>
            <a:off x="500000" y="1000000"/>
            <a:ext cx="11192000" cy="5658000"/>
          </a:xfrm>
          <a:prstGeom prst="rect">
            <a:avLst/>
          </a:prstGeom>
          <a:solidFill>
            <a:srgbClr val="C6EFCE"/>
          </a:solidFill>
          <a:ln w="9525">
            <a:solidFill>
              <a:srgbClr val="808080"/>
            </a:solidFill>
          </a:ln>
        </p:spPr>
        <p:txBody>
          <a:bodyPr wrap="square" anchor="t" lIns="91440" rIns="91440" tIns="91440" bIns="91440"/>
          <a:lstStyle/>
          <a:p>
            <a:pPr algn="l" marL="91440"/>
            <a:r>
              <a:rPr lang="zh-CN" sz="1400" b="0" dirty="0">
                <a:solidFill>
                  <a:srgbClr val="006100"/>
                </a:solidFill>
              </a:rPr>
              <a:t>客户办理个人批量开户，通过柜面进行业务办理。柜面支持委托代理人持个人有效身份证件进行业务办理，证件类型包括：二代居民身份证、港澳台通行证、外国人居住证。</a:t>
            </a:r>
          </a:p>
          <a:p>
            <a:pPr algn="l" marL="91440"/>
            <a:r>
              <a:rPr lang="zh-CN" sz="1400" b="0" dirty="0">
                <a:solidFill>
                  <a:srgbClr val="006100"/>
                </a:solidFill>
              </a:rPr>
              <a:t>个人批量开户必须进行客户身份核实，客户身份证件因过期、虚假未验证通过，不允许办理批量开户业务。</a:t>
            </a:r>
          </a:p>
          <a:p>
            <a:pPr algn="l" marL="91440"/>
            <a:r>
              <a:rPr lang="zh-CN" sz="1400" b="0" dirty="0">
                <a:solidFill>
                  <a:srgbClr val="006100"/>
                </a:solidFill>
              </a:rPr>
              <a:t>业务办理时，需要对客户进行联网核查，同时进行人脸识别，姓名、身份证号码和照片存在一项或多项不一致的，作为疑义身份信息进一步核实（“公民身份号码存在，但与姓名不匹配”、“公民身份号码不存在”不通过，则拒绝交易；“公民身份号码存在，但与姓名不匹配”、“公民身份号码不存在”不通过，则拒绝交易；“公民身份号码与姓名一致，且存在照片”，核查通过，则继续交易。“联网核查结果无照片”需要人工审核，审核通过，则继续交易）；留存的居民身份证或临时身份证复印件已过有效期，或姓名为手写、生僻字难以识别的，应要求客户重新提交居民身份证原件进行核查。</a:t>
            </a:r>
          </a:p>
          <a:p>
            <a:pPr algn="l" marL="91440"/>
            <a:r>
              <a:rPr lang="zh-CN" sz="1400" b="0" dirty="0">
                <a:solidFill>
                  <a:srgbClr val="006100"/>
                </a:solidFill>
              </a:rPr>
              <a:t>单位可为存款人代理办理开立代发工资、教育、社会保障（如社保、医保、军保）、公共管理（如公共事业、拆迁、捐助、助农扶农）等特殊用途个人银行账户。单位代理个人开立银行账户的，应提供单位证明材料、被代理人有效身份证件的复印件或影印件（不满十六周岁的，可以使用居民身份证或户口薄）。单位代理开立的个人银行账户，在激活前只收不付。</a:t>
            </a:r>
          </a:p>
          <a:p>
            <a:pPr algn="l" marL="91440"/>
            <a:r>
              <a:rPr lang="zh-CN" sz="1400" b="0" dirty="0">
                <a:solidFill>
                  <a:srgbClr val="006100"/>
                </a:solidFill>
              </a:rPr>
              <a:t>批量开立个人银行结算账户数量控制规则与个人综合开户个人银行结算账户数量控制规则一致。</a:t>
            </a:r>
          </a:p>
          <a:p>
            <a:pPr algn="l" marL="91440"/>
            <a:r>
              <a:rPr lang="zh-CN" sz="1400" b="0" dirty="0">
                <a:solidFill>
                  <a:srgbClr val="006100"/>
                </a:solidFill>
              </a:rPr>
              <a:t>批量开户前柜员应对重空尾箱进行检查，确保尾箱重空数量充足。</a:t>
            </a:r>
          </a:p>
          <a:p>
            <a:pPr algn="l" marL="91440"/>
            <a:r>
              <a:rPr lang="zh-CN" sz="1400" b="0" dirty="0">
                <a:solidFill>
                  <a:srgbClr val="006100"/>
                </a:solidFill>
              </a:rPr>
              <a:t>涉及现金开户时，需要对现金进行冠字号码登记，收款过程中遇到假币时应优先完成假币收缴再继续办理业务。</a:t>
            </a:r>
          </a:p>
          <a:p>
            <a:pPr algn="l" marL="91440"/>
            <a:r>
              <a:rPr lang="zh-CN" sz="1400" b="0" dirty="0">
                <a:solidFill>
                  <a:srgbClr val="006100"/>
                </a:solidFill>
              </a:rPr>
              <a:t>为单位提供个人批量开户，包含个人结算账户、储蓄户的开立，同时支持零余额开户和非零余额开户业务。（开立存单不支持零余额开户，开户金额大于等于50元）</a:t>
            </a:r>
          </a:p>
          <a:p>
            <a:pPr algn="l" marL="91440"/>
            <a:r>
              <a:rPr lang="zh-CN" sz="1400" b="0" dirty="0">
                <a:solidFill>
                  <a:srgbClr val="006100"/>
                </a:solidFill>
              </a:rPr>
              <a:t>个人批量开户业务对被代理人开立银行账户时只能开立固定一种介质，且账户类型也为固定一种，不能混开。</a:t>
            </a:r>
          </a:p>
          <a:p>
            <a:pPr algn="l" marL="91440"/>
            <a:r>
              <a:rPr lang="zh-CN" sz="1400" b="0" dirty="0">
                <a:solidFill>
                  <a:srgbClr val="006100"/>
                </a:solidFill>
              </a:rPr>
              <a:t>根据省联社转发人民银行《支付业务风险提示》（2021年第3期）通知【陕农信联社办函〔2022〕6号】相关要求，办理批量开户业务时经办网点需向联社财务部门提交个人批量业务办理审批表，经联社审批通过后方可进行业务办理。</a:t>
            </a:r>
          </a:p>
          <a:p>
            <a:pPr algn="l" marL="91440"/>
            <a:r>
              <a:rPr lang="zh-CN" sz="1400" b="0" dirty="0">
                <a:solidFill>
                  <a:srgbClr val="006100"/>
                </a:solidFill>
              </a:rPr>
              <a:t>个人批量开户支持“乡村振兴 主题卡普卡”批量开户，包 括 I 类户、II 类户。</a:t>
            </a:r>
          </a:p>
          <a:p>
            <a:pPr algn="l" marL="91440"/>
            <a:r>
              <a:rPr lang="zh-CN" sz="1400" b="0" dirty="0">
                <a:solidFill>
                  <a:srgbClr val="006100"/>
                </a:solidFill>
              </a:rPr>
              <a:t>相关授权资料见附件1《新场景授权业务前端上传资料清单》。</a:t>
            </a:r>
          </a:p>
          <a:p>
            <a:pPr algn="l" marL="91440"/>
            <a:r>
              <a:rPr lang="zh-CN" sz="1400" b="0" dirty="0">
                <a:solidFill>
                  <a:srgbClr val="006100"/>
                </a:solidFill>
              </a:rPr>
              <a:t>字段输入规则</a:t>
            </a:r>
          </a:p>
          <a:p>
            <a:pPr algn="l" marL="91440"/>
            <a:r>
              <a:rPr lang="zh-CN" sz="1400" b="0" dirty="0">
                <a:solidFill>
                  <a:srgbClr val="006100"/>
                </a:solidFill>
              </a:rPr>
              <a:t>证件类型支持选择：242-统一社会信用证、252-民办非企业登记证书、253-宗教活动场所登记证、254-事业单位法人证书、255-社会团体法人登记证书、292-批文号。</a:t>
            </a:r>
          </a:p>
          <a:p>
            <a:pPr algn="l" marL="91440"/>
            <a:r>
              <a:rPr lang="zh-CN" sz="1400" b="0" dirty="0">
                <a:solidFill>
                  <a:srgbClr val="006100"/>
                </a:solidFill>
              </a:rPr>
              <a:t>业务类型支持选择：001-批量存折开户、002-开无折卡（一卡通）、004-批量整整定期存单开户、005-批量定活两便存单开户、006-批量活期存单开户、009-批量开二类户、010-批量未成年人卡和012-批量未成年人二类户。开户种类支持选择：非0余额开户和0余额开户。是否财政补贴资金支持选择：01-是和02-否。</a:t>
            </a:r>
          </a:p>
          <a:p>
            <a:pPr algn="l" marL="91440"/>
            <a:r>
              <a:rPr lang="zh-CN" sz="1400" b="0" dirty="0">
                <a:solidFill>
                  <a:srgbClr val="006100"/>
                </a:solidFill>
              </a:rPr>
              <a:t>凭证管理</a:t>
            </a:r>
          </a:p>
          <a:p>
            <a:pPr algn="l" marL="91440"/>
            <a:r>
              <a:rPr lang="zh-CN" sz="1400" b="0" dirty="0">
                <a:solidFill>
                  <a:srgbClr val="006100"/>
                </a:solidFill>
              </a:rPr>
              <a:t>业务办理完成后，需客户在柜外清确认批量开户用途、联系人、单位电话、客户名称、协议有效期、总金额信息，确认完成后进行签字，行内系统对外生成客户回单、介质（存单、存折、银行卡），对内生成开户电子凭证、记账凭证。</a:t>
            </a:r>
          </a:p>
          <a:p>
            <a:pPr algn="l" marL="91440"/>
            <a:r>
              <a:rPr lang="zh-CN" sz="1400" b="0" dirty="0">
                <a:solidFill>
                  <a:srgbClr val="006100"/>
                </a:solidFill>
              </a:rPr>
              <a:t>通过无纸化档案系统将记账信息、业务凭证、客户影像、身份证影像、联网核查、开户身份证复印件影像、代理协议、发卡登记簿、开销户登记簿进行电子档案归档。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1F3864"/>
          </a:solidFill>
          <a:ln w="9525">
            <a:solidFill>
              <a:srgbClr val="1F3864"/>
            </a:solidFill>
          </a:ln>
        </p:spPr>
        <p:txBody>
          <a:bodyPr wrap="square" anchor="ctr" lIns="91440" rIns="91440" tIns="45720" bIns="45720"/>
          <a:lstStyle/>
          <a:p>
            <a:pPr algn="ctr"/>
            <a:r>
              <a:rPr lang="zh-CN" sz="2800" b="1" dirty="0">
                <a:solidFill>
                  <a:srgbClr val="FFFFFF"/>
                </a:solidFill>
              </a:rPr>
              <a:t>业务办理流程</a:t>
            </a:r>
          </a:p>
        </p:txBody>
      </p:sp>
      <p:sp>
        <p:nvSpPr>
          <p:cNvPr id="2" name="step1"/>
          <p:cNvSpPr/>
          <p:nvPr/>
        </p:nvSpPr>
        <p:spPr>
          <a:xfrm>
            <a:off x="2596000" y="1000000"/>
            <a:ext cx="7000000" cy="214363"/>
          </a:xfrm>
          <a:prstGeom prst="roundRect">
            <a:avLst>
              <a:gd name="adj" fval="8000"/>
            </a:avLst>
          </a:prstGeom>
          <a:solidFill>
            <a:srgbClr val="C00000"/>
          </a:solidFill>
          <a:ln w="9525">
            <a:solidFill>
              <a:srgbClr val="1F3864"/>
            </a:solidFill>
          </a:ln>
        </p:spPr>
        <p:txBody>
          <a:bodyPr wrap="square" anchor="ctr" lIns="91440" rIns="91440" tIns="45720" bIns="45720"/>
          <a:lstStyle/>
          <a:p>
            <a:pPr algn="ctr"/>
            <a:r>
              <a:rPr lang="zh-CN" sz="1400" b="1" dirty="0">
                <a:solidFill>
                  <a:srgbClr val="FFFFFF"/>
                </a:solidFill>
              </a:rPr>
              <a:t>柜员成功登录后，输入交易代码“026401”或场景名称进入“个人批量开户”场景界面。</a:t>
            </a:r>
          </a:p>
        </p:txBody>
      </p:sp>
      <p:cxnSp>
        <p:nvCxnSpPr>
          <p:cNvPr id="3" name="arrow3"/>
          <p:cNvCxnSpPr>
            <a:stCxn/>
            <a:endCxn/>
          </p:cNvCxnSpPr>
          <p:nvPr/>
        </p:nvCxnSpPr>
        <p:spPr>
          <a:xfrm flipV="0" rot="5400000">
            <a:off x="6096000" y="1364363"/>
            <a:ext cx="300000" cy="300000"/>
          </a:xfrm>
          <a:prstGeom prst="line">
            <a:avLst/>
          </a:prstGeom>
          <a:ln w="28575">
            <a:solidFill>
              <a:srgbClr val="1F3864"/>
            </a:solidFill>
            <a:headEnd type="none"/>
            <a:tailEnd type="triangle" w="med" len="med"/>
          </a:ln>
        </p:spPr>
        <p:txBody>
          <a:bodyPr/>
          <a:lstStyle/>
          <a:p/>
        </p:txBody>
      </p:cxnSp>
      <p:sp>
        <p:nvSpPr>
          <p:cNvPr id="4" name="step2"/>
          <p:cNvSpPr/>
          <p:nvPr/>
        </p:nvSpPr>
        <p:spPr>
          <a:xfrm>
            <a:off x="2596000" y="151436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成功进入交易界面，根据携带的有效证件选择对应的证件类型，可供选择的证件类型有：“二代身份证”、“港澳台居民居住证”、“外国人永久居留身份证”、“其他证件”。选择后，将有效身份证件放在证件读取区域（或者进行手工输入），查看证件信息无误后点击“下一步”进行人脸识别，人脸识别通过后点击“下一步”。若未存在客户信息或客户信息九要素缺失，则进行跳转至客户信息维护场景进行业务办理。</a:t>
            </a:r>
          </a:p>
        </p:txBody>
      </p:sp>
      <p:cxnSp>
        <p:nvCxnSpPr>
          <p:cNvPr id="5" name="arrow5"/>
          <p:cNvCxnSpPr>
            <a:stCxn/>
            <a:endCxn/>
          </p:cNvCxnSpPr>
          <p:nvPr/>
        </p:nvCxnSpPr>
        <p:spPr>
          <a:xfrm flipV="0" rot="5400000">
            <a:off x="6096000" y="1878726"/>
            <a:ext cx="300000" cy="300000"/>
          </a:xfrm>
          <a:prstGeom prst="line">
            <a:avLst/>
          </a:prstGeom>
          <a:ln w="28575">
            <a:solidFill>
              <a:srgbClr val="1F3864"/>
            </a:solidFill>
            <a:headEnd type="none"/>
            <a:tailEnd type="triangle" w="med" len="med"/>
          </a:ln>
        </p:spPr>
        <p:txBody>
          <a:bodyPr/>
          <a:lstStyle/>
          <a:p/>
        </p:txBody>
      </p:cxnSp>
      <p:sp>
        <p:nvSpPr>
          <p:cNvPr id="6" name="step3"/>
          <p:cNvSpPr/>
          <p:nvPr/>
        </p:nvSpPr>
        <p:spPr>
          <a:xfrm>
            <a:off x="2596000" y="2028726"/>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进入企业身份核实界面。根据客户携带企业证件填写“证件类型”“证件号码”，填写完成后，点击“核查请求”。</a:t>
            </a:r>
          </a:p>
        </p:txBody>
      </p:sp>
      <p:cxnSp>
        <p:nvCxnSpPr>
          <p:cNvPr id="7" name="arrow7"/>
          <p:cNvCxnSpPr>
            <a:stCxn/>
            <a:endCxn/>
          </p:cNvCxnSpPr>
          <p:nvPr/>
        </p:nvCxnSpPr>
        <p:spPr>
          <a:xfrm flipV="0" rot="5400000">
            <a:off x="6096000" y="2393089"/>
            <a:ext cx="300000" cy="300000"/>
          </a:xfrm>
          <a:prstGeom prst="line">
            <a:avLst/>
          </a:prstGeom>
          <a:ln w="28575">
            <a:solidFill>
              <a:srgbClr val="1F3864"/>
            </a:solidFill>
            <a:headEnd type="none"/>
            <a:tailEnd type="triangle" w="med" len="med"/>
          </a:ln>
        </p:spPr>
        <p:txBody>
          <a:bodyPr/>
          <a:lstStyle/>
          <a:p/>
        </p:txBody>
      </p:cxnSp>
      <p:sp>
        <p:nvSpPr>
          <p:cNvPr id="8" name="step4"/>
          <p:cNvSpPr/>
          <p:nvPr/>
        </p:nvSpPr>
        <p:spPr>
          <a:xfrm>
            <a:off x="2596000" y="2543089"/>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查看企业身份核查结果，确认无误后，点击“下一步”。</a:t>
            </a:r>
          </a:p>
        </p:txBody>
      </p:sp>
      <p:cxnSp>
        <p:nvCxnSpPr>
          <p:cNvPr id="9" name="arrow9"/>
          <p:cNvCxnSpPr>
            <a:stCxn/>
            <a:endCxn/>
          </p:cNvCxnSpPr>
          <p:nvPr/>
        </p:nvCxnSpPr>
        <p:spPr>
          <a:xfrm flipV="0" rot="5400000">
            <a:off x="6096000" y="2907452"/>
            <a:ext cx="300000" cy="300000"/>
          </a:xfrm>
          <a:prstGeom prst="line">
            <a:avLst/>
          </a:prstGeom>
          <a:ln w="28575">
            <a:solidFill>
              <a:srgbClr val="1F3864"/>
            </a:solidFill>
            <a:headEnd type="none"/>
            <a:tailEnd type="triangle" w="med" len="med"/>
          </a:ln>
        </p:spPr>
        <p:txBody>
          <a:bodyPr/>
          <a:lstStyle/>
          <a:p/>
        </p:txBody>
      </p:cxnSp>
      <p:sp>
        <p:nvSpPr>
          <p:cNvPr id="10" name="step5"/>
          <p:cNvSpPr/>
          <p:nvPr/>
        </p:nvSpPr>
        <p:spPr>
          <a:xfrm>
            <a:off x="2596000" y="3057452"/>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批量开户委托协议查询界面，勾选协议后，进入下一界面。若存在批量开户委托协议，点击“查询”，在下方查看委托协议，点击“编辑”进入协议编辑界面。若不存在委托协议，点击“新增”，进入协议新增界面。</a:t>
            </a:r>
          </a:p>
        </p:txBody>
      </p:sp>
      <p:cxnSp>
        <p:nvCxnSpPr>
          <p:cNvPr id="11" name="arrow11"/>
          <p:cNvCxnSpPr>
            <a:stCxn/>
            <a:endCxn/>
          </p:cNvCxnSpPr>
          <p:nvPr/>
        </p:nvCxnSpPr>
        <p:spPr>
          <a:xfrm flipV="0" rot="5400000">
            <a:off x="6096000" y="3421815"/>
            <a:ext cx="300000" cy="300000"/>
          </a:xfrm>
          <a:prstGeom prst="line">
            <a:avLst/>
          </a:prstGeom>
          <a:ln w="28575">
            <a:solidFill>
              <a:srgbClr val="1F3864"/>
            </a:solidFill>
            <a:headEnd type="none"/>
            <a:tailEnd type="triangle" w="med" len="med"/>
          </a:ln>
        </p:spPr>
        <p:txBody>
          <a:bodyPr/>
          <a:lstStyle/>
          <a:p/>
        </p:txBody>
      </p:cxnSp>
      <p:sp>
        <p:nvSpPr>
          <p:cNvPr id="12" name="step6"/>
          <p:cNvSpPr/>
          <p:nvPr/>
        </p:nvSpPr>
        <p:spPr>
          <a:xfrm>
            <a:off x="2596000" y="3571815"/>
            <a:ext cx="7000000" cy="278671"/>
          </a:xfrm>
          <a:prstGeom prst="diamond">
            <a:avLst/>
          </a:prstGeom>
          <a:solidFill>
            <a:srgbClr val="FFF2CC"/>
          </a:solidFill>
          <a:ln w="9525">
            <a:solidFill>
              <a:srgbClr val="BF9000"/>
            </a:solidFill>
          </a:ln>
        </p:spPr>
        <p:txBody>
          <a:bodyPr wrap="square" anchor="ctr" lIns="91440" rIns="91440" tIns="45720" bIns="45720"/>
          <a:lstStyle/>
          <a:p>
            <a:pPr algn="ctr"/>
            <a:r>
              <a:rPr lang="zh-CN" sz="1400" b="1" dirty="0">
                <a:solidFill>
                  <a:srgbClr val="7F6000"/>
                </a:solidFill>
              </a:rPr>
              <a:t>进入资料上传界面。根据客户需求，点击“模版下载”，填写相应字段信息，完成填写后，点击“文件选择”，上传相应的开户清单，点击“文件检查”，查看文件格式及内容是否有误。选择对应的开户信息进行模版下载，填写完成后，进行文件上传。确定信息无误后，点击“下一步”。</a:t>
            </a:r>
          </a:p>
        </p:txBody>
      </p:sp>
      <p:cxnSp>
        <p:nvCxnSpPr>
          <p:cNvPr id="13" name="arrow13"/>
          <p:cNvCxnSpPr>
            <a:stCxn/>
            <a:endCxn/>
          </p:cNvCxnSpPr>
          <p:nvPr/>
        </p:nvCxnSpPr>
        <p:spPr>
          <a:xfrm flipV="0" rot="5400000">
            <a:off x="6096000" y="4000486"/>
            <a:ext cx="300000" cy="300000"/>
          </a:xfrm>
          <a:prstGeom prst="line">
            <a:avLst/>
          </a:prstGeom>
          <a:ln w="28575">
            <a:solidFill>
              <a:srgbClr val="1F3864"/>
            </a:solidFill>
            <a:headEnd type="none"/>
            <a:tailEnd type="triangle" w="med" len="med"/>
          </a:ln>
        </p:spPr>
        <p:txBody>
          <a:bodyPr/>
          <a:lstStyle/>
          <a:p/>
        </p:txBody>
      </p:cxnSp>
      <p:sp>
        <p:nvSpPr>
          <p:cNvPr id="14" name="step7"/>
          <p:cNvSpPr/>
          <p:nvPr/>
        </p:nvSpPr>
        <p:spPr>
          <a:xfrm>
            <a:off x="2596000" y="4150486"/>
            <a:ext cx="7000000" cy="278671"/>
          </a:xfrm>
          <a:prstGeom prst="diamond">
            <a:avLst/>
          </a:prstGeom>
          <a:solidFill>
            <a:srgbClr val="FFF2CC"/>
          </a:solidFill>
          <a:ln w="9525">
            <a:solidFill>
              <a:srgbClr val="BF9000"/>
            </a:solidFill>
          </a:ln>
        </p:spPr>
        <p:txBody>
          <a:bodyPr wrap="square" anchor="ctr" lIns="91440" rIns="91440" tIns="45720" bIns="45720"/>
          <a:lstStyle/>
          <a:p>
            <a:pPr algn="ctr"/>
            <a:r>
              <a:rPr lang="zh-CN" sz="1400" b="1" dirty="0">
                <a:solidFill>
                  <a:srgbClr val="7F6000"/>
                </a:solidFill>
              </a:rPr>
              <a:t>若协议内容中“是否财政补贴资金”选择为“否”时，进行影像资料上传。将经办人身份证及机构审批文件在高拍仪进行拍照上传后，点击“下一步”。</a:t>
            </a:r>
          </a:p>
        </p:txBody>
      </p:sp>
      <p:cxnSp>
        <p:nvCxnSpPr>
          <p:cNvPr id="15" name="arrow15"/>
          <p:cNvCxnSpPr>
            <a:stCxn/>
            <a:endCxn/>
          </p:cNvCxnSpPr>
          <p:nvPr/>
        </p:nvCxnSpPr>
        <p:spPr>
          <a:xfrm flipV="0" rot="5400000">
            <a:off x="6096000" y="4579157"/>
            <a:ext cx="300000" cy="300000"/>
          </a:xfrm>
          <a:prstGeom prst="line">
            <a:avLst/>
          </a:prstGeom>
          <a:ln w="28575">
            <a:solidFill>
              <a:srgbClr val="1F3864"/>
            </a:solidFill>
            <a:headEnd type="none"/>
            <a:tailEnd type="triangle" w="med" len="med"/>
          </a:ln>
        </p:spPr>
        <p:txBody>
          <a:bodyPr/>
          <a:lstStyle/>
          <a:p/>
        </p:txBody>
      </p:cxnSp>
      <p:sp>
        <p:nvSpPr>
          <p:cNvPr id="16" name="step8"/>
          <p:cNvSpPr/>
          <p:nvPr/>
        </p:nvSpPr>
        <p:spPr>
          <a:xfrm>
            <a:off x="2596000" y="4729157"/>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进入交易确认界面，查看输入项无误后，点击“提交”，提醒客户由柜外清进行交易确认并完成正楷签名（需柜员审核确认）或指纹录入（无法进行签名时）后，点击“确认”，提交后台进行业务处理。</a:t>
            </a:r>
          </a:p>
        </p:txBody>
      </p:sp>
      <p:cxnSp>
        <p:nvCxnSpPr>
          <p:cNvPr id="17" name="arrow17"/>
          <p:cNvCxnSpPr>
            <a:stCxn/>
            <a:endCxn/>
          </p:cNvCxnSpPr>
          <p:nvPr/>
        </p:nvCxnSpPr>
        <p:spPr>
          <a:xfrm flipV="0" rot="5400000">
            <a:off x="6096000" y="5093520"/>
            <a:ext cx="300000" cy="300000"/>
          </a:xfrm>
          <a:prstGeom prst="line">
            <a:avLst/>
          </a:prstGeom>
          <a:ln w="28575">
            <a:solidFill>
              <a:srgbClr val="1F3864"/>
            </a:solidFill>
            <a:headEnd type="none"/>
            <a:tailEnd type="triangle" w="med" len="med"/>
          </a:ln>
        </p:spPr>
        <p:txBody>
          <a:bodyPr/>
          <a:lstStyle/>
          <a:p/>
        </p:txBody>
      </p:cxnSp>
      <p:sp>
        <p:nvSpPr>
          <p:cNvPr id="18" name="step9"/>
          <p:cNvSpPr/>
          <p:nvPr/>
        </p:nvSpPr>
        <p:spPr>
          <a:xfrm>
            <a:off x="2596000" y="5243520"/>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提交影像资料及相关开户文件至集中作业中心，等待集中作业处理结果，完成后点击“确认”，界面提示业务提交成功。</a:t>
            </a:r>
          </a:p>
        </p:txBody>
      </p:sp>
      <p:cxnSp>
        <p:nvCxnSpPr>
          <p:cNvPr id="19" name="arrow19"/>
          <p:cNvCxnSpPr>
            <a:stCxn/>
            <a:endCxn/>
          </p:cNvCxnSpPr>
          <p:nvPr/>
        </p:nvCxnSpPr>
        <p:spPr>
          <a:xfrm flipV="0" rot="5400000">
            <a:off x="6096000" y="5607883"/>
            <a:ext cx="300000" cy="300000"/>
          </a:xfrm>
          <a:prstGeom prst="line">
            <a:avLst/>
          </a:prstGeom>
          <a:ln w="28575">
            <a:solidFill>
              <a:srgbClr val="1F3864"/>
            </a:solidFill>
            <a:headEnd type="none"/>
            <a:tailEnd type="triangle" w="med" len="med"/>
          </a:ln>
        </p:spPr>
        <p:txBody>
          <a:bodyPr/>
          <a:lstStyle/>
          <a:p/>
        </p:txBody>
      </p:cxnSp>
      <p:sp>
        <p:nvSpPr>
          <p:cNvPr id="20" name="step10"/>
          <p:cNvSpPr/>
          <p:nvPr/>
        </p:nvSpPr>
        <p:spPr>
          <a:xfrm>
            <a:off x="2596000" y="575788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业务受理成功后，由客户在柜外清对本次交易进行评价。可选择“非常满意”、“满意”和“不满意”。不评价默认为“客户未评价”。</a:t>
            </a:r>
          </a:p>
        </p:txBody>
      </p:sp>
      <p:cxnSp>
        <p:nvCxnSpPr>
          <p:cNvPr id="21" name="arrow21"/>
          <p:cNvCxnSpPr>
            <a:stCxn/>
            <a:endCxn/>
          </p:cNvCxnSpPr>
          <p:nvPr/>
        </p:nvCxnSpPr>
        <p:spPr>
          <a:xfrm flipV="0" rot="5400000">
            <a:off x="6096000" y="6122246"/>
            <a:ext cx="300000" cy="300000"/>
          </a:xfrm>
          <a:prstGeom prst="line">
            <a:avLst/>
          </a:prstGeom>
          <a:ln w="28575">
            <a:solidFill>
              <a:srgbClr val="1F3864"/>
            </a:solidFill>
            <a:headEnd type="none"/>
            <a:tailEnd type="triangle" w="med" len="med"/>
          </a:ln>
        </p:spPr>
        <p:txBody>
          <a:bodyPr/>
          <a:lstStyle/>
          <a:p/>
        </p:txBody>
      </p:cxnSp>
      <p:sp>
        <p:nvSpPr>
          <p:cNvPr id="22" name="step11"/>
          <p:cNvSpPr/>
          <p:nvPr/>
        </p:nvSpPr>
        <p:spPr>
          <a:xfrm>
            <a:off x="2596000" y="6272246"/>
            <a:ext cx="7000000" cy="214363"/>
          </a:xfrm>
          <a:prstGeom prst="roundRect">
            <a:avLst>
              <a:gd name="adj" fval="8000"/>
            </a:avLst>
          </a:prstGeom>
          <a:solidFill>
            <a:srgbClr val="1E7145"/>
          </a:solidFill>
          <a:ln w="9525">
            <a:solidFill>
              <a:srgbClr val="1F3864"/>
            </a:solidFill>
          </a:ln>
        </p:spPr>
        <p:txBody>
          <a:bodyPr wrap="square" anchor="ctr" lIns="91440" rIns="91440" tIns="45720" bIns="45720"/>
          <a:lstStyle/>
          <a:p>
            <a:pPr algn="ctr"/>
            <a:r>
              <a:rPr lang="zh-CN" sz="1400" b="1" dirty="0">
                <a:solidFill>
                  <a:srgbClr val="FFFFFF"/>
                </a:solidFill>
              </a:rPr>
              <a:t>查看批次待办交易结果并完成相关凭证打印。根据提示，完成相应凭证及回单的打印。支持客户根据实际需要进行纸质回单（含批量开户清单）的打印。</a:t>
            </a: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majorFont>
      <a:minorFont>
        <a:latin typeface="Microsoft YaHei"/>
        <a:ea typeface="Microsoft YaHei"/>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lark-training-ppt-generator</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培训PPT</dc:title>
  <dc:creator>lark-training-ppt-generator</dc:creator>
</cp:coreProperties>
</file>