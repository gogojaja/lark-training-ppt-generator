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各位同事大家好，欢迎参加信息科技项目测试管理细则培训。</a:t>
            </a:r>
            <a:r>
              <a:rPr lang="en-US" altLang="zh-CN"/>
              <a:t>
</a:t>
            </a:r>
            <a:r>
              <a:rPr lang="zh-CN" altLang="en-US"/>
              <a:t>本次培训将帮助大家熟悉测试管理的相关要求。</a:t>
            </a:r>
            <a:r>
              <a:rPr lang="en-US" altLang="zh-CN"/>
              <a:t>
</a:t>
            </a:r>
            <a:r>
              <a:rPr lang="zh-CN" altLang="en-US"/>
              <a:t>培训时长约</a:t>
            </a:r>
            <a:r>
              <a:rPr lang="en-US" altLang="zh-CN"/>
              <a:t>40</a:t>
            </a:r>
            <a:r>
              <a:rPr lang="zh-CN" altLang="en-US"/>
              <a:t>分钟，中间会有互动环节。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本次培训分为四个部分：导课互动、管理办法概述、阶段管理细则、避坑指南与总结。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（互动环节，约</a:t>
            </a:r>
            <a:r>
              <a:rPr lang="en-US" altLang="zh-CN"/>
              <a:t>3</a:t>
            </a:r>
            <a:r>
              <a:rPr lang="zh-CN" altLang="en-US"/>
              <a:t>分钟）</a:t>
            </a:r>
            <a:r>
              <a:rPr lang="en-US" altLang="zh-CN"/>
              <a:t>
</a:t>
            </a:r>
            <a:r>
              <a:rPr lang="zh-CN" altLang="en-US"/>
              <a:t>各位同事，在正式开始培训之前，我想先问问大家：有没有遇到过因为测试管理不规范导致的问题？</a:t>
            </a:r>
            <a:r>
              <a:rPr lang="en-US" altLang="zh-CN"/>
              <a:t>
</a:t>
            </a:r>
            <a:r>
              <a:rPr lang="zh-CN" altLang="en-US"/>
              <a:t>（邀请</a:t>
            </a:r>
            <a:r>
              <a:rPr lang="en-US" altLang="zh-CN"/>
              <a:t>2-3</a:t>
            </a:r>
            <a:r>
              <a:rPr lang="zh-CN" altLang="en-US"/>
              <a:t>位同事分享）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不规范的管理会带来很多问题：项目延期、质量风险、效率低下等。</a:t>
            </a:r>
            <a:r>
              <a:rPr lang="en-US" altLang="zh-CN"/>
              <a:t>
</a:t>
            </a:r>
            <a:r>
              <a:rPr lang="zh-CN" altLang="en-US"/>
              <a:t>规范管理的价值：质量可控、效率提升、风险降低、合规达标、团队协作。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接下来我们进入第二部分：管理办法概述。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测试管理架构包括四个角色：测试管理科、项目测试组、开发部门、设备</a:t>
            </a:r>
            <a:r>
              <a:rPr lang="en-US" altLang="zh-CN"/>
              <a:t>/</a:t>
            </a:r>
            <a:r>
              <a:rPr lang="zh-CN" altLang="en-US"/>
              <a:t>配置管理。</a:t>
            </a:r>
            <a:r>
              <a:rPr lang="en-US" altLang="zh-CN"/>
              <a:t>
</a:t>
            </a:r>
            <a:r>
              <a:rPr lang="zh-CN" altLang="en-US"/>
              <a:t>四个角色各司其职，共同保障测试工作顺利进行。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测试类型分为四大类：功能测试、非功能测试、自动化测试、安全测试。</a:t>
            </a:r>
            <a:r>
              <a:rPr lang="en-US" altLang="zh-CN"/>
              <a:t>
</a:t>
            </a:r>
            <a:r>
              <a:rPr lang="zh-CN" altLang="en-US"/>
              <a:t>其中安全测试是红线，每个项目都必须做。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测试分为五个阶段：</a:t>
            </a:r>
            <a:r>
              <a:rPr lang="en-US" altLang="zh-CN"/>
              <a:t>CT</a:t>
            </a:r>
            <a:r>
              <a:rPr lang="zh-CN" altLang="en-US"/>
              <a:t>、</a:t>
            </a:r>
            <a:r>
              <a:rPr lang="en-US" altLang="zh-CN"/>
              <a:t>SIT-1</a:t>
            </a:r>
            <a:r>
              <a:rPr lang="zh-CN" altLang="en-US"/>
              <a:t>、</a:t>
            </a:r>
            <a:r>
              <a:rPr lang="en-US" altLang="zh-CN"/>
              <a:t>SIT</a:t>
            </a:r>
            <a:r>
              <a:rPr lang="zh-CN" altLang="en-US"/>
              <a:t>、</a:t>
            </a:r>
            <a:r>
              <a:rPr lang="en-US" altLang="zh-CN"/>
              <a:t>UAT</a:t>
            </a:r>
            <a:r>
              <a:rPr lang="zh-CN" altLang="en-US"/>
              <a:t>、</a:t>
            </a:r>
            <a:r>
              <a:rPr lang="en-US" altLang="zh-CN"/>
              <a:t>PAT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每个阶段都有明确的准入和准出条件。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环境分为五类：</a:t>
            </a:r>
            <a:r>
              <a:rPr lang="en-US" altLang="zh-CN"/>
              <a:t>DEV</a:t>
            </a:r>
            <a:r>
              <a:rPr lang="zh-CN" altLang="en-US"/>
              <a:t>、</a:t>
            </a:r>
            <a:r>
              <a:rPr lang="en-US" altLang="zh-CN"/>
              <a:t>SIT</a:t>
            </a:r>
            <a:r>
              <a:rPr lang="zh-CN" altLang="en-US"/>
              <a:t>、</a:t>
            </a:r>
            <a:r>
              <a:rPr lang="en-US" altLang="zh-CN"/>
              <a:t>UAT</a:t>
            </a:r>
            <a:r>
              <a:rPr lang="zh-CN" altLang="en-US"/>
              <a:t>、</a:t>
            </a:r>
            <a:r>
              <a:rPr lang="en-US" altLang="zh-CN"/>
              <a:t>PRE</a:t>
            </a:r>
            <a:r>
              <a:rPr lang="zh-CN" altLang="en-US"/>
              <a:t>、</a:t>
            </a:r>
            <a:r>
              <a:rPr lang="en-US" altLang="zh-CN"/>
              <a:t>PRD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生产环境严禁任何测试操作。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现在进入本次培训的重点部分：第三部分阶段管理细则。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测试工作涉及四个角色：项目经理、测试负责人、测试人员、开发人员。</a:t>
            </a:r>
            <a:r>
              <a:rPr lang="en-US" altLang="zh-CN"/>
              <a:t>
</a:t>
            </a:r>
            <a:r>
              <a:rPr lang="zh-CN" altLang="en-US"/>
              <a:t>职责明确才能高效协作。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测试方案是测试工作的纲领性文件。</a:t>
            </a:r>
            <a:r>
              <a:rPr lang="en-US" altLang="zh-CN"/>
              <a:t>
</a:t>
            </a:r>
            <a:r>
              <a:rPr lang="zh-CN" altLang="en-US"/>
              <a:t>方案核心内容包括</a:t>
            </a:r>
            <a:r>
              <a:rPr lang="en-US" altLang="zh-CN"/>
              <a:t>7</a:t>
            </a:r>
            <a:r>
              <a:rPr lang="zh-CN" altLang="en-US"/>
              <a:t>个方面，评审流程分</a:t>
            </a:r>
            <a:r>
              <a:rPr lang="en-US" altLang="zh-CN"/>
              <a:t>5</a:t>
            </a:r>
            <a:r>
              <a:rPr lang="zh-CN" altLang="en-US"/>
              <a:t>步。</a:t>
            </a:r>
            <a:r>
              <a:rPr lang="en-US" altLang="zh-CN"/>
              <a:t>
</a:t>
            </a:r>
            <a:r>
              <a:rPr lang="zh-CN" altLang="en-US"/>
              <a:t>特别强调：方案必须评审通过才能执行。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环境准备分五步：提需求、走申请、分配资源、搭环境、冒烟验证。</a:t>
            </a:r>
            <a:r>
              <a:rPr lang="en-US" altLang="zh-CN"/>
              <a:t>
</a:t>
            </a:r>
            <a:r>
              <a:rPr lang="zh-CN" altLang="en-US"/>
              <a:t>注意事项：需求书面明确、走</a:t>
            </a:r>
            <a:r>
              <a:rPr lang="en-US" altLang="zh-CN"/>
              <a:t>ITIL</a:t>
            </a:r>
            <a:r>
              <a:rPr lang="zh-CN" altLang="en-US"/>
              <a:t>流程、做冒烟测试、及时释放。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（互动环节，约</a:t>
            </a:r>
            <a:r>
              <a:rPr lang="en-US" altLang="zh-CN"/>
              <a:t>2</a:t>
            </a:r>
            <a:r>
              <a:rPr lang="zh-CN" altLang="en-US"/>
              <a:t>分钟）</a:t>
            </a:r>
            <a:r>
              <a:rPr lang="en-US" altLang="zh-CN"/>
              <a:t>
</a:t>
            </a:r>
            <a:r>
              <a:rPr lang="zh-CN" altLang="en-US"/>
              <a:t>我们来做个找茬小游戏。</a:t>
            </a:r>
            <a:r>
              <a:rPr lang="en-US" altLang="zh-CN"/>
              <a:t>
</a:t>
            </a:r>
            <a:r>
              <a:rPr lang="zh-CN" altLang="en-US"/>
              <a:t>正确答案是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</a:t>
            </a:r>
            <a:r>
              <a:rPr lang="zh-CN" altLang="en-US"/>
              <a:t>、</a:t>
            </a:r>
            <a:r>
              <a:rPr lang="en-US" altLang="zh-CN"/>
              <a:t>F</a:t>
            </a:r>
            <a:r>
              <a:rPr lang="zh-CN" altLang="en-US"/>
              <a:t>不规范。</a:t>
            </a:r>
            <a:r>
              <a:rPr lang="en-US" altLang="zh-CN"/>
              <a:t>
B</a:t>
            </a:r>
            <a:r>
              <a:rPr lang="zh-CN" altLang="en-US"/>
              <a:t>和</a:t>
            </a:r>
            <a:r>
              <a:rPr lang="en-US" altLang="zh-CN"/>
              <a:t>E</a:t>
            </a:r>
            <a:r>
              <a:rPr lang="zh-CN" altLang="en-US"/>
              <a:t>是正确的做法。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案例编写要依据需求文档和测试方案，覆盖各种类型，包含完整要素。</a:t>
            </a:r>
            <a:r>
              <a:rPr lang="en-US" altLang="zh-CN"/>
              <a:t>
</a:t>
            </a:r>
            <a:r>
              <a:rPr lang="zh-CN" altLang="en-US"/>
              <a:t>案例写完后必须组织评审并签字，通过后才能作为执行依据。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缺陷分四个等级：致命</a:t>
            </a:r>
            <a:r>
              <a:rPr lang="en-US" altLang="zh-CN"/>
              <a:t>/</a:t>
            </a:r>
            <a:r>
              <a:rPr lang="zh-CN" altLang="en-US"/>
              <a:t>严重当日修复，一般</a:t>
            </a:r>
            <a:r>
              <a:rPr lang="en-US" altLang="zh-CN"/>
              <a:t>2</a:t>
            </a:r>
            <a:r>
              <a:rPr lang="zh-CN" altLang="en-US"/>
              <a:t>天内，轻微</a:t>
            </a:r>
            <a:r>
              <a:rPr lang="en-US" altLang="zh-CN"/>
              <a:t>4</a:t>
            </a:r>
            <a:r>
              <a:rPr lang="zh-CN" altLang="en-US"/>
              <a:t>天内。</a:t>
            </a:r>
            <a:r>
              <a:rPr lang="en-US" altLang="zh-CN"/>
              <a:t>
</a:t>
            </a:r>
            <a:r>
              <a:rPr lang="zh-CN" altLang="en-US"/>
              <a:t>缺陷生命周期：提交、确认、修复、回归、关闭。</a:t>
            </a:r>
            <a:r>
              <a:rPr lang="en-US" altLang="zh-CN"/>
              <a:t>
</a:t>
            </a:r>
            <a:r>
              <a:rPr lang="zh-CN" altLang="en-US"/>
              <a:t>每个环节都要及时跟进，不能积压。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范围跟踪包括：范围基线、进度跟踪、覆盖率统计、风险监控。</a:t>
            </a:r>
            <a:r>
              <a:rPr lang="en-US" altLang="zh-CN"/>
              <a:t>
</a:t>
            </a:r>
            <a:r>
              <a:rPr lang="zh-CN" altLang="en-US"/>
              <a:t>范围变更管理：变更申请、影响评估、审批确认、更新基线。</a:t>
            </a:r>
            <a:r>
              <a:rPr lang="en-US" altLang="zh-CN"/>
              <a:t>
</a:t>
            </a:r>
            <a:r>
              <a:rPr lang="zh-CN" altLang="en-US"/>
              <a:t>不能随意变更测试范围。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安全测试是红线，必须高度重视。</a:t>
            </a:r>
            <a:r>
              <a:rPr lang="en-US" altLang="zh-CN"/>
              <a:t>
</a:t>
            </a:r>
            <a:r>
              <a:rPr lang="zh-CN" altLang="en-US"/>
              <a:t>安全测试包括六大内容。</a:t>
            </a:r>
            <a:r>
              <a:rPr lang="en-US" altLang="zh-CN"/>
              <a:t>
</a:t>
            </a:r>
            <a:r>
              <a:rPr lang="zh-CN" altLang="en-US"/>
              <a:t>管理要求：所有项目必须在上线前完成安全测试并出具报告。</a:t>
            </a:r>
            <a:r>
              <a:rPr lang="en-US" altLang="zh-CN"/>
              <a:t>
</a:t>
            </a:r>
            <a:r>
              <a:rPr lang="zh-CN" altLang="en-US"/>
              <a:t>大家一定要记住这条红线，不能有侥幸心理。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最后我们进入第四部分：避坑指南与总结。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这里整理了十个最常见的不规范行为，大家可以对照检查。</a:t>
            </a:r>
            <a:r>
              <a:rPr lang="en-US" altLang="zh-CN"/>
              <a:t>
</a:t>
            </a:r>
            <a:r>
              <a:rPr lang="zh-CN" altLang="en-US"/>
              <a:t>这些问题看似不大，但积累起来会严重影响测试质量和项目进度。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（互动环节，约</a:t>
            </a:r>
            <a:r>
              <a:rPr lang="en-US" altLang="zh-CN"/>
              <a:t>3</a:t>
            </a:r>
            <a:r>
              <a:rPr lang="zh-CN" altLang="en-US"/>
              <a:t>分钟）</a:t>
            </a:r>
            <a:r>
              <a:rPr lang="en-US" altLang="zh-CN"/>
              <a:t>
</a:t>
            </a:r>
            <a:r>
              <a:rPr lang="zh-CN" altLang="en-US"/>
              <a:t>我们来做三个场景判断题。</a:t>
            </a:r>
            <a:r>
              <a:rPr lang="en-US" altLang="zh-CN"/>
              <a:t>
</a:t>
            </a:r>
            <a:r>
              <a:rPr lang="zh-CN" altLang="en-US"/>
              <a:t>第一题选</a:t>
            </a:r>
            <a:r>
              <a:rPr lang="en-US" altLang="zh-CN"/>
              <a:t>B</a:t>
            </a:r>
            <a:r>
              <a:rPr lang="zh-CN" altLang="en-US"/>
              <a:t>，方案必须先评审通过。</a:t>
            </a:r>
            <a:r>
              <a:rPr lang="en-US" altLang="zh-CN"/>
              <a:t>
</a:t>
            </a:r>
            <a:r>
              <a:rPr lang="zh-CN" altLang="en-US"/>
              <a:t>第二题选</a:t>
            </a:r>
            <a:r>
              <a:rPr lang="en-US" altLang="zh-CN"/>
              <a:t>B</a:t>
            </a:r>
            <a:r>
              <a:rPr lang="zh-CN" altLang="en-US"/>
              <a:t>，严重缺陷当日修复。</a:t>
            </a:r>
            <a:r>
              <a:rPr lang="en-US" altLang="zh-CN"/>
              <a:t>
</a:t>
            </a:r>
            <a:r>
              <a:rPr lang="zh-CN" altLang="en-US"/>
              <a:t>第三题选</a:t>
            </a:r>
            <a:r>
              <a:rPr lang="en-US" altLang="zh-CN"/>
              <a:t>B</a:t>
            </a:r>
            <a:r>
              <a:rPr lang="zh-CN" altLang="en-US"/>
              <a:t>，安全测试是必选项。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核心要点总结：一个核心、两个文件、三大阶段、四类测试、五个阶段、三个评审点、缺陷时效、安全红线、环境五步走。</a:t>
            </a:r>
            <a:r>
              <a:rPr lang="en-US" altLang="zh-CN"/>
              <a:t>
</a:t>
            </a:r>
            <a:r>
              <a:rPr lang="zh-CN" altLang="en-US"/>
              <a:t>最后送给大家一句话：制度的生命力在于执行。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以上就是今天培训的全部内容，感谢大家的参与！</a:t>
            </a:r>
            <a:r>
              <a:rPr lang="en-US" altLang="zh-CN"/>
              <a:t>
</a:t>
            </a:r>
            <a:r>
              <a:rPr lang="zh-CN" altLang="en-US"/>
              <a:t>如果有问题，现在可以提问交流。</a:t>
            </a:r>
            <a:r>
              <a:rPr lang="en-US" altLang="zh-CN"/>
              <a:t>
</a:t>
            </a:r>
            <a:r>
              <a:rPr lang="zh-CN" altLang="en-US"/>
              <a:t>谢谢大家！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890000" y="-1270000"/>
            <a:ext cx="3810000" cy="3810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652000" y="4572000"/>
            <a:ext cx="2794000" cy="2794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2032000"/>
            <a:ext cx="10668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信息科技项目测试管理细则培训</a:t>
            </a:r>
            <a:endParaRPr lang="zh-CN" altLang="en-US" sz="40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3683000"/>
            <a:ext cx="10668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科技部培训课程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规范测试管理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保障项目质量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提升工作效率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培训时长：约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培训对象：科技部科员</a:t>
            </a:r>
            <a:endParaRPr lang="zh-CN" altLang="en-US" sz="1500">
              <a:solidFill>
                <a:srgbClr val="388E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培训目录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导课互动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测试管理那些事儿（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02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管理办法概述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组织架构与测试分类（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03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阶段管理细则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测试全流程详解（重点，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04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避坑指南与总结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常见问题与互动答疑（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2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你遇到过这些测试问题吗？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互动提问：请大家回忆一下，在你的工作中遇到过哪些因测试管理不规范导致的问题？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（邀请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2-3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位同事分享，约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常见问题：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测试范围不明确，需求变更后漏测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缺陷处理不及时，影响测试进度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测试环境不稳定，测试无法正常进行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案例覆盖不全，上线后出问题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职责划分不清，互相推诿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文档缺失不规范，质量不达标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3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为什么要学习测试管理细则？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不规范的代价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1091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项目延期：测试阶段问题频发，上线时间推迟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质量风险：漏测、缺陷逃逸，影响生产稳定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效率低下：反复沟通、返工，消耗团队精力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合规风险：不符合监管要求，面临审计问题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团队矛盾：职责不清、互相推诿，影响协作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规范管理的价值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1091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质量可控：测试过程有标准，产品质量有保障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效率提升：流程清晰，减少返工和沟通成本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风险降低：早发现早解决，上线更有底气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合规达标：满足监管要求，审计无压力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团队协作：职责明确，大家配合更顺畅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4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398000" y="-762000"/>
            <a:ext cx="3302000" cy="3302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-508000" y="4826000"/>
            <a:ext cx="2540000" cy="2540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7400" y="3111500"/>
            <a:ext cx="2540000" cy="508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3238500"/>
            <a:ext cx="10668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3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第二部分：管理办法概述</a:t>
            </a:r>
            <a:endParaRPr lang="zh-CN" altLang="en-US" sz="3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4381500"/>
            <a:ext cx="1066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</a:rPr>
              <a:t>组织架构与测试分类</a:t>
            </a:r>
            <a:endParaRPr lang="zh-CN" altLang="en-US">
              <a:solidFill>
                <a:srgbClr val="388E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5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测试管理组织架构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测试管理科（管理职责）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制定测试管理制度和规范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组织测试方案、案例、报告评审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负责测试质量监督和检查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协调跨项目测试资源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开发部门（配合职责）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提供测试需求和技术文档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配合环境搭建和数据准备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及时修复测试发现的缺陷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参与测试方案和案例评审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项目测试组（执行职责）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编制测试方案、测试案例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执行测试并记录缺陷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跟踪缺陷修复和回归测试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编写测试报告和总结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配置管理（支撑职责）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测试环境资源分配与管理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测试环境搭建和配置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环境监控和故障处理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测试数据管理和备份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6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测试类型分类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功能测试：验证功能是否符合需求规格说明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功能正确性、业务流程、界面交互、数据准确性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非功能测试：验证系统性能、可靠性等质量属性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性能测试、压力测试、兼容性测试、易用性测试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自动化测试：用工具脚本替代人工执行测试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接口自动化、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自动化、回归测试自动化、持续集成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安全测试：检验系统的安全性和漏洞防护能力（必做）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漏洞扫描、渗透测试、安全合规测试、数据安全测试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7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测试阶段划分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测试分为五个阶段：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组件验收（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单个组件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模块的功能验证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联调验收（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SIT-1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多组件集成联调测试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系统集成测试（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全系统集成功能测试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用户验收测试（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业务用户验收确认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性能验收测试（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性能压力测试验收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阶段准入条件：需求文档评审通过、代码通过冒烟、环境验证可用、方案案例已评审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阶段准出条件：案例全部执行、缺陷按等级修复、报告已评审、文档齐全归档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8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环境与配置管理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五类环境：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DEV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开发人员日常开发调试使用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SIT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系统集成测试使用，独立于开发环境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UAT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用户验收测试使用，模拟生产环境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PRE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预生产环境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上线前最后验证，与生产一致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PRD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正式运行环境，严禁测试操作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配置管理基本要求：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测试环境必须独立于开发环境，互不干扰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环境变更必须走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流程，记录变更内容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配置项统一管理，版本清晰可追溯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测试数据脱敏处理，符合数据安全要求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环境使用完毕及时释放，节约资源成本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9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398000" y="-762000"/>
            <a:ext cx="3302000" cy="3302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-508000" y="4826000"/>
            <a:ext cx="2540000" cy="2540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7400" y="3111500"/>
            <a:ext cx="2540000" cy="508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3238500"/>
            <a:ext cx="10668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3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第三部分：阶段管理细则</a:t>
            </a:r>
            <a:endParaRPr lang="zh-CN" altLang="en-US" sz="3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4381500"/>
            <a:ext cx="1066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</a:rPr>
              <a:t>测试全流程详解（重点）</a:t>
            </a:r>
            <a:endParaRPr lang="zh-CN" altLang="en-US">
              <a:solidFill>
                <a:srgbClr val="388E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10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测试各角色职责划分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项目经理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对项目整体质量和进度负责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组织测试方案和报告评审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协调测试资源和跨部门沟通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审批测试范围变更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测试人员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编写和执行测试案例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记录和跟踪缺陷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完成回归测试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维护测试文档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测试负责人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制定测试计划和测试方案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组织案例编写和评审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把控测试进度和质量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编写测试总结报告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开发人员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配合测试环境搭建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及时修复测试缺陷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提供技术支持和文档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参与评审和验收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11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测试方案编写与评审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测试方案核心内容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149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测试范围与目标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测试策略与方法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测试环境规划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测试资源安排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测试进度计划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6.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风险评估与应对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7.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交付物清单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评审流程要求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149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方案编制：测试负责人编制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内部初审：测试组内部评审修改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正式评审：项目经理组织评审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签字确认：评委签字确认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执行依据：通过的方案作为依据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注意：方案必须评审通过才能执行，不能边做边补！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12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测试环境准备流程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环境准备五步走：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提需求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走申请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分配资源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冒烟验证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提需求：明确环境配置要求和交付时间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走申请：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系统提交环境申请单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分配资源：设备科审核并分配硬件资源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搭环境：配置管理员搭建部署和配置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冒烟验证：测试人员做冒烟测试验证环境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环境需求必须书面明确，不能口头传达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必须走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流程申请，不能私下协调资源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必须做冒烟测试，通过后才能正式测试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环境使用完毕及时释放，避免资源浪费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13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互动小游戏：环境准备找茬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互动游戏（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场景：以下做法哪些是不规范的？（请大家举手回答！）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项目经理口头告知环境管理员需要环境，没有明确需求文档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B.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环境管理员梳理需求后，在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系统提交申请单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C.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设备科直接分配资源，跳过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流程以节省时间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D.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配置管理员搭建完环境后，直接交给测试人员开始测试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测试人员先做冒烟测试，确认环境可用后再正式测试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F.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环境使用完后不及时释放，一直占着资源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正确答案：不规范的是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
  A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错：需求必须书面明确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C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错：必须走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D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错：要先验证和冒烟测试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F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错：资源要及时释放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14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测试案例编写与评审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案例编写要求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根据需求文档和测试方案编写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覆盖：产品、用户、渠道、菜单、角色、权限、业务规则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包含：前置条件、测试点、步骤、预期结果、测试数据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设计方法：正交分解法、因果图法、边界值法等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案例评审要求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149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测试负责人组织相关干系人完成评审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对案例内容在项目组内部达成一致意见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评委根据《评审结果表》反馈并签字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评审通过的案例才能作为执行依据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经验：好的案例是测试质量的基础。要做到需求全覆盖、边界有验证、异常有考虑。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15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缺陷分析与解决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缺陷等级与修复时效：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致命缺陷（当日修复）：系统崩溃、数据丢失、核心功能不可用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严重缺陷（当日修复）：主要功能错误、重要数据错误、性能严重不达标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一般缺陷（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天内修复）：次要功能错误、界面问题、一般易用性问题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轻微缺陷（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天内修复）：文字错误、格式问题、建议优化类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缺陷生命周期：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提交缺陷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开发确认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修复缺陷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关闭缺陷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管理要求：每个环节都要及时跟进，不能积压。严重缺陷原则上当日完成修复，不能带着严重缺陷上线。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16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测试范围跟踪与变更管理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测试范围跟踪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测试范围基线：方案评审通过后确立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执行进度跟踪：每日更新案例执行进度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覆盖率统计：需求、功能、场景覆盖率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风险监控：识别未覆盖区域，及时预警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范围变更管理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变更申请：提交书面变更申请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影响评估：评估对进度、资源、质量的影响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审批确认：需项目经理审批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更新基线：变更批准后更新范围基线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注意：不能随意变更测试范围，所有变更都要走流程并留记录！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17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安全测试要求（安全红线）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安全红线：安全测试是项目上线的必要条件，未通过安全评估的项目一律不能上线！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安全测试六大内容：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身份认证测试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验证登录、密码、权限等安全机制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漏洞扫描测试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使用专业工具扫描系统安全漏洞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验证数据加密、脱敏、备份等措施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网络安全测试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验证防火墙、入侵检测等防护措施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安全合规测试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验证是否符合监管安全要求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安全评估报告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测试完成后出具安全评估报告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管理要求：所有项目必须在上线前完成安全测试并出具报告。安全测试不通过，测试科有权拒绝签字放行。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18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398000" y="-762000"/>
            <a:ext cx="3302000" cy="3302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-508000" y="4826000"/>
            <a:ext cx="2540000" cy="2540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7400" y="3111500"/>
            <a:ext cx="2540000" cy="508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3238500"/>
            <a:ext cx="10668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3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第四部分：避坑指南与总结</a:t>
            </a:r>
            <a:endParaRPr lang="zh-CN" altLang="en-US" sz="3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4381500"/>
            <a:ext cx="10668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</a:rPr>
              <a:t>常见问题与互动答疑</a:t>
            </a:r>
            <a:endParaRPr lang="zh-CN" altLang="en-US">
              <a:solidFill>
                <a:srgbClr val="388E3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19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常见不规范行为</a:t>
            </a:r>
            <a:r>
              <a:rPr lang="en-US" altLang="zh-CN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TOP 10</a:t>
            </a:r>
            <a:endParaRPr lang="en-US" altLang="zh-CN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测试方案、案例、报告不评审或走过场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5500" y="2006600"/>
            <a:ext cx="482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测试范围随意变更，不记录不跟踪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严重缺陷拖延不处理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测试环境不走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ITIL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冒烟测试不通过就强行开测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23000" y="1371600"/>
            <a:ext cx="5461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540500" y="1549400"/>
            <a:ext cx="482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</a:t>
            </a:r>
            <a:r>
              <a:rPr lang="zh-CN" altLang="en-US" sz="16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测试案例覆盖不全，关键场景遗漏</a:t>
            </a:r>
            <a:endParaRPr lang="zh-CN" altLang="en-US" sz="16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40500" y="2006600"/>
            <a:ext cx="4826000" cy="1291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测试报告数据不准确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8.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安全测试不做或敷衍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9.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配置管理不规范，版本混乱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10. 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测试完成后不复盘</a:t>
            </a:r>
            <a:r>
              <a:rPr lang="en-US" altLang="zh-CN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对照检查，有则改之，无则加勉！</a:t>
            </a:r>
            <a:endParaRPr lang="zh-CN" altLang="en-US" sz="13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20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互动：场景小判断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以下做法对吗？为什么？（共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题，约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：测试经理说测试方案先简单写写，等有空了再补，直接开始测试执行。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A.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可以，先干起来再说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不对，方案必须先评审通过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正确答案：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。测试方案必须先编写评审通过。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：发现一个严重缺陷，开发人员说先记着，上线后再改。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A.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可以，不影响大局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不对，严重缺陷必须当日修复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正确答案：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。严重缺陷原则上当日完成修复。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：项目经理说安全测试太费时间，我们项目简单，直接跳过吧。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A.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可以，小项目不用搞那么复杂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不对，安全测试是必选项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正确答案：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。安全测试是项目上线的必要条件。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21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0" y="482600"/>
            <a:ext cx="10668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28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核心要点总结</a:t>
            </a:r>
            <a:endParaRPr lang="zh-CN" altLang="en-US" sz="28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87400" y="1143000"/>
            <a:ext cx="1524000" cy="381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08000" y="1371600"/>
            <a:ext cx="11176000" cy="4851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E6C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25500" y="1549400"/>
            <a:ext cx="1054100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en-US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一个核心：测试质量是底线，每个角色都要负责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两个文件：测试管理办法、测试阶段管理细则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三大阶段：测试准备、测试执行、测试总结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四类测试：功能测试、非功能测试、自动化测试、安全测试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五个测试阶段：组件验收、联调验收、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UAT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
6.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三个评审点：测试方案评审、测试案例评审、测试报告评审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7.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缺陷处理时效：致命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严重当日，一般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天内，轻微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8.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安全红线：安全测试必做，安全评估不通过一律不能上线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9.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步走：提需求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-&gt; 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冒烟验证</a:t>
            </a:r>
            <a:r>
              <a:rPr lang="en-US" altLang="zh-CN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培训寄语：制度的生命力在于执行。让规范成为习惯，让习惯保障质量！</a:t>
            </a:r>
            <a:endParaRPr lang="zh-CN" altLang="en-US" sz="1400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22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6BB6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8890000" y="-1270000"/>
            <a:ext cx="3810000" cy="3810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652000" y="4572000"/>
            <a:ext cx="2794000" cy="2794000"/>
          </a:xfrm>
          <a:prstGeom prst="ellipse">
            <a:avLst/>
          </a:prstGeom>
          <a:solidFill>
            <a:srgbClr val="E8F5E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2032000"/>
            <a:ext cx="10668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en-US" sz="4000" b="1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00" y="3683000"/>
            <a:ext cx="10668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感谢大家的参与</a:t>
            </a:r>
            <a:r>
              <a:rPr lang="en-US" altLang="zh-CN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solidFill>
                  <a:srgbClr val="388E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让规范成为习惯，让习惯保障质量</a:t>
            </a:r>
            <a:endParaRPr lang="zh-CN" altLang="en-US" sz="1500">
              <a:solidFill>
                <a:srgbClr val="388E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8000" y="6451600"/>
            <a:ext cx="5334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400"/>
              </a:spcAft>
            </a:pP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科技部</a:t>
            </a:r>
            <a:r>
              <a:rPr lang="en-US" altLang="zh-CN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|  </a:t>
            </a:r>
            <a:r>
              <a:rPr lang="zh-CN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信息科技项目测试管理细则培训</a:t>
            </a:r>
            <a:endParaRPr lang="zh-CN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22000" y="6451600"/>
            <a:ext cx="76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spcAft>
                <a:spcPts val="400"/>
              </a:spcAft>
            </a:pPr>
            <a:r>
              <a:rPr lang="en-US" altLang="en-US" sz="900">
                <a:solidFill>
                  <a:srgbClr val="81C784"/>
                </a:solidFill>
                <a:latin typeface="微软雅黑" panose="020B0503020204020204" charset="-122"/>
                <a:ea typeface="微软雅黑" panose="020B0503020204020204" charset="-122"/>
              </a:rPr>
              <a:t>23 / 23</a:t>
            </a:r>
            <a:endParaRPr lang="en-US" altLang="en-US" sz="900">
              <a:solidFill>
                <a:srgbClr val="81C78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5007</Words>
  <Application>WPS 演示</Application>
  <PresentationFormat>宽屏</PresentationFormat>
  <Paragraphs>226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gogoj</dc:creator>
  <cp:lastModifiedBy>段波</cp:lastModifiedBy>
  <cp:revision>157</cp:revision>
  <dcterms:created xsi:type="dcterms:W3CDTF">2019-06-19T02:08:00Z</dcterms:created>
  <dcterms:modified xsi:type="dcterms:W3CDTF">2026-08-14T04:29:29Z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B5E1ABAC0D054C14A10B61AFEF882000_11</vt:lpwstr>
  </property>
</Properties>
</file>