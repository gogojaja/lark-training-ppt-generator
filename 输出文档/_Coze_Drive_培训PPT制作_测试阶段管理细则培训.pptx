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3" Type="http://schemas.openxmlformats.org/officeDocument/2006/relationships/slide" Target="slides/slide10.xml"/><Relationship Id="rId4" Type="http://schemas.openxmlformats.org/officeDocument/2006/relationships/slide" Target="slides/slide11.xml"/><Relationship Id="rId5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114.png"/><Relationship Id="rId17" Type="http://schemas.openxmlformats.org/officeDocument/2006/relationships/image" Target="../media/image1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" y="0"/>
            <a:ext cx="2295642" cy="18527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48" y="4734306"/>
            <a:ext cx="1576104" cy="21236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162" y="1508"/>
            <a:ext cx="1745837" cy="155079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943" y="1398154"/>
            <a:ext cx="835533" cy="5839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95" y="950709"/>
            <a:ext cx="634460" cy="61060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248" y="5086111"/>
            <a:ext cx="595312" cy="590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44305" y="2584037"/>
            <a:ext cx="7332821" cy="7715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25" b="1" i="0">
                <a:solidFill>
                  <a:srgbClr val="023024"/>
                </a:solidFill>
                <a:latin typeface="Noto Sans SC"/>
                <a:ea typeface="Noto Sans SC"/>
              </a:rPr>
              <a:t>测试阶段管理细则培训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965" y="3663219"/>
            <a:ext cx="5090731" cy="4500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9884"/>
              </a:lnSpc>
              <a:spcBef>
                <a:spcPts val="0"/>
              </a:spcBef>
              <a:spcAft>
                <a:spcPts val="0"/>
              </a:spcAft>
            </a:pPr>
            <a:r>
              <a:rPr sz="3225" b="0" i="0">
                <a:solidFill>
                  <a:srgbClr val="454F5F"/>
                </a:solidFill>
                <a:latin typeface="Noto Sans SC"/>
                <a:ea typeface="Noto Sans SC"/>
              </a:rPr>
              <a:t>规范过程管理,提升测试质量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5222" y="5715285"/>
            <a:ext cx="3242881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447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3B4556"/>
                </a:solidFill>
                <a:latin typeface="Noto Sans SC"/>
                <a:ea typeface="Noto Sans SC"/>
              </a:rPr>
              <a:t>科技部·2026年8月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2581611"/>
            <a:ext cx="3334797" cy="24105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28" y="2588704"/>
            <a:ext cx="3307404" cy="24019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72" y="2588432"/>
            <a:ext cx="3282696" cy="23977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888" y="1486852"/>
            <a:ext cx="411458" cy="44929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3181" y="1468183"/>
            <a:ext cx="395763" cy="39576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3" y="5017710"/>
            <a:ext cx="304895" cy="3095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40" y="1143872"/>
            <a:ext cx="573119" cy="124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1793" y="2030539"/>
            <a:ext cx="220759" cy="225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222" y="602361"/>
            <a:ext cx="3389471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1889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13823"/>
                </a:solidFill>
                <a:latin typeface="Noto Sans SC"/>
                <a:ea typeface="Noto Sans SC"/>
              </a:rPr>
              <a:t>为什么需要这次培训?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2237" y="1858422"/>
            <a:ext cx="3798284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23227"/>
                </a:solidFill>
                <a:latin typeface="Noto Sans SC"/>
                <a:ea typeface="Noto Sans SC"/>
              </a:rPr>
              <a:t>你有没有遇到过这些情况?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830" y="2808255"/>
            <a:ext cx="2272855" cy="62769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18"/>
                </a:solidFill>
                <a:latin typeface="Noto Sans SC"/>
                <a:ea typeface="Noto Sans SC"/>
              </a:rPr>
              <a:t>测试范围跟踪不到位,</a:t>
            </a:r>
          </a:p>
          <a:p>
            <a:pPr marL="265176"/>
            <a:r>
              <a:rPr sz="1800" lang="zh-CN" b="1">
                <a:latin typeface="Noto Sans SC"/>
                <a:ea typeface="Noto Sans SC"/>
              </a:rPr>
              <a:t>需求变更没覆盖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7753" y="2809779"/>
            <a:ext cx="2387155" cy="62617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117252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116"/>
                </a:solidFill>
                <a:latin typeface="Noto Sans SC"/>
                <a:ea typeface="Noto Sans SC"/>
              </a:rPr>
              <a:t>缺陷分级不清,修复</a:t>
            </a:r>
          </a:p>
          <a:p>
            <a:pPr>
              <a:spcBef>
                <a:spcPts val="373"/>
              </a:spcBef>
            </a:pPr>
            <a:r>
              <a:rPr sz="1950" lang="zh-CN" b="1">
                <a:latin typeface="Noto Sans SC"/>
                <a:ea typeface="Noto Sans SC"/>
              </a:rPr>
              <a:t>优先级混乱,上线延期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3581" y="2816447"/>
            <a:ext cx="2750343" cy="62017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86391"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117"/>
                </a:solidFill>
                <a:latin typeface="Noto Sans SC"/>
                <a:ea typeface="Noto Sans SC"/>
              </a:rPr>
              <a:t>测试方案没评审就开干,</a:t>
            </a:r>
          </a:p>
          <a:p>
            <a:r>
              <a:rPr sz="1875" lang="zh-CN" b="1">
                <a:latin typeface="Noto Sans SC"/>
                <a:ea typeface="Noto Sans SC"/>
              </a:rPr>
              <a:t>上线后发现关键场景漏测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90283"/>
            <a:ext cx="2561463" cy="56330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205168"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22D46"/>
                </a:solidFill>
                <a:latin typeface="Noto Sans SC"/>
                <a:ea typeface="Noto Sans SC"/>
              </a:rPr>
              <a:t>缺陷未按时效要求处理</a:t>
            </a:r>
          </a:p>
          <a:p>
            <a:pPr>
              <a:spcBef>
                <a:spcPts val="385"/>
              </a:spcBef>
            </a:pPr>
            <a:r>
              <a:rPr sz="1462" lang="zh-CN">
                <a:latin typeface="Noto Sans SC"/>
                <a:ea typeface="Noto Sans SC"/>
              </a:rPr>
              <a:t>致命问题与轻微问题混为一谈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1263" y="3790283"/>
            <a:ext cx="2151221" cy="56330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58674">
              <a:spcBef>
                <a:spcPts val="0"/>
              </a:spcBef>
              <a:spcAft>
                <a:spcPts val="0"/>
              </a:spcAft>
            </a:pPr>
            <a:r>
              <a:rPr sz="1537" b="0" i="0">
                <a:solidFill>
                  <a:srgbClr val="222B44"/>
                </a:solidFill>
                <a:latin typeface="Noto Sans SC"/>
                <a:ea typeface="Noto Sans SC"/>
              </a:rPr>
              <a:t>需求变更后测试案例未</a:t>
            </a:r>
          </a:p>
          <a:p>
            <a:pPr>
              <a:spcBef>
                <a:spcPts val="385"/>
              </a:spcBef>
            </a:pPr>
            <a:r>
              <a:rPr sz="1537" lang="zh-CN">
                <a:latin typeface="Noto Sans SC"/>
                <a:ea typeface="Noto Sans SC"/>
              </a:rPr>
              <a:t>同步更新,导致部分功能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8182" y="3805618"/>
            <a:ext cx="2070258" cy="8227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12C45"/>
                </a:solidFill>
                <a:latin typeface="Noto Sans SC"/>
                <a:ea typeface="Noto Sans SC"/>
              </a:rPr>
              <a:t>某项目因方案未经评审</a:t>
            </a:r>
          </a:p>
          <a:p>
            <a:pPr marL="2095">
              <a:spcBef>
                <a:spcPts val="281"/>
              </a:spcBef>
            </a:pPr>
            <a:r>
              <a:rPr sz="1500" lang="zh-CN">
                <a:latin typeface="Noto Sans SC"/>
                <a:ea typeface="Noto Sans SC"/>
              </a:rPr>
              <a:t>遗漏核心业务流程验证,</a:t>
            </a:r>
          </a:p>
          <a:p>
            <a:pPr marL="177927">
              <a:spcBef>
                <a:spcPts val="638"/>
              </a:spcBef>
            </a:pPr>
            <a:r>
              <a:rPr sz="1500" lang="zh-CN">
                <a:latin typeface="Noto Sans SC"/>
                <a:ea typeface="Noto Sans SC"/>
              </a:rPr>
              <a:t>导致上线后紧急回退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5446" y="4403312"/>
            <a:ext cx="1211865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2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E273F"/>
                </a:solidFill>
                <a:latin typeface="Noto Sans SC"/>
                <a:ea typeface="Noto Sans SC"/>
              </a:rPr>
              <a:t>严重影响进度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3025" y="4403312"/>
            <a:ext cx="1358455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4368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22B44"/>
                </a:solidFill>
                <a:latin typeface="Noto Sans SC"/>
                <a:ea typeface="Noto Sans SC"/>
              </a:rPr>
              <a:t>未经验证即上线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328" y="5442013"/>
            <a:ext cx="3092005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913"/>
                </a:solidFill>
                <a:latin typeface="Noto Sans SC"/>
                <a:ea typeface="Noto Sans SC"/>
              </a:rPr>
              <a:t>规范不是束缚,而是保护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39" y="3210486"/>
            <a:ext cx="10845260" cy="2048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836" y="1371409"/>
            <a:ext cx="2013083" cy="5282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499" y="1373219"/>
            <a:ext cx="1973921" cy="5232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8" y="1368933"/>
            <a:ext cx="1830907" cy="529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4850" y="1372599"/>
            <a:ext cx="1837658" cy="52368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976" y="1372838"/>
            <a:ext cx="1565435" cy="52339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0352" y="3653132"/>
            <a:ext cx="807434" cy="7789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786" y="3651438"/>
            <a:ext cx="797814" cy="77870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399" y="3655218"/>
            <a:ext cx="795631" cy="77181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7497" y="3655218"/>
            <a:ext cx="789798" cy="775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3032" y="3656552"/>
            <a:ext cx="782207" cy="77266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3039" y="3845196"/>
            <a:ext cx="404907" cy="3953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0053" y="357473"/>
            <a:ext cx="6290881" cy="41786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4452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001E1C"/>
                </a:solidFill>
                <a:latin typeface="Noto Sans SC"/>
                <a:ea typeface="Noto Sans SC"/>
              </a:rPr>
              <a:t>测试阶段全景图:九大阶段一目了然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43" y="1462659"/>
            <a:ext cx="1009650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6808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403"/>
                </a:solidFill>
                <a:latin typeface="Noto Sans SC"/>
                <a:ea typeface="Noto Sans SC"/>
              </a:rPr>
              <a:t>组件测试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4175" y="1462659"/>
            <a:ext cx="1478565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706"/>
                </a:solidFill>
                <a:latin typeface="Noto Sans SC"/>
                <a:ea typeface="Noto Sans SC"/>
              </a:rPr>
              <a:t>开发联调测试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7427" y="1462659"/>
            <a:ext cx="1478565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505"/>
                </a:solidFill>
                <a:latin typeface="Noto Sans SC"/>
                <a:ea typeface="Noto Sans SC"/>
              </a:rPr>
              <a:t>开发联调测试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5753" y="1462659"/>
            <a:ext cx="1273397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405"/>
                </a:solidFill>
                <a:latin typeface="Noto Sans SC"/>
                <a:ea typeface="Noto Sans SC"/>
              </a:rPr>
              <a:t>安全能测试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3838" y="1462659"/>
            <a:ext cx="1244155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48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405"/>
                </a:solidFill>
                <a:latin typeface="Noto Sans SC"/>
                <a:ea typeface="Noto Sans SC"/>
              </a:rPr>
              <a:t>非功能测试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669" y="1952529"/>
            <a:ext cx="1980247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E13"/>
                </a:solidFill>
                <a:latin typeface="Noto Sans SC"/>
                <a:ea typeface="Noto Sans SC"/>
              </a:rPr>
              <a:t>开发人员对每个软件</a:t>
            </a:r>
          </a:p>
          <a:p>
            <a:pPr marL="88677"/>
            <a:r>
              <a:rPr sz="1612" lang="zh-CN">
                <a:latin typeface="Noto Sans SC"/>
                <a:ea typeface="Noto Sans SC"/>
              </a:rPr>
              <a:t>组件进行独立测试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1952529"/>
            <a:ext cx="2006155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7" b="0" i="0">
                <a:solidFill>
                  <a:srgbClr val="020A17"/>
                </a:solidFill>
                <a:latin typeface="Noto Sans SC"/>
                <a:ea typeface="Noto Sans SC"/>
              </a:rPr>
              <a:t>并发、性能、稳定性、</a:t>
            </a:r>
          </a:p>
          <a:p>
            <a:pPr marL="205835"/>
            <a:r>
              <a:rPr sz="1537" lang="zh-CN">
                <a:latin typeface="Noto Sans SC"/>
                <a:ea typeface="Noto Sans SC"/>
              </a:rPr>
              <a:t>高可用等指标测试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838" y="1952529"/>
            <a:ext cx="1976818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20A17"/>
                </a:solidFill>
                <a:latin typeface="Noto Sans SC"/>
                <a:ea typeface="Noto Sans SC"/>
              </a:rPr>
              <a:t>并发、性能、稳定性、</a:t>
            </a:r>
          </a:p>
          <a:p>
            <a:pPr marL="205930"/>
            <a:r>
              <a:rPr sz="1500" lang="zh-CN">
                <a:latin typeface="Noto Sans SC"/>
                <a:ea typeface="Noto Sans SC"/>
              </a:rPr>
              <a:t>高可用等指标测试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3021" y="1953291"/>
            <a:ext cx="1980247" cy="50139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10A16"/>
                </a:solidFill>
                <a:latin typeface="Noto Sans SC"/>
                <a:ea typeface="Noto Sans SC"/>
              </a:rPr>
              <a:t>系统与关联系统集成</a:t>
            </a:r>
          </a:p>
          <a:p>
            <a:pPr marL="666">
              <a:spcBef>
                <a:spcPts val="150"/>
              </a:spcBef>
            </a:pPr>
            <a:r>
              <a:rPr sz="1575" lang="zh-CN">
                <a:latin typeface="Noto Sans SC"/>
                <a:ea typeface="Noto Sans SC"/>
              </a:rPr>
              <a:t>后的接口和业务联调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524279"/>
            <a:ext cx="1976818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152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000"/>
                </a:solidFill>
                <a:latin typeface="Noto Sans SC"/>
                <a:ea typeface="Noto Sans SC"/>
              </a:rPr>
              <a:t>用户验收测试UAT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263" y="4525041"/>
            <a:ext cx="150637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708"/>
                </a:solidFill>
                <a:latin typeface="Noto Sans SC"/>
                <a:ea typeface="Noto Sans SC"/>
              </a:rPr>
              <a:t>组件验收测试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600" y="4525041"/>
            <a:ext cx="1477137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000"/>
                </a:solidFill>
                <a:latin typeface="Noto Sans SC"/>
                <a:ea typeface="Noto Sans SC"/>
              </a:rPr>
              <a:t>联调验收测试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2263" y="4525041"/>
            <a:ext cx="1828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000"/>
                </a:solidFill>
                <a:latin typeface="Noto Sans SC"/>
                <a:ea typeface="Noto Sans SC"/>
              </a:rPr>
              <a:t>系统集成测试SIT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0852" y="4525041"/>
            <a:ext cx="1946052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000"/>
                </a:solidFill>
                <a:latin typeface="Noto Sans SC"/>
                <a:ea typeface="Noto Sans SC"/>
              </a:rPr>
              <a:t>生产验收测试PAT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427" y="5014150"/>
            <a:ext cx="1980247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912"/>
                </a:solidFill>
                <a:latin typeface="Noto Sans SC"/>
                <a:ea typeface="Noto Sans SC"/>
              </a:rPr>
              <a:t>验证组件连通性、规</a:t>
            </a:r>
          </a:p>
          <a:p>
            <a:pPr marL="118681"/>
            <a:r>
              <a:rPr sz="1650" lang="zh-CN">
                <a:latin typeface="Noto Sans SC"/>
                <a:ea typeface="Noto Sans SC"/>
              </a:rPr>
              <a:t>则校验和业务逻辑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6347" y="5014912"/>
            <a:ext cx="1760220" cy="57064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2000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 SC"/>
                <a:ea typeface="Noto Sans SC"/>
              </a:rPr>
              <a:t>验证页面要素、业</a:t>
            </a:r>
          </a:p>
          <a:p>
            <a:pPr>
              <a:spcBef>
                <a:spcPts val="4"/>
              </a:spcBef>
            </a:pPr>
            <a:r>
              <a:rPr sz="1612" lang="zh-CN">
                <a:latin typeface="Noto Sans SC"/>
                <a:ea typeface="Noto Sans SC"/>
              </a:rPr>
              <a:t>务流程和跨系统模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7317" y="5014912"/>
            <a:ext cx="1680210" cy="54311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91535"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000000"/>
                </a:solidFill>
                <a:latin typeface="Noto Sans SC"/>
                <a:ea typeface="Noto Sans SC"/>
              </a:rPr>
              <a:t>验证页面要素、</a:t>
            </a:r>
          </a:p>
          <a:p>
            <a:r>
              <a:rPr sz="1462" lang="zh-CN">
                <a:latin typeface="Noto Sans SC"/>
                <a:ea typeface="Noto Sans SC"/>
              </a:rPr>
              <a:t>系进行端到端业务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244" y="5014912"/>
            <a:ext cx="1685162" cy="5648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148018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000"/>
                </a:solidFill>
                <a:latin typeface="Noto Sans SC"/>
                <a:ea typeface="Noto Sans SC"/>
              </a:rPr>
              <a:t>从最终用户角度</a:t>
            </a:r>
          </a:p>
          <a:p>
            <a:r>
              <a:rPr sz="1612" lang="zh-CN">
                <a:latin typeface="Noto Sans SC"/>
                <a:ea typeface="Noto Sans SC"/>
              </a:rPr>
              <a:t>对质进行最终回归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0431" y="5014912"/>
            <a:ext cx="890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/>
                <a:ea typeface="Noto Sans SC"/>
              </a:rPr>
              <a:t>漏洞扫描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6680" y="5228463"/>
            <a:ext cx="1654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519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/>
                <a:ea typeface="Noto Sans SC"/>
              </a:rPr>
              <a:t>组件扫描、渗透测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6600" y="5535358"/>
            <a:ext cx="656463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/>
                <a:ea typeface="Noto Sans SC"/>
              </a:rPr>
              <a:t>块流转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8178" y="5535358"/>
            <a:ext cx="45129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7391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测试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1940" y="5566791"/>
            <a:ext cx="830865" cy="22498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476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/>
                <a:ea typeface="Noto Sans SC"/>
              </a:rPr>
              <a:t>模程验证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9263" y="6239541"/>
            <a:ext cx="4144137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/>
                <a:ea typeface="Noto Sans SC"/>
              </a:rPr>
              <a:t>每个阶段都有明确的准入准出标准,不可跳过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55" y="1437421"/>
            <a:ext cx="5133594" cy="1409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156" y="1441907"/>
            <a:ext cx="5152929" cy="14049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207" y="4622073"/>
            <a:ext cx="5136165" cy="140899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046" y="3033141"/>
            <a:ext cx="5145816" cy="14042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67" y="3030378"/>
            <a:ext cx="5111636" cy="1406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2659" y="0"/>
            <a:ext cx="1107208" cy="94564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" y="5991891"/>
            <a:ext cx="1123085" cy="86610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2362" y="3381300"/>
            <a:ext cx="735425" cy="72119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505" y="1822894"/>
            <a:ext cx="717904" cy="66560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2350" y="4997862"/>
            <a:ext cx="701929" cy="66398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0178" y="1794844"/>
            <a:ext cx="675989" cy="68074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39115" y="3420903"/>
            <a:ext cx="682023" cy="65817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59515" y="5018167"/>
            <a:ext cx="671798" cy="6481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8302" y="662844"/>
            <a:ext cx="6292405" cy="4500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5244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002D1E"/>
                </a:solidFill>
                <a:latin typeface="Noto Sans SC"/>
                <a:ea typeface="Noto Sans SC"/>
              </a:rPr>
              <a:t>关键角色与职责:人人有责,各司其职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5746" y="1614201"/>
            <a:ext cx="1276350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485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00F14"/>
                </a:solidFill>
                <a:latin typeface="Noto Sans SC"/>
                <a:ea typeface="Noto Sans SC"/>
              </a:rPr>
              <a:t>测试经理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1645634"/>
            <a:ext cx="127492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4271E"/>
                </a:solidFill>
                <a:latin typeface="Noto Sans SC"/>
                <a:ea typeface="Noto Sans SC"/>
              </a:rPr>
              <a:t>项目经理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2512" y="2105596"/>
            <a:ext cx="3014376" cy="50215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D11"/>
                </a:solidFill>
                <a:latin typeface="Noto Sans SC"/>
                <a:ea typeface="Noto Sans SC"/>
              </a:rPr>
              <a:t>项目主责人,管控测试阶段进度,</a:t>
            </a:r>
          </a:p>
          <a:p>
            <a:pPr marL="1428"/>
            <a:r>
              <a:rPr sz="1650" lang="zh-CN">
                <a:latin typeface="Noto Sans SC"/>
                <a:ea typeface="Noto Sans SC"/>
              </a:rPr>
              <a:t>组织范围跟踪,把控测试风险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6603" y="2106358"/>
            <a:ext cx="3377422" cy="53406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1333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E14"/>
                </a:solidFill>
                <a:latin typeface="Noto Sans SC"/>
                <a:ea typeface="Noto Sans SC"/>
              </a:rPr>
              <a:t>组织组件验收、联调验收、系统集</a:t>
            </a:r>
          </a:p>
          <a:p>
            <a:r>
              <a:rPr sz="1612" lang="zh-CN">
                <a:latin typeface="Noto Sans SC"/>
                <a:ea typeface="Noto Sans SC"/>
              </a:rPr>
              <a:t>成和生产验收测试,管控进度和风险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984" y="3205543"/>
            <a:ext cx="1277778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11F19"/>
                </a:solidFill>
                <a:latin typeface="Noto Sans SC"/>
                <a:ea typeface="Noto Sans SC"/>
              </a:rPr>
              <a:t>技术经理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0325" y="3206305"/>
            <a:ext cx="1247012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742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E13"/>
                </a:solidFill>
                <a:latin typeface="Noto Sans SC"/>
                <a:ea typeface="Noto Sans SC"/>
              </a:rPr>
              <a:t>业务经理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2512" y="3697700"/>
            <a:ext cx="2885313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D13"/>
                </a:solidFill>
                <a:latin typeface="Noto Sans SC"/>
                <a:ea typeface="Noto Sans SC"/>
              </a:rPr>
              <a:t>组织用户验收测试UAT,管控测</a:t>
            </a:r>
          </a:p>
          <a:p>
            <a:pPr marL="30765"/>
            <a:r>
              <a:rPr sz="1650" lang="zh-CN">
                <a:latin typeface="Noto Sans SC"/>
                <a:ea typeface="Noto Sans SC"/>
              </a:rPr>
              <a:t>试进度,把控测试风险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7175" y="3697700"/>
            <a:ext cx="3157394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C14"/>
                </a:solidFill>
                <a:latin typeface="Noto Sans SC"/>
                <a:ea typeface="Noto Sans SC"/>
              </a:rPr>
              <a:t>组织组件测试和开发联调测试,管</a:t>
            </a:r>
          </a:p>
          <a:p>
            <a:pPr marL="30765"/>
            <a:r>
              <a:rPr sz="1650" lang="zh-CN">
                <a:latin typeface="Noto Sans SC"/>
                <a:ea typeface="Noto Sans SC"/>
              </a:rPr>
              <a:t>控测试进度,把控测试风险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8039" y="4789741"/>
            <a:ext cx="2189797" cy="3782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097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11E1A"/>
                </a:solidFill>
                <a:latin typeface="Noto Sans SC"/>
                <a:ea typeface="Noto Sans SC"/>
              </a:rPr>
              <a:t>非功能测试人员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5746" y="4798314"/>
            <a:ext cx="1598771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C14"/>
                </a:solidFill>
                <a:latin typeface="Noto Sans SC"/>
                <a:ea typeface="Noto Sans SC"/>
              </a:rPr>
              <a:t>信息安全员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2512" y="5289708"/>
            <a:ext cx="3014376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D14"/>
                </a:solidFill>
                <a:latin typeface="Noto Sans SC"/>
                <a:ea typeface="Noto Sans SC"/>
              </a:rPr>
              <a:t>组织非功能测试,管控测试进度,</a:t>
            </a:r>
          </a:p>
          <a:p>
            <a:pPr marL="1428"/>
            <a:r>
              <a:rPr sz="1650" lang="zh-CN">
                <a:latin typeface="Noto Sans SC"/>
                <a:ea typeface="Noto Sans SC"/>
              </a:rPr>
              <a:t>把控测试风险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7175" y="5289708"/>
            <a:ext cx="2738818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B14"/>
                </a:solidFill>
                <a:latin typeface="Noto Sans SC"/>
                <a:ea typeface="Noto Sans SC"/>
              </a:rPr>
              <a:t>开展安全测试,推进缺陷修复,</a:t>
            </a:r>
          </a:p>
          <a:p>
            <a:pPr marL="1428"/>
            <a:r>
              <a:rPr sz="1575" lang="zh-CN">
                <a:latin typeface="Noto Sans SC"/>
                <a:ea typeface="Noto Sans SC"/>
              </a:rPr>
              <a:t>形成安全评估报告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021" y="6208966"/>
            <a:ext cx="349929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5C6572"/>
                </a:solidFill>
                <a:latin typeface="Noto Sans SC"/>
                <a:ea typeface="Noto Sans SC"/>
              </a:rPr>
              <a:t>所有测试管理人员均需对测试质量负责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8" y="1710213"/>
            <a:ext cx="2557520" cy="41768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776" y="1706417"/>
            <a:ext cx="2551461" cy="4179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814" y="1706880"/>
            <a:ext cx="2551362" cy="417928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597" y="3064383"/>
            <a:ext cx="2203486" cy="14896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9517" y="377107"/>
            <a:ext cx="1042416" cy="56642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3801" y="1393412"/>
            <a:ext cx="619401" cy="6384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1893" y="1915366"/>
            <a:ext cx="487108" cy="4823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649" y="6155294"/>
            <a:ext cx="487298" cy="47310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739" y="1917306"/>
            <a:ext cx="472344" cy="47706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0714" y="1915720"/>
            <a:ext cx="470630" cy="47538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2345" y="1921573"/>
            <a:ext cx="461962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6192" y="1995773"/>
            <a:ext cx="313011" cy="31775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3792" y="4832889"/>
            <a:ext cx="474888" cy="19945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2133" y="4836128"/>
            <a:ext cx="461301" cy="19973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8616" y="4835652"/>
            <a:ext cx="467806" cy="19373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00848" y="357862"/>
            <a:ext cx="275272" cy="2800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844" y="322992"/>
            <a:ext cx="8349805" cy="57864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002B18"/>
                </a:solidFill>
                <a:latin typeface="Noto Sans SC"/>
                <a:ea typeface="Noto Sans SC"/>
              </a:rPr>
              <a:t>【互动环节】角色连连看:谁来负责?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6596" y="513588"/>
            <a:ext cx="540734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2613"/>
                </a:solidFill>
                <a:latin typeface="Noto Sans SC"/>
                <a:ea typeface="Noto Sans SC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984" y="970502"/>
            <a:ext cx="6904863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118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0140D"/>
                </a:solidFill>
                <a:latin typeface="Noto Sans SC"/>
                <a:ea typeface="Noto Sans SC"/>
              </a:rPr>
              <a:t>请判断以下场景分别由哪个角色负责,举手抢答!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4193" y="1984724"/>
            <a:ext cx="215455" cy="28622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50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2012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944" y="1985486"/>
            <a:ext cx="184594" cy="2847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66056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2717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4787" y="2016061"/>
            <a:ext cx="184594" cy="223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033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150E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9875" y="2016823"/>
            <a:ext cx="153828" cy="25260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65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1F0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31" y="2440114"/>
            <a:ext cx="867537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11E15"/>
                </a:solidFill>
                <a:latin typeface="Noto Sans SC"/>
                <a:ea typeface="Noto Sans SC"/>
              </a:rPr>
              <a:t>场景1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4647" y="2440114"/>
            <a:ext cx="955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6579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1811"/>
                </a:solidFill>
                <a:latin typeface="Noto Sans SC"/>
                <a:ea typeface="Noto Sans SC"/>
              </a:rPr>
              <a:t>场景2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563" y="2440114"/>
            <a:ext cx="955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1912"/>
                </a:solidFill>
                <a:latin typeface="Noto Sans SC"/>
                <a:ea typeface="Noto Sans SC"/>
              </a:rPr>
              <a:t>场景3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478" y="2440114"/>
            <a:ext cx="955452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6579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1911"/>
                </a:solidFill>
                <a:latin typeface="Noto Sans SC"/>
                <a:ea typeface="Noto Sans SC"/>
              </a:rPr>
              <a:t>场景4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1830" y="3146583"/>
            <a:ext cx="1921097" cy="114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1428">
              <a:spcBef>
                <a:spcPts val="0"/>
              </a:spcBef>
              <a:spcAft>
                <a:spcPts val="0"/>
              </a:spcAft>
            </a:pPr>
            <a:r>
              <a:rPr sz="1837" b="0" i="0">
                <a:solidFill>
                  <a:srgbClr val="00150E"/>
                </a:solidFill>
                <a:latin typeface="Noto Sans SC"/>
                <a:ea typeface="Noto Sans SC"/>
              </a:rPr>
              <a:t>开发人员在组件</a:t>
            </a:r>
          </a:p>
          <a:p>
            <a:r>
              <a:rPr sz="1837" lang="zh-CN">
                <a:latin typeface="Noto Sans SC"/>
                <a:ea typeface="Noto Sans SC"/>
              </a:rPr>
              <a:t>测试阶段缺陷率居</a:t>
            </a:r>
          </a:p>
          <a:p>
            <a:r>
              <a:rPr sz="1837" lang="zh-CN">
                <a:latin typeface="Noto Sans SC"/>
                <a:ea typeface="Noto Sans SC"/>
              </a:rPr>
              <a:t>高不下,需要组</a:t>
            </a:r>
          </a:p>
          <a:p>
            <a:pPr marL="2190"/>
            <a:r>
              <a:rPr sz="1837" lang="zh-CN">
                <a:latin typeface="Noto Sans SC"/>
                <a:ea typeface="Noto Sans SC"/>
              </a:rPr>
              <a:t>织培训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4087" y="3422141"/>
            <a:ext cx="2000250" cy="87020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666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110A"/>
                </a:solidFill>
                <a:latin typeface="Noto Sans SC"/>
                <a:ea typeface="Noto Sans SC"/>
              </a:rPr>
              <a:t>用户提出新增业务</a:t>
            </a:r>
          </a:p>
          <a:p>
            <a:pPr>
              <a:spcBef>
                <a:spcPts val="126"/>
              </a:spcBef>
            </a:pPr>
            <a:r>
              <a:rPr sz="1875" lang="zh-CN">
                <a:latin typeface="Noto Sans SC"/>
                <a:ea typeface="Noto Sans SC"/>
              </a:rPr>
              <a:t>需求,需要确认是</a:t>
            </a:r>
          </a:p>
          <a:p>
            <a:pPr marL="1428"/>
            <a:r>
              <a:rPr sz="1875" lang="zh-CN">
                <a:latin typeface="Noto Sans SC"/>
                <a:ea typeface="Noto Sans SC"/>
              </a:rPr>
              <a:t>否纳入UAT范围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9665" y="3422141"/>
            <a:ext cx="2000250" cy="87020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761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120B"/>
                </a:solidFill>
                <a:latin typeface="Noto Sans SC"/>
                <a:ea typeface="Noto Sans SC"/>
              </a:rPr>
              <a:t>安全测试发现系统</a:t>
            </a:r>
          </a:p>
          <a:p>
            <a:r>
              <a:rPr sz="1800" lang="zh-CN">
                <a:latin typeface="Noto Sans SC"/>
                <a:ea typeface="Noto Sans SC"/>
              </a:rPr>
              <a:t>存在SQL注入漏洞,</a:t>
            </a:r>
          </a:p>
          <a:p>
            <a:pPr marL="1428">
              <a:spcBef>
                <a:spcPts val="132"/>
              </a:spcBef>
            </a:pPr>
            <a:r>
              <a:rPr sz="1800" lang="zh-CN">
                <a:latin typeface="Noto Sans SC"/>
                <a:ea typeface="Noto Sans SC"/>
              </a:rPr>
              <a:t>需要推进修复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826" y="4697444"/>
            <a:ext cx="2160270" cy="88077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B0B"/>
                </a:solidFill>
                <a:latin typeface="Noto Sans SC"/>
                <a:ea typeface="Noto Sans SC"/>
              </a:rPr>
              <a:t>系统集成测试发现跨</a:t>
            </a:r>
          </a:p>
          <a:p>
            <a:pPr marL="1428"/>
            <a:r>
              <a:rPr sz="1800" lang="zh-CN">
                <a:latin typeface="Noto Sans SC"/>
                <a:ea typeface="Noto Sans SC"/>
              </a:rPr>
              <a:t>系统数据流转异常,</a:t>
            </a:r>
          </a:p>
          <a:p>
            <a:pPr marL="2857"/>
            <a:r>
              <a:rPr sz="1800" lang="zh-CN">
                <a:latin typeface="Noto Sans SC"/>
                <a:ea typeface="Noto Sans SC"/>
              </a:rPr>
              <a:t>需要协调多个团队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7680" y="4769262"/>
            <a:ext cx="1742312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10E0E"/>
                </a:solidFill>
                <a:latin typeface="Noto Sans SC"/>
                <a:ea typeface="Noto Sans SC"/>
              </a:rPr>
              <a:t>→信息安全员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1347" y="4770024"/>
            <a:ext cx="153571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10D0D"/>
                </a:solidFill>
                <a:latin typeface="Noto Sans SC"/>
                <a:ea typeface="Noto Sans SC"/>
              </a:rPr>
              <a:t>→测试经理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0515" y="4770024"/>
            <a:ext cx="153571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D0C"/>
                </a:solidFill>
                <a:latin typeface="Noto Sans SC"/>
                <a:ea typeface="Noto Sans SC"/>
              </a:rPr>
              <a:t>→技术经理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3665" y="6176772"/>
            <a:ext cx="3619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00110A"/>
                </a:solidFill>
                <a:latin typeface="Noto Sans SC"/>
                <a:ea typeface="Noto Sans SC"/>
              </a:rPr>
              <a:t>答对的同事奖励小礼品一份!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096" y="1664916"/>
            <a:ext cx="3492722" cy="34784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512" y="1854041"/>
            <a:ext cx="2233612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993" y="1855660"/>
            <a:ext cx="2234346" cy="11576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702" y="3152034"/>
            <a:ext cx="2229135" cy="11526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504" y="3152576"/>
            <a:ext cx="2231612" cy="115149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4988" y="4449979"/>
            <a:ext cx="2222087" cy="11514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145" y="4447889"/>
            <a:ext cx="2215471" cy="115052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0798" y="2495835"/>
            <a:ext cx="2107778" cy="79933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7635" y="3574161"/>
            <a:ext cx="2093246" cy="79562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2983" y="4648861"/>
            <a:ext cx="2106072" cy="78620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3556" y="1430288"/>
            <a:ext cx="2101119" cy="78435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9320" y="3096863"/>
            <a:ext cx="2210945" cy="6989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7306" y="388048"/>
            <a:ext cx="5470302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3"/>
              </a:lnSpc>
              <a:spcBef>
                <a:spcPts val="0"/>
              </a:spcBef>
              <a:spcAft>
                <a:spcPts val="0"/>
              </a:spcAft>
            </a:pPr>
            <a:r>
              <a:rPr sz="2925" b="1" i="0">
                <a:solidFill>
                  <a:srgbClr val="013928"/>
                </a:solidFill>
                <a:latin typeface="Noto Sans SC"/>
                <a:ea typeface="Noto Sans SC"/>
              </a:rPr>
              <a:t>测试准备:谋定而后动,知止而有得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1768" y="483774"/>
            <a:ext cx="480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21A1E"/>
                </a:solidFill>
                <a:latin typeface="Roboto"/>
                <a:ea typeface="Roboto"/>
              </a:rPr>
              <a:t>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072" y="1277493"/>
            <a:ext cx="2038350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3767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106"/>
                </a:solidFill>
                <a:latin typeface="Noto Sans SC"/>
                <a:ea typeface="Noto Sans SC"/>
              </a:rPr>
              <a:t>测试方案六要素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8903" y="1277493"/>
            <a:ext cx="2038350" cy="35366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3767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5"/>
                </a:solidFill>
                <a:latin typeface="Noto Sans SC"/>
                <a:ea typeface="Noto Sans SC"/>
              </a:rPr>
              <a:t>环境准备五步走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7090" y="1309592"/>
            <a:ext cx="628650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12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0"/>
                </a:solidFill>
                <a:latin typeface="Noto Sans SC"/>
                <a:ea typeface="Noto Sans SC"/>
              </a:rPr>
              <a:t>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6343" y="1523904"/>
            <a:ext cx="1518189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10212"/>
                </a:solidFill>
                <a:latin typeface="Noto Sans SC"/>
                <a:ea typeface="Noto Sans SC"/>
              </a:rPr>
              <a:t>1.项目经理提出</a:t>
            </a:r>
          </a:p>
          <a:p>
            <a:pPr marL="762"/>
            <a:r>
              <a:rPr sz="1612" lang="zh-CN">
                <a:latin typeface="Noto Sans SC"/>
                <a:ea typeface="Noto Sans SC"/>
              </a:rPr>
              <a:t>环境使用需求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8922" y="1983200"/>
            <a:ext cx="892397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80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测试范围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5768" y="2014537"/>
            <a:ext cx="92030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7391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Noto Sans SC"/>
                <a:ea typeface="Noto Sans SC"/>
              </a:rPr>
              <a:t>测试目标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064" y="2318861"/>
            <a:ext cx="1748313" cy="53454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11B2E"/>
                </a:solidFill>
                <a:latin typeface="Noto Sans SC"/>
                <a:ea typeface="Noto Sans SC"/>
              </a:rPr>
              <a:t>确定测试覆盖的业务</a:t>
            </a:r>
          </a:p>
          <a:p>
            <a:pPr marL="3619"/>
            <a:r>
              <a:rPr sz="1425" lang="zh-CN">
                <a:latin typeface="Noto Sans SC"/>
                <a:ea typeface="Noto Sans SC"/>
              </a:rPr>
              <a:t>和功能界界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768" y="2351341"/>
            <a:ext cx="1389221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11B2E"/>
                </a:solidFill>
                <a:latin typeface="Noto Sans SC"/>
                <a:ea typeface="Noto Sans SC"/>
              </a:rPr>
              <a:t>明确本次测试要</a:t>
            </a:r>
          </a:p>
          <a:p>
            <a:r>
              <a:rPr sz="1500" lang="zh-CN">
                <a:latin typeface="Noto Sans SC"/>
                <a:ea typeface="Noto Sans SC"/>
              </a:rPr>
              <a:t>验证什么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5581" y="2594705"/>
            <a:ext cx="1685163" cy="5342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10310"/>
                </a:solidFill>
                <a:latin typeface="Noto Sans SC"/>
                <a:ea typeface="Noto Sans SC"/>
              </a:rPr>
              <a:t>2.环境管理员梳理</a:t>
            </a:r>
          </a:p>
          <a:p>
            <a:pPr marL="1523"/>
            <a:r>
              <a:rPr sz="1575" lang="zh-CN">
                <a:latin typeface="Noto Sans SC"/>
                <a:ea typeface="Noto Sans SC"/>
              </a:rPr>
              <a:t>资源和网络策略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5768" y="3300412"/>
            <a:ext cx="890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测试策略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9684" y="3300412"/>
            <a:ext cx="890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环境要求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6263" y="3300412"/>
            <a:ext cx="1623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AFDFE"/>
                </a:solidFill>
                <a:latin typeface="Noto Sans SC"/>
                <a:ea typeface="Noto Sans SC"/>
              </a:rPr>
              <a:t>环境准备五步走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5768" y="3637216"/>
            <a:ext cx="1600200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37" b="0" i="0">
                <a:solidFill>
                  <a:srgbClr val="111B2E"/>
                </a:solidFill>
                <a:latin typeface="Noto Sans SC"/>
                <a:ea typeface="Noto Sans SC"/>
              </a:rPr>
              <a:t>选择合适的测试方</a:t>
            </a:r>
          </a:p>
          <a:p>
            <a:r>
              <a:rPr sz="1537" lang="zh-CN">
                <a:latin typeface="Noto Sans SC"/>
                <a:ea typeface="Noto Sans SC"/>
              </a:rPr>
              <a:t>法和工具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9684" y="3637216"/>
            <a:ext cx="1600200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37" b="0" i="0">
                <a:solidFill>
                  <a:srgbClr val="111B2E"/>
                </a:solidFill>
                <a:latin typeface="Noto Sans SC"/>
                <a:ea typeface="Noto Sans SC"/>
              </a:rPr>
              <a:t>明确软软件资源和</a:t>
            </a:r>
          </a:p>
          <a:p>
            <a:r>
              <a:rPr sz="1537" lang="zh-CN">
                <a:latin typeface="Noto Sans SC"/>
                <a:ea typeface="Noto Sans SC"/>
              </a:rPr>
              <a:t>网络需求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7105" y="3698462"/>
            <a:ext cx="1682305" cy="5013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10211"/>
                </a:solidFill>
                <a:latin typeface="Noto Sans SC"/>
                <a:ea typeface="Noto Sans SC"/>
              </a:rPr>
              <a:t>4.设置管理员搭源</a:t>
            </a:r>
          </a:p>
          <a:p>
            <a:pPr marL="666">
              <a:spcBef>
                <a:spcPts val="150"/>
              </a:spcBef>
            </a:pPr>
            <a:r>
              <a:rPr sz="1575" lang="zh-CN">
                <a:latin typeface="Noto Sans SC"/>
                <a:ea typeface="Noto Sans SC"/>
              </a:rPr>
              <a:t>并环境并初步验证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5768" y="4586287"/>
            <a:ext cx="1330547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准入准出标准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9684" y="4586287"/>
            <a:ext cx="890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职责分工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7105" y="4770024"/>
            <a:ext cx="1682305" cy="5020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10315"/>
                </a:solidFill>
                <a:latin typeface="Noto Sans SC"/>
                <a:ea typeface="Noto Sans SC"/>
              </a:rPr>
              <a:t>5.测试人员进行冒</a:t>
            </a:r>
          </a:p>
          <a:p>
            <a:r>
              <a:rPr sz="1575" lang="zh-CN">
                <a:latin typeface="Noto Sans SC"/>
                <a:ea typeface="Noto Sans SC"/>
              </a:rPr>
              <a:t>烟测试验证可用性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5768" y="4923091"/>
            <a:ext cx="1769459" cy="5013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111B2E"/>
                </a:solidFill>
                <a:latin typeface="Noto Sans SC"/>
                <a:ea typeface="Noto Sans SC"/>
              </a:rPr>
              <a:t>配备科分资源"设定</a:t>
            </a:r>
          </a:p>
          <a:p>
            <a:pPr marL="761">
              <a:spcBef>
                <a:spcPts val="150"/>
              </a:spcBef>
            </a:pPr>
            <a:r>
              <a:rPr sz="1462" lang="zh-CN">
                <a:latin typeface="Noto Sans SC"/>
                <a:ea typeface="Noto Sans SC"/>
              </a:rPr>
              <a:t>始和结束的判条件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9684" y="4923091"/>
            <a:ext cx="174088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11B2E"/>
                </a:solidFill>
                <a:latin typeface="Noto Sans SC"/>
                <a:ea typeface="Noto Sans SC"/>
              </a:rPr>
              <a:t>每个人体情结结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0446" y="5199411"/>
            <a:ext cx="567118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1278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B2E"/>
                </a:solidFill>
                <a:latin typeface="Noto Sans SC"/>
                <a:ea typeface="Noto Sans SC"/>
              </a:rPr>
              <a:t>小任务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834" y="5839968"/>
            <a:ext cx="405907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05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B"/>
                </a:solidFill>
                <a:latin typeface="Noto Sans SC"/>
                <a:ea typeface="Noto Sans SC"/>
              </a:rPr>
              <a:t>测试方案需在准入前一周完成评审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" y="1534982"/>
            <a:ext cx="9005411" cy="11048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819" y="3897249"/>
            <a:ext cx="8141520" cy="10966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907" y="2712148"/>
            <a:ext cx="8008291" cy="11032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993" y="268032"/>
            <a:ext cx="378809" cy="3788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558" y="4262948"/>
            <a:ext cx="340423" cy="3498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8511" y="1923239"/>
            <a:ext cx="308800" cy="308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0050" y="3101563"/>
            <a:ext cx="293941" cy="30816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541" y="5467986"/>
            <a:ext cx="288417" cy="2931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5321" y="511302"/>
            <a:ext cx="5732621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11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12A15"/>
                </a:solidFill>
                <a:latin typeface="Noto Sans SC"/>
                <a:ea typeface="Noto Sans SC"/>
              </a:rPr>
              <a:t>【互动环节】火眼金睛:这些做法对吗?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06" y="1034034"/>
            <a:ext cx="5405818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6542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02A3C"/>
                </a:solidFill>
                <a:latin typeface="Noto Sans SC"/>
                <a:ea typeface="Noto Sans SC"/>
              </a:rPr>
              <a:t>请判断以下测试执行阶段的做法是否正确,快速抢答!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753" y="1768887"/>
            <a:ext cx="2337792" cy="59540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01"/>
                </a:solidFill>
                <a:latin typeface="Noto Sans SC"/>
                <a:ea typeface="Noto Sans SC"/>
              </a:rPr>
              <a:t>测试方案还没评审,先</a:t>
            </a:r>
          </a:p>
          <a:p>
            <a:pPr>
              <a:spcBef>
                <a:spcPts val="131"/>
              </a:spcBef>
            </a:pPr>
            <a:r>
              <a:rPr sz="1800" lang="zh-CN">
                <a:latin typeface="Noto Sans SC"/>
                <a:ea typeface="Noto Sans SC"/>
              </a:rPr>
              <a:t>开始执行测试案例吧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596" y="1768887"/>
            <a:ext cx="3924490" cy="5955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测试方案必须在准入前一周完成评审,</a:t>
            </a:r>
          </a:p>
          <a:p>
            <a:pPr>
              <a:spcBef>
                <a:spcPts val="131"/>
              </a:spcBef>
            </a:pPr>
            <a:r>
              <a:rPr sz="1800" lang="zh-CN">
                <a:latin typeface="Noto Sans SC"/>
                <a:ea typeface="Noto Sans SC"/>
              </a:rPr>
              <a:t>评委签字确认后方可执行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921954"/>
            <a:ext cx="892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6949"/>
              </a:lnSpc>
              <a:spcBef>
                <a:spcPts val="0"/>
              </a:spcBef>
              <a:spcAft>
                <a:spcPts val="0"/>
              </a:spcAft>
            </a:pPr>
            <a:r>
              <a:rPr sz="2130" b="1" i="0">
                <a:solidFill>
                  <a:srgbClr val="000000"/>
                </a:solidFill>
                <a:latin typeface="Noto Sans SC"/>
                <a:ea typeface="Noto Sans SC"/>
              </a:rPr>
              <a:t>X错误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6684" y="2963608"/>
            <a:ext cx="2854547" cy="61055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2" b="0" i="0">
                <a:solidFill>
                  <a:srgbClr val="000000"/>
                </a:solidFill>
                <a:latin typeface="Noto Sans SC"/>
                <a:ea typeface="Noto Sans SC"/>
              </a:rPr>
              <a:t>发现一个致命缺陷,先放着,</a:t>
            </a:r>
          </a:p>
          <a:p>
            <a:pPr marL="26193">
              <a:spcBef>
                <a:spcPts val="255"/>
              </a:spcBef>
            </a:pPr>
            <a:r>
              <a:rPr sz="1762" lang="zh-CN">
                <a:latin typeface="Noto Sans SC"/>
                <a:ea typeface="Noto Sans SC"/>
              </a:rPr>
              <a:t>等凑够一批再统一修复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4515" y="2963608"/>
            <a:ext cx="2532221" cy="57959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致命问题或严重问题原则</a:t>
            </a:r>
          </a:p>
          <a:p>
            <a:pPr marL="666">
              <a:spcBef>
                <a:spcPts val="261"/>
              </a:spcBef>
            </a:pPr>
            <a:r>
              <a:rPr sz="1725" lang="zh-CN">
                <a:latin typeface="Noto Sans SC"/>
                <a:ea typeface="Noto Sans SC"/>
              </a:rPr>
              <a:t>上要求当日完成修复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0087" y="3084575"/>
            <a:ext cx="600837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871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10101"/>
                </a:solidFill>
                <a:latin typeface="Noto Sans SC"/>
                <a:ea typeface="Noto Sans SC"/>
              </a:rPr>
              <a:t>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9680" y="4126325"/>
            <a:ext cx="2724340" cy="59464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2" b="0" i="0">
                <a:solidFill>
                  <a:srgbClr val="000000"/>
                </a:solidFill>
                <a:latin typeface="Noto Sans SC"/>
                <a:ea typeface="Noto Sans SC"/>
              </a:rPr>
              <a:t>测试人员定期组织日例会,</a:t>
            </a:r>
          </a:p>
          <a:p>
            <a:pPr marL="666">
              <a:spcBef>
                <a:spcPts val="378"/>
              </a:spcBef>
            </a:pPr>
            <a:r>
              <a:rPr sz="1762" lang="zh-CN">
                <a:latin typeface="Noto Sans SC"/>
                <a:ea typeface="Noto Sans SC"/>
              </a:rPr>
              <a:t>同步测试进度和风险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8838" y="4126325"/>
            <a:ext cx="2868358" cy="59464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</a:rPr>
              <a:t>应定期组织测试日/周例会,</a:t>
            </a:r>
          </a:p>
          <a:p>
            <a:pPr marL="762">
              <a:spcBef>
                <a:spcPts val="378"/>
              </a:spcBef>
            </a:pPr>
            <a:r>
              <a:rPr sz="1800" lang="zh-CN">
                <a:latin typeface="Noto Sans SC"/>
                <a:ea typeface="Noto Sans SC"/>
              </a:rPr>
              <a:t>同步进度、风险和问题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5175" y="4279392"/>
            <a:ext cx="540734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Noto Sans SC"/>
                <a:ea typeface="Noto Sans SC"/>
              </a:rPr>
              <a:t>正确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5768" y="5320283"/>
            <a:ext cx="2386393" cy="56416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28574">
              <a:spcBef>
                <a:spcPts val="0"/>
              </a:spcBef>
              <a:spcAft>
                <a:spcPts val="0"/>
              </a:spcAft>
            </a:pPr>
            <a:r>
              <a:rPr sz="1762" b="0" i="0">
                <a:solidFill>
                  <a:srgbClr val="000100"/>
                </a:solidFill>
                <a:latin typeface="Noto Sans SC"/>
                <a:ea typeface="Noto Sans SC"/>
              </a:rPr>
              <a:t>需求变更后直接改代码,</a:t>
            </a:r>
          </a:p>
          <a:p>
            <a:pPr>
              <a:spcBef>
                <a:spcPts val="138"/>
              </a:spcBef>
            </a:pPr>
            <a:r>
              <a:rPr sz="1762" lang="zh-CN">
                <a:latin typeface="Noto Sans SC"/>
                <a:ea typeface="Noto Sans SC"/>
              </a:rPr>
              <a:t>测试案例不用更新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7768" y="5321046"/>
            <a:ext cx="3684460" cy="56340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需求变更后必须同步更新测试案例,</a:t>
            </a:r>
          </a:p>
          <a:p>
            <a:pPr marL="29337">
              <a:spcBef>
                <a:spcPts val="386"/>
              </a:spcBef>
            </a:pPr>
            <a:r>
              <a:rPr sz="1725" lang="zh-CN">
                <a:latin typeface="Noto Sans SC"/>
                <a:ea typeface="Noto Sans SC"/>
              </a:rPr>
              <a:t>确保覆盖完整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0255" y="5442013"/>
            <a:ext cx="89392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11197"/>
              </a:lnSpc>
              <a:spcBef>
                <a:spcPts val="0"/>
              </a:spcBef>
              <a:spcAft>
                <a:spcPts val="0"/>
              </a:spcAft>
            </a:pPr>
            <a:r>
              <a:rPr sz="2276" b="1" i="0">
                <a:solidFill>
                  <a:srgbClr val="000000"/>
                </a:solidFill>
                <a:latin typeface="Noto Sans SC"/>
                <a:ea typeface="Noto Sans SC"/>
              </a:rPr>
              <a:t>×错误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68" y="6331362"/>
            <a:ext cx="355796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73340"/>
                </a:solidFill>
                <a:latin typeface="Noto Sans SC"/>
                <a:ea typeface="Noto Sans SC"/>
              </a:rPr>
              <a:t>全部答对说明你已经掌握了基本要求!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881" y="3677457"/>
            <a:ext cx="2451354" cy="1746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445" y="3682184"/>
            <a:ext cx="2458497" cy="17438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31" y="3688270"/>
            <a:ext cx="2458568" cy="17357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199" y="3694747"/>
            <a:ext cx="2454878" cy="172697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0528" y="1423348"/>
            <a:ext cx="7977663" cy="45695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9287" y="869193"/>
            <a:ext cx="587978" cy="58323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6488" y="1995297"/>
            <a:ext cx="398282" cy="40776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978" y="6133389"/>
            <a:ext cx="399383" cy="4041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4877" y="2001821"/>
            <a:ext cx="397192" cy="39719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135" y="2000006"/>
            <a:ext cx="391001" cy="40053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2556" y="1374306"/>
            <a:ext cx="231171" cy="49064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903" y="3612832"/>
            <a:ext cx="250008" cy="4038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805" y="3614867"/>
            <a:ext cx="237744" cy="39940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1155" y="3620463"/>
            <a:ext cx="236791" cy="39307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807" y="3616166"/>
            <a:ext cx="233755" cy="3959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6544" y="479107"/>
            <a:ext cx="5266563" cy="4500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012D1F"/>
                </a:solidFill>
                <a:latin typeface="Noto Sans SC"/>
                <a:ea typeface="Noto Sans SC"/>
              </a:rPr>
              <a:t>缺陷管理:对症下药,分级施策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002" y="2013013"/>
            <a:ext cx="1714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0"/>
                </a:solidFill>
                <a:latin typeface="Noto Sans SC"/>
                <a:ea typeface="Noto Sans SC"/>
              </a:rPr>
              <a:t>开展缺陷分析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171" y="2013013"/>
            <a:ext cx="1714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1"/>
                </a:solidFill>
                <a:latin typeface="Noto Sans SC"/>
                <a:ea typeface="Noto Sans SC"/>
              </a:rPr>
              <a:t>制定解决策略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328" y="2013013"/>
            <a:ext cx="115766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6379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001"/>
                </a:solidFill>
                <a:latin typeface="Noto Sans SC"/>
                <a:ea typeface="Noto Sans SC"/>
              </a:rPr>
              <a:t>跟踪闭环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039" y="2460783"/>
            <a:ext cx="3093910" cy="88249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/>
                <a:ea typeface="Noto Sans SC"/>
              </a:rPr>
              <a:t>项目经理、PMO、测试负责人组</a:t>
            </a:r>
          </a:p>
          <a:p>
            <a:pPr marL="30289"/>
            <a:r>
              <a:rPr sz="1650" lang="zh-CN">
                <a:latin typeface="Noto Sans SC"/>
                <a:ea typeface="Noto Sans SC"/>
              </a:rPr>
              <a:t>织相关人员,准确定位缺陷类</a:t>
            </a:r>
          </a:p>
          <a:p>
            <a:pPr marL="2476"/>
            <a:r>
              <a:rPr sz="1650" lang="zh-CN">
                <a:latin typeface="Noto Sans SC"/>
                <a:ea typeface="Noto Sans SC"/>
              </a:rPr>
              <a:t>型、产生原因和严重等级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9838" y="2472975"/>
            <a:ext cx="2840855" cy="8711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根据缺陷严重等级调整解决</a:t>
            </a:r>
          </a:p>
          <a:p>
            <a:pPr marL="380"/>
            <a:r>
              <a:rPr sz="1725" lang="zh-CN">
                <a:latin typeface="Noto Sans SC"/>
                <a:ea typeface="Noto Sans SC"/>
              </a:rPr>
              <a:t>优先级,确保高优先级缺陷优</a:t>
            </a:r>
          </a:p>
          <a:p>
            <a:r>
              <a:rPr sz="1725" lang="zh-CN">
                <a:latin typeface="Noto Sans SC"/>
                <a:ea typeface="Noto Sans SC"/>
              </a:rPr>
              <a:t>先处理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9175" y="2472975"/>
            <a:ext cx="2768155" cy="56492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20409"/>
                </a:solidFill>
                <a:latin typeface="Noto Sans SC"/>
                <a:ea typeface="Noto Sans SC"/>
              </a:rPr>
              <a:t>持续监控缺陷收敛情况,确</a:t>
            </a:r>
          </a:p>
          <a:p>
            <a:r>
              <a:rPr sz="1687" lang="zh-CN">
                <a:latin typeface="Noto Sans SC"/>
                <a:ea typeface="Noto Sans SC"/>
              </a:rPr>
              <a:t>保所有缺陷在规定时效内解决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9409" y="4124706"/>
            <a:ext cx="1217771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37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001"/>
                </a:solidFill>
                <a:latin typeface="Noto Sans SC"/>
                <a:ea typeface="Noto Sans SC"/>
              </a:rPr>
              <a:t>致命问题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4988" y="4124706"/>
            <a:ext cx="1217771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37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40404"/>
                </a:solidFill>
                <a:latin typeface="Noto Sans SC"/>
                <a:ea typeface="Noto Sans SC"/>
              </a:rPr>
              <a:t>严重问题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0662" y="4124706"/>
            <a:ext cx="1217771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3733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20202"/>
                </a:solidFill>
                <a:latin typeface="Noto Sans SC"/>
                <a:ea typeface="Noto Sans SC"/>
              </a:rPr>
              <a:t>一般问题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577" y="4124706"/>
            <a:ext cx="1950434" cy="3535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9742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20202"/>
                </a:solidFill>
                <a:latin typeface="Noto Sans SC"/>
                <a:ea typeface="Noto Sans SC"/>
              </a:rPr>
              <a:t>轻微/建议问题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1244" y="4615338"/>
            <a:ext cx="1714500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40625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32F"/>
                </a:solidFill>
                <a:latin typeface="Noto Sans SC"/>
                <a:ea typeface="Noto Sans SC"/>
              </a:rPr>
              <a:t>当日修复,原则上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937" y="4647533"/>
            <a:ext cx="191671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202B"/>
                </a:solidFill>
                <a:latin typeface="Noto Sans SC"/>
                <a:ea typeface="Noto Sans SC"/>
              </a:rPr>
              <a:t>当日修复,不可延迟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0768" y="4647533"/>
            <a:ext cx="1066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B212A"/>
                </a:solidFill>
                <a:latin typeface="Noto Sans SC"/>
                <a:ea typeface="Noto Sans SC"/>
              </a:rPr>
              <a:t>两天内修复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6347" y="4647533"/>
            <a:ext cx="1066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E212C"/>
                </a:solidFill>
                <a:latin typeface="Noto Sans SC"/>
                <a:ea typeface="Noto Sans SC"/>
              </a:rPr>
              <a:t>四天内修复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2347" y="4923091"/>
            <a:ext cx="832294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F232F"/>
                </a:solidFill>
                <a:latin typeface="Noto Sans SC"/>
                <a:ea typeface="Noto Sans SC"/>
              </a:rPr>
              <a:t>当日完成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6263" y="5902737"/>
            <a:ext cx="6400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1F16"/>
                </a:solidFill>
                <a:latin typeface="Noto Sans SC"/>
                <a:ea typeface="Noto Sans SC"/>
              </a:rPr>
              <a:t>针对缺陷集中度高的模块,技术经理应组织增加自测或代码走查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89" y="4226147"/>
            <a:ext cx="3332388" cy="16067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990" y="4230147"/>
            <a:ext cx="3295844" cy="1609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474" y="1834134"/>
            <a:ext cx="2004613" cy="19141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0127" y="1834229"/>
            <a:ext cx="2003515" cy="19130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0714" y="1837753"/>
            <a:ext cx="2003712" cy="190852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597" y="1834708"/>
            <a:ext cx="2005107" cy="190508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44" y="1837467"/>
            <a:ext cx="1999949" cy="190471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8094" y="611901"/>
            <a:ext cx="708755" cy="261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387" y="509778"/>
            <a:ext cx="4658082" cy="10018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02E23"/>
                </a:solidFill>
                <a:latin typeface="Noto Sans SC"/>
                <a:ea typeface="Noto Sans SC"/>
              </a:rPr>
              <a:t>测试报告:</a:t>
            </a:r>
          </a:p>
          <a:p>
            <a:pPr marL="28575">
              <a:spcBef>
                <a:spcPts val="548"/>
              </a:spcBef>
            </a:pPr>
            <a:r>
              <a:rPr sz="3300" lang="zh-CN" b="1">
                <a:latin typeface="Noto Sans SC"/>
                <a:ea typeface="Noto Sans SC"/>
              </a:rPr>
              <a:t>用数据说话,用结论把关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497" y="2410968"/>
            <a:ext cx="177307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9808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11D1D"/>
                </a:solidFill>
                <a:latin typeface="Noto Sans SC"/>
                <a:ea typeface="Noto Sans SC"/>
              </a:rPr>
              <a:t>测试范围及类型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7255" y="2410968"/>
            <a:ext cx="153866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11D1D"/>
                </a:solidFill>
                <a:latin typeface="Noto Sans SC"/>
                <a:ea typeface="Noto Sans SC"/>
              </a:rPr>
              <a:t>测试整体情况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6665" y="2410968"/>
            <a:ext cx="150933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9808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11B1C"/>
                </a:solidFill>
                <a:latin typeface="Noto Sans SC"/>
                <a:ea typeface="Noto Sans SC"/>
              </a:rPr>
              <a:t>测试过程分析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6834" y="2410968"/>
            <a:ext cx="153866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21B1C"/>
                </a:solidFill>
                <a:latin typeface="Noto Sans SC"/>
                <a:ea typeface="Noto Sans SC"/>
              </a:rPr>
              <a:t>测试结果分析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1512" y="2411825"/>
            <a:ext cx="103898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1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21B1C"/>
                </a:solidFill>
                <a:latin typeface="Noto Sans SC"/>
                <a:ea typeface="Noto Sans SC"/>
              </a:rPr>
              <a:t>测试结论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596" y="2901600"/>
            <a:ext cx="1683734" cy="28927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4461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20D1F"/>
                </a:solidFill>
                <a:latin typeface="Noto Sans SC"/>
                <a:ea typeface="Noto Sans SC"/>
              </a:rPr>
              <a:t>明确测试覆盖阶段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9343" y="2901600"/>
            <a:ext cx="1654397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519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20D1F"/>
                </a:solidFill>
                <a:latin typeface="Noto Sans SC"/>
                <a:ea typeface="Noto Sans SC"/>
              </a:rPr>
              <a:t>概述测试执行进展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7427" y="2901600"/>
            <a:ext cx="1478565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8091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40F23"/>
                </a:solidFill>
                <a:latin typeface="Noto Sans SC"/>
                <a:ea typeface="Noto Sans SC"/>
              </a:rPr>
              <a:t>分析关键事件和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838" y="2901600"/>
            <a:ext cx="1600200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30E22"/>
                </a:solidFill>
                <a:latin typeface="Noto Sans SC"/>
                <a:ea typeface="Noto Sans SC"/>
              </a:rPr>
              <a:t>统计案例通过率、</a:t>
            </a:r>
          </a:p>
          <a:p>
            <a:pPr marL="762"/>
            <a:r>
              <a:rPr sz="1575" lang="zh-CN">
                <a:latin typeface="Noto Sans SC"/>
                <a:ea typeface="Noto Sans SC"/>
              </a:rPr>
              <a:t>缺定密度等数据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1937" y="2902362"/>
            <a:ext cx="188737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30E22"/>
                </a:solidFill>
                <a:latin typeface="Noto Sans SC"/>
                <a:ea typeface="Noto Sans SC"/>
              </a:rPr>
              <a:t>明确是达到准出标准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8852" y="3177921"/>
            <a:ext cx="656463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20D1F"/>
                </a:solidFill>
                <a:latin typeface="Noto Sans SC"/>
                <a:ea typeface="Noto Sans SC"/>
              </a:rPr>
              <a:t>和类型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105" y="3177921"/>
            <a:ext cx="861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20D1F"/>
                </a:solidFill>
                <a:latin typeface="Noto Sans SC"/>
                <a:ea typeface="Noto Sans SC"/>
              </a:rPr>
              <a:t>和完成率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5684" y="3177921"/>
            <a:ext cx="422052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20D20"/>
                </a:solidFill>
                <a:latin typeface="Noto Sans SC"/>
                <a:ea typeface="Noto Sans SC"/>
              </a:rPr>
              <a:t>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581" y="4003071"/>
            <a:ext cx="1187005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1D1B"/>
                </a:solidFill>
                <a:latin typeface="Noto Sans SC"/>
                <a:ea typeface="Noto Sans SC"/>
              </a:rPr>
              <a:t>评审要求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2922" y="4524279"/>
            <a:ext cx="1185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1D1B"/>
                </a:solidFill>
                <a:latin typeface="Noto Sans SC"/>
                <a:ea typeface="Noto Sans SC"/>
              </a:rPr>
              <a:t>评审要点: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7090" y="4524279"/>
            <a:ext cx="1185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11718"/>
                </a:solidFill>
                <a:latin typeface="Noto Sans SC"/>
                <a:ea typeface="Noto Sans SC"/>
              </a:rPr>
              <a:t>评审流程: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427" y="4524279"/>
            <a:ext cx="118548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085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1A1A"/>
                </a:solidFill>
                <a:latin typeface="Noto Sans SC"/>
                <a:ea typeface="Noto Sans SC"/>
              </a:rPr>
              <a:t>产出归档: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2922" y="4983575"/>
            <a:ext cx="2768155" cy="5028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30F22"/>
                </a:solidFill>
                <a:latin typeface="Noto Sans SC"/>
                <a:ea typeface="Noto Sans SC"/>
              </a:rPr>
              <a:t>基于《评审结果表》逐项检查</a:t>
            </a:r>
          </a:p>
          <a:p>
            <a:pPr marL="762"/>
            <a:r>
              <a:rPr sz="1687" lang="zh-CN">
                <a:latin typeface="Noto Sans SC"/>
                <a:ea typeface="Noto Sans SC"/>
              </a:rPr>
              <a:t>查,评委反馈并签字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7090" y="4983575"/>
            <a:ext cx="2640330" cy="50282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30E23"/>
                </a:solidFill>
                <a:latin typeface="Noto Sans SC"/>
                <a:ea typeface="Noto Sans SC"/>
              </a:rPr>
              <a:t>项目组内部达成一到试报告</a:t>
            </a:r>
          </a:p>
          <a:p>
            <a:pPr marL="30003"/>
            <a:r>
              <a:rPr sz="1650" lang="zh-CN">
                <a:latin typeface="Noto Sans SC"/>
                <a:ea typeface="Noto Sans SC"/>
              </a:rPr>
              <a:t>作为项目投产上线的依据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5431" y="4984337"/>
            <a:ext cx="2420302" cy="50120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30C21"/>
                </a:solidFill>
                <a:latin typeface="Noto Sans SC"/>
                <a:ea typeface="Noto Sans SC"/>
              </a:rPr>
              <a:t>所有测过的阶段产出物评</a:t>
            </a:r>
          </a:p>
          <a:p>
            <a:pPr marL="761">
              <a:spcBef>
                <a:spcPts val="150"/>
              </a:spcBef>
            </a:pPr>
            <a:r>
              <a:rPr sz="1650" lang="zh-CN">
                <a:latin typeface="Noto Sans SC"/>
                <a:ea typeface="Noto Sans SC"/>
              </a:rPr>
              <a:t>评审通过后纳入配置管理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8497" y="6176772"/>
            <a:ext cx="4176331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6379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10101"/>
                </a:solidFill>
                <a:latin typeface="Noto Sans SC"/>
                <a:ea typeface="Noto Sans SC"/>
              </a:rPr>
              <a:t>测试报告是投产前的最后一道关卡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10" y="3902442"/>
            <a:ext cx="10817828" cy="4430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230" y="2100923"/>
            <a:ext cx="2373058" cy="15439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094" y="2105726"/>
            <a:ext cx="2334101" cy="15338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43" y="2099405"/>
            <a:ext cx="2298298" cy="15417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6194" y="4502943"/>
            <a:ext cx="2160632" cy="130587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6881" y="4502792"/>
            <a:ext cx="2153031" cy="130227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4631" y="473202"/>
            <a:ext cx="596256" cy="52054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7040" y="1844230"/>
            <a:ext cx="527420" cy="53692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7211" y="3945350"/>
            <a:ext cx="270449" cy="27993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5808" y="3947731"/>
            <a:ext cx="275939" cy="27593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456" y="3944397"/>
            <a:ext cx="274986" cy="27498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7951" y="3932682"/>
            <a:ext cx="266166" cy="28517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92351" y="3950017"/>
            <a:ext cx="273653" cy="27365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7764" y="3944016"/>
            <a:ext cx="267619" cy="277177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223" y="5661476"/>
            <a:ext cx="238696" cy="2721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1283400">
            <a:off x="7765542" y="613219"/>
            <a:ext cx="385476" cy="20583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80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A01"/>
                </a:solidFill>
                <a:latin typeface="Noto Sans SC"/>
                <a:ea typeface="Noto Sans SC"/>
              </a:rPr>
              <a:t>互动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896" y="816673"/>
            <a:ext cx="7052881" cy="4179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2513"/>
              </a:lnSpc>
              <a:spcBef>
                <a:spcPts val="0"/>
              </a:spcBef>
              <a:spcAft>
                <a:spcPts val="0"/>
              </a:spcAft>
            </a:pPr>
            <a:r>
              <a:rPr sz="2925" b="1" i="0">
                <a:solidFill>
                  <a:srgbClr val="012312"/>
                </a:solidFill>
                <a:latin typeface="Noto Sans SC"/>
                <a:ea typeface="Noto Sans SC"/>
              </a:rPr>
              <a:t>【互动环节】找茬大挑战:哪些操作不规范?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40" y="1494853"/>
            <a:ext cx="6751034" cy="22498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8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E07"/>
                </a:solidFill>
                <a:latin typeface="Noto Sans SC"/>
                <a:ea typeface="Noto Sans SC"/>
              </a:rPr>
              <a:t>以下是一个项目的测试过程记录,请找出其中不规范的操作,小组讨论后分享!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0178" y="2259425"/>
            <a:ext cx="685800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3月1日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852" y="2259425"/>
            <a:ext cx="74437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/>
                <a:ea typeface="Noto Sans SC"/>
              </a:rPr>
              <a:t>3月5日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515" y="2259425"/>
            <a:ext cx="861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/>
                <a:ea typeface="Noto Sans SC"/>
              </a:rPr>
              <a:t>3月15日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9255" y="2564130"/>
            <a:ext cx="1949005" cy="53425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000D08"/>
                </a:solidFill>
                <a:latin typeface="Noto Sans SC"/>
                <a:ea typeface="Noto Sans SC"/>
              </a:rPr>
              <a:t>测试人员完成案例编</a:t>
            </a:r>
          </a:p>
          <a:p>
            <a:pPr marL="206597"/>
            <a:r>
              <a:rPr sz="1612" lang="zh-CN">
                <a:latin typeface="Noto Sans SC"/>
                <a:ea typeface="Noto Sans SC"/>
              </a:rPr>
              <a:t>写后未组织评审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255" y="2564891"/>
            <a:ext cx="1837729" cy="5961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666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项目经理决定跳过</a:t>
            </a:r>
          </a:p>
          <a:p>
            <a:r>
              <a:rPr sz="1725" lang="zh-CN">
                <a:latin typeface="Noto Sans SC"/>
                <a:ea typeface="Noto Sans SC"/>
              </a:rPr>
              <a:t>测试方案评审,直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5413" y="2564891"/>
            <a:ext cx="1837729" cy="5961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30099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D09"/>
                </a:solidFill>
                <a:latin typeface="Noto Sans SC"/>
                <a:ea typeface="Noto Sans SC"/>
              </a:rPr>
              <a:t>环境搭建完成后</a:t>
            </a:r>
          </a:p>
          <a:p>
            <a:r>
              <a:rPr sz="1800" lang="zh-CN" b="1">
                <a:latin typeface="Noto Sans SC"/>
                <a:ea typeface="Noto Sans SC"/>
              </a:rPr>
              <a:t>直接开始测试,未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105" y="3116675"/>
            <a:ext cx="1096137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7391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/>
                <a:ea typeface="Noto Sans SC"/>
              </a:rPr>
              <a:t>接开始测试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9263" y="3116675"/>
            <a:ext cx="1125378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7391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D09"/>
                </a:solidFill>
                <a:latin typeface="Noto Sans SC"/>
                <a:ea typeface="Noto Sans SC"/>
              </a:rPr>
              <a:t>做冒烟测试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4852" y="4249483"/>
            <a:ext cx="1620202" cy="45577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033624"/>
                </a:solidFill>
                <a:latin typeface="Noto Sans SC"/>
                <a:ea typeface="Noto Sans SC"/>
              </a:rPr>
              <a:t>环境搭建后需进行冒</a:t>
            </a:r>
          </a:p>
          <a:p>
            <a:pPr marL="87534"/>
            <a:r>
              <a:rPr sz="1312" lang="zh-CN">
                <a:latin typeface="Noto Sans SC"/>
                <a:ea typeface="Noto Sans SC"/>
              </a:rPr>
              <a:t>烟测试验证可用性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362" y="4464558"/>
            <a:ext cx="1358455" cy="43938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033624"/>
                </a:solidFill>
                <a:latin typeface="Noto Sans SC"/>
                <a:ea typeface="Noto Sans SC"/>
              </a:rPr>
              <a:t>测试方案必须经评</a:t>
            </a:r>
          </a:p>
          <a:p>
            <a:pPr marL="175831"/>
            <a:r>
              <a:rPr sz="1237" lang="zh-CN">
                <a:latin typeface="Noto Sans SC"/>
                <a:ea typeface="Noto Sans SC"/>
              </a:rPr>
              <a:t>审后方可执行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193" y="4464558"/>
            <a:ext cx="1358455" cy="43938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3624"/>
                </a:solidFill>
                <a:latin typeface="Noto Sans SC"/>
                <a:ea typeface="Noto Sans SC"/>
              </a:rPr>
              <a:t>测试案例必须经项</a:t>
            </a:r>
          </a:p>
          <a:p>
            <a:pPr marL="175831"/>
            <a:r>
              <a:rPr sz="1200" lang="zh-CN">
                <a:latin typeface="Noto Sans SC"/>
                <a:ea typeface="Noto Sans SC"/>
              </a:rPr>
              <a:t>目组正式俘复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0852" y="4647533"/>
            <a:ext cx="861631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SC"/>
                <a:ea typeface="Noto Sans SC"/>
              </a:rPr>
              <a:t>3月25日</a:t>
            </a:r>
          </a:p>
        </p:txBody>
      </p:sp>
      <p:sp>
        <p:nvSpPr>
          <p:cNvPr id="33" name="TextBox 32"/>
          <p:cNvSpPr txBox="1"/>
          <p:nvPr/>
        </p:nvSpPr>
        <p:spPr>
          <a:xfrm rot="21471600">
            <a:off x="2868930" y="4661439"/>
            <a:ext cx="863631" cy="28908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3795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3月10日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9530" y="4678870"/>
            <a:ext cx="860202" cy="225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740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Noto Sans SC"/>
                <a:ea typeface="Noto Sans SC"/>
              </a:rPr>
              <a:t>3月20日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2596" y="4921567"/>
            <a:ext cx="2004250" cy="596264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87153">
              <a:spcBef>
                <a:spcPts val="0"/>
              </a:spcBef>
              <a:spcAft>
                <a:spcPts val="0"/>
              </a:spcAft>
            </a:pPr>
            <a:r>
              <a:rPr sz="1762" b="1" i="0">
                <a:solidFill>
                  <a:srgbClr val="000000"/>
                </a:solidFill>
                <a:latin typeface="Noto Sans SC"/>
                <a:ea typeface="Noto Sans SC"/>
              </a:rPr>
              <a:t>测试结束后直接投</a:t>
            </a:r>
          </a:p>
          <a:p>
            <a:r>
              <a:rPr sz="1762" lang="zh-CN" b="1">
                <a:latin typeface="Noto Sans SC"/>
                <a:ea typeface="Noto Sans SC"/>
              </a:rPr>
              <a:t>产,未编写测试报告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7669" y="4983575"/>
            <a:ext cx="1713071" cy="28936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20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Noto Sans SC"/>
                <a:ea typeface="Noto Sans SC"/>
              </a:rPr>
              <a:t>需求变更,但未更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6680" y="4984337"/>
            <a:ext cx="1881235" cy="533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147256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Noto Sans SC"/>
                <a:ea typeface="Noto Sans SC"/>
              </a:rPr>
              <a:t>发现致命缺陷,</a:t>
            </a:r>
          </a:p>
          <a:p>
            <a:r>
              <a:rPr sz="1650" lang="zh-CN" b="1">
                <a:latin typeface="Noto Sans SC"/>
                <a:ea typeface="Noto Sans SC"/>
              </a:rPr>
              <a:t>等待3天后统一修复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8768" y="5259800"/>
            <a:ext cx="130130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Noto Sans SC"/>
                <a:ea typeface="Noto Sans SC"/>
              </a:rPr>
              <a:t>天后统一修复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7530" y="5903499"/>
            <a:ext cx="2413444" cy="22498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312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33624"/>
                </a:solidFill>
                <a:latin typeface="Noto Sans SC"/>
                <a:ea typeface="Noto Sans SC"/>
              </a:rPr>
              <a:t>需求变题后须同步更新测试案例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702" y="6241065"/>
            <a:ext cx="2001678" cy="192881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lnSpc>
                <a:spcPct val="11911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802"/>
                </a:solidFill>
                <a:latin typeface="Noto Sans SC"/>
                <a:ea typeface="Noto Sans SC"/>
              </a:rPr>
              <a:t>找出全部6个问题的组获胜!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68" y="1950657"/>
            <a:ext cx="2089023" cy="33310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1954813"/>
            <a:ext cx="2084546" cy="33314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50" y="1953594"/>
            <a:ext cx="2084641" cy="332685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5859" y="1954244"/>
            <a:ext cx="2075974" cy="332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336" y="1953863"/>
            <a:ext cx="2074192" cy="33253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686775"/>
            <a:ext cx="2250948" cy="117068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957" y="753618"/>
            <a:ext cx="594160" cy="58940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611" y="5708629"/>
            <a:ext cx="382619" cy="3967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544" y="540353"/>
            <a:ext cx="4400550" cy="9705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3337" b="1" i="0">
                <a:solidFill>
                  <a:srgbClr val="012E1B"/>
                </a:solidFill>
                <a:latin typeface="Noto Sans SC"/>
                <a:ea typeface="Noto Sans SC"/>
              </a:rPr>
              <a:t>避坑指南:</a:t>
            </a:r>
          </a:p>
          <a:p>
            <a:pPr>
              <a:spcBef>
                <a:spcPts val="554"/>
              </a:spcBef>
            </a:pPr>
            <a:r>
              <a:rPr sz="3337" lang="zh-CN" b="1">
                <a:latin typeface="Noto Sans SC"/>
                <a:ea typeface="Noto Sans SC"/>
              </a:rPr>
              <a:t>测试管理五大关键原则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903" y="2226564"/>
            <a:ext cx="1247012" cy="72094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62" b="1" i="0">
                <a:solidFill>
                  <a:srgbClr val="01311E"/>
                </a:solidFill>
                <a:latin typeface="Noto Sans SC"/>
                <a:ea typeface="Noto Sans SC"/>
              </a:rPr>
              <a:t>原则1:</a:t>
            </a:r>
          </a:p>
          <a:p>
            <a:pPr>
              <a:spcBef>
                <a:spcPts val="108"/>
              </a:spcBef>
            </a:pPr>
            <a:r>
              <a:rPr sz="2362" lang="zh-CN" b="1">
                <a:latin typeface="Noto Sans SC"/>
                <a:ea typeface="Noto Sans SC"/>
              </a:rPr>
              <a:t>方案先行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0662" y="2226564"/>
            <a:ext cx="1247013" cy="72094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37" b="1" i="0">
                <a:solidFill>
                  <a:srgbClr val="02311F"/>
                </a:solidFill>
                <a:latin typeface="Noto Sans SC"/>
                <a:ea typeface="Noto Sans SC"/>
              </a:rPr>
              <a:t>原则2:</a:t>
            </a:r>
          </a:p>
          <a:p>
            <a:pPr>
              <a:spcBef>
                <a:spcPts val="108"/>
              </a:spcBef>
            </a:pPr>
            <a:r>
              <a:rPr sz="2437" lang="zh-CN" b="1">
                <a:latin typeface="Noto Sans SC"/>
                <a:ea typeface="Noto Sans SC"/>
              </a:rPr>
              <a:t>职责到人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7988" y="2226564"/>
            <a:ext cx="1320165" cy="72094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 marL="29337">
              <a:spcBef>
                <a:spcPts val="0"/>
              </a:spcBef>
              <a:spcAft>
                <a:spcPts val="0"/>
              </a:spcAft>
            </a:pPr>
            <a:r>
              <a:rPr sz="2437" b="1" i="0">
                <a:solidFill>
                  <a:srgbClr val="02301D"/>
                </a:solidFill>
                <a:latin typeface="Noto Sans SC"/>
                <a:ea typeface="Noto Sans SC"/>
              </a:rPr>
              <a:t>原则3:</a:t>
            </a:r>
          </a:p>
          <a:p>
            <a:pPr>
              <a:spcBef>
                <a:spcPts val="108"/>
              </a:spcBef>
            </a:pPr>
            <a:r>
              <a:rPr sz="2437" lang="zh-CN" b="1">
                <a:latin typeface="Noto Sans SC"/>
                <a:ea typeface="Noto Sans SC"/>
              </a:rPr>
              <a:t>过程管控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4746" y="2226564"/>
            <a:ext cx="1247012" cy="72094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437" b="1" i="0">
                <a:solidFill>
                  <a:srgbClr val="01301D"/>
                </a:solidFill>
                <a:latin typeface="Noto Sans SC"/>
                <a:ea typeface="Noto Sans SC"/>
              </a:rPr>
              <a:t>原则4:</a:t>
            </a:r>
          </a:p>
          <a:p>
            <a:pPr>
              <a:spcBef>
                <a:spcPts val="108"/>
              </a:spcBef>
            </a:pPr>
            <a:r>
              <a:rPr sz="2437" lang="zh-CN" b="1">
                <a:latin typeface="Noto Sans SC"/>
                <a:ea typeface="Noto Sans SC"/>
              </a:rPr>
              <a:t>评审把关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1409" y="2226564"/>
            <a:ext cx="1247013" cy="72094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62" b="1" i="0">
                <a:solidFill>
                  <a:srgbClr val="022F1C"/>
                </a:solidFill>
                <a:latin typeface="Noto Sans SC"/>
                <a:ea typeface="Noto Sans SC"/>
              </a:rPr>
              <a:t>原则5:</a:t>
            </a:r>
          </a:p>
          <a:p>
            <a:pPr>
              <a:spcBef>
                <a:spcPts val="108"/>
              </a:spcBef>
            </a:pPr>
            <a:r>
              <a:rPr sz="2362" lang="zh-CN" b="1">
                <a:latin typeface="Noto Sans SC"/>
                <a:ea typeface="Noto Sans SC"/>
              </a:rPr>
              <a:t>闭环管理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665" y="3177921"/>
            <a:ext cx="1764220" cy="163496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1428">
              <a:spcBef>
                <a:spcPts val="0"/>
              </a:spcBef>
              <a:spcAft>
                <a:spcPts val="0"/>
              </a:spcAft>
            </a:pPr>
            <a:r>
              <a:rPr sz="1706" b="0" i="0">
                <a:solidFill>
                  <a:srgbClr val="363F4E"/>
                </a:solidFill>
                <a:latin typeface="Noto Sans SC"/>
                <a:ea typeface="Noto Sans SC"/>
              </a:rPr>
              <a:t>测试方案必须在</a:t>
            </a:r>
          </a:p>
          <a:p>
            <a:r>
              <a:rPr sz="1706" lang="zh-CN">
                <a:latin typeface="Noto Sans SC"/>
                <a:ea typeface="Noto Sans SC"/>
              </a:rPr>
              <a:t>准入前一周完成编</a:t>
            </a:r>
          </a:p>
          <a:p>
            <a:pPr marL="1428"/>
            <a:r>
              <a:rPr sz="1706" lang="zh-CN">
                <a:latin typeface="Noto Sans SC"/>
                <a:ea typeface="Noto Sans SC"/>
              </a:rPr>
              <a:t>写和评审,明确</a:t>
            </a:r>
          </a:p>
          <a:p>
            <a:pPr marL="30003"/>
            <a:r>
              <a:rPr sz="1706" lang="zh-CN">
                <a:latin typeface="Noto Sans SC"/>
                <a:ea typeface="Noto Sans SC"/>
              </a:rPr>
              <a:t>目标、范围、策略</a:t>
            </a:r>
          </a:p>
          <a:p>
            <a:pPr marL="761">
              <a:spcBef>
                <a:spcPts val="132"/>
              </a:spcBef>
            </a:pPr>
            <a:r>
              <a:rPr sz="1706" lang="zh-CN">
                <a:latin typeface="Noto Sans SC"/>
                <a:ea typeface="Noto Sans SC"/>
              </a:rPr>
              <a:t>和标准,未经评审</a:t>
            </a:r>
          </a:p>
          <a:p>
            <a:pPr marL="1428"/>
            <a:r>
              <a:rPr sz="1706" lang="zh-CN">
                <a:latin typeface="Noto Sans SC"/>
                <a:ea typeface="Noto Sans SC"/>
              </a:rPr>
              <a:t>不得开始执行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3515" y="3177921"/>
            <a:ext cx="1837729" cy="114728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29336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444E5E"/>
                </a:solidFill>
                <a:latin typeface="Noto Sans SC"/>
                <a:ea typeface="Noto Sans SC"/>
              </a:rPr>
              <a:t>项目经理、测试</a:t>
            </a:r>
          </a:p>
          <a:p>
            <a:pPr marL="29336">
              <a:spcBef>
                <a:spcPts val="144"/>
              </a:spcBef>
            </a:pPr>
            <a:r>
              <a:rPr sz="1725" lang="zh-CN">
                <a:latin typeface="Noto Sans SC"/>
                <a:ea typeface="Noto Sans SC"/>
              </a:rPr>
              <a:t>经理、业务经理</a:t>
            </a:r>
          </a:p>
          <a:p>
            <a:pPr>
              <a:spcBef>
                <a:spcPts val="144"/>
              </a:spcBef>
            </a:pPr>
            <a:r>
              <a:rPr sz="1725" lang="zh-CN">
                <a:latin typeface="Noto Sans SC"/>
                <a:ea typeface="Noto Sans SC"/>
              </a:rPr>
              <a:t>技术经理各司其</a:t>
            </a:r>
          </a:p>
          <a:p>
            <a:pPr marL="27146"/>
            <a:r>
              <a:rPr sz="1725" lang="zh-CN">
                <a:latin typeface="Noto Sans SC"/>
                <a:ea typeface="Noto Sans SC"/>
              </a:rPr>
              <a:t>职,每个角色清楚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0178" y="3177921"/>
            <a:ext cx="1651206" cy="163496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43" b="0" i="0">
                <a:solidFill>
                  <a:srgbClr val="343E4E"/>
                </a:solidFill>
                <a:latin typeface="Noto Sans SC"/>
                <a:ea typeface="Noto Sans SC"/>
              </a:rPr>
              <a:t>持续监控缺陷收</a:t>
            </a:r>
          </a:p>
          <a:p>
            <a:pPr>
              <a:spcBef>
                <a:spcPts val="144"/>
              </a:spcBef>
            </a:pPr>
            <a:r>
              <a:rPr sz="1743" lang="zh-CN">
                <a:latin typeface="Noto Sans SC"/>
                <a:ea typeface="Noto Sans SC"/>
              </a:rPr>
              <a:t>敛趋势和测试案</a:t>
            </a:r>
          </a:p>
          <a:p>
            <a:pPr>
              <a:spcBef>
                <a:spcPts val="144"/>
              </a:spcBef>
            </a:pPr>
            <a:r>
              <a:rPr sz="1743" lang="zh-CN">
                <a:latin typeface="Noto Sans SC"/>
                <a:ea typeface="Noto Sans SC"/>
              </a:rPr>
              <a:t>例执行进度,定</a:t>
            </a:r>
          </a:p>
          <a:p>
            <a:pPr marL="29337">
              <a:spcBef>
                <a:spcPts val="144"/>
              </a:spcBef>
            </a:pPr>
            <a:r>
              <a:rPr sz="1743" lang="zh-CN">
                <a:latin typeface="Noto Sans SC"/>
                <a:ea typeface="Noto Sans SC"/>
              </a:rPr>
              <a:t>期组织日例会和</a:t>
            </a:r>
          </a:p>
          <a:p>
            <a:pPr marL="28575">
              <a:spcBef>
                <a:spcPts val="138"/>
              </a:spcBef>
            </a:pPr>
            <a:r>
              <a:rPr sz="1743" lang="zh-CN">
                <a:latin typeface="Noto Sans SC"/>
                <a:ea typeface="Noto Sans SC"/>
              </a:rPr>
              <a:t>周例会,及时发</a:t>
            </a:r>
          </a:p>
          <a:p>
            <a:r>
              <a:rPr sz="1743" lang="zh-CN">
                <a:latin typeface="Noto Sans SC"/>
                <a:ea typeface="Noto Sans SC"/>
              </a:rPr>
              <a:t>现和上报风险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3126" y="3177921"/>
            <a:ext cx="1610201" cy="163496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3810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464E5F"/>
                </a:solidFill>
                <a:latin typeface="Noto Sans SC"/>
                <a:ea typeface="Noto Sans SC"/>
              </a:rPr>
              <a:t>测试方案、测试</a:t>
            </a:r>
          </a:p>
          <a:p>
            <a:pPr marL="3810">
              <a:spcBef>
                <a:spcPts val="144"/>
              </a:spcBef>
            </a:pPr>
            <a:r>
              <a:rPr sz="1725" lang="zh-CN">
                <a:latin typeface="Noto Sans SC"/>
                <a:ea typeface="Noto Sans SC"/>
              </a:rPr>
              <a:t>案例、测试报告</a:t>
            </a:r>
          </a:p>
          <a:p>
            <a:pPr marL="3810">
              <a:spcBef>
                <a:spcPts val="144"/>
              </a:spcBef>
            </a:pPr>
            <a:r>
              <a:rPr sz="1725" lang="zh-CN">
                <a:latin typeface="Noto Sans SC"/>
                <a:ea typeface="Noto Sans SC"/>
              </a:rPr>
              <a:t>均需经过正式评</a:t>
            </a:r>
          </a:p>
          <a:p>
            <a:pPr marL="3810">
              <a:spcBef>
                <a:spcPts val="144"/>
              </a:spcBef>
            </a:pPr>
            <a:r>
              <a:rPr sz="1725" lang="zh-CN">
                <a:latin typeface="Noto Sans SC"/>
                <a:ea typeface="Noto Sans SC"/>
              </a:rPr>
              <a:t>审,评委依据评</a:t>
            </a:r>
          </a:p>
          <a:p>
            <a:pPr>
              <a:spcBef>
                <a:spcPts val="11"/>
              </a:spcBef>
            </a:pPr>
            <a:r>
              <a:rPr sz="1725" lang="zh-CN">
                <a:latin typeface="Noto Sans SC"/>
                <a:ea typeface="Noto Sans SC"/>
              </a:rPr>
              <a:t>审要点逐项检查</a:t>
            </a:r>
          </a:p>
          <a:p>
            <a:pPr marL="3810"/>
            <a:r>
              <a:rPr sz="1725" lang="zh-CN">
                <a:latin typeface="Noto Sans SC"/>
                <a:ea typeface="Noto Sans SC"/>
              </a:rPr>
              <a:t>并签字确认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1691" y="3177921"/>
            <a:ext cx="1837729" cy="163496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2571">
              <a:spcBef>
                <a:spcPts val="0"/>
              </a:spcBef>
              <a:spcAft>
                <a:spcPts val="0"/>
              </a:spcAft>
            </a:pPr>
            <a:r>
              <a:rPr sz="1762" b="0" i="0">
                <a:solidFill>
                  <a:srgbClr val="343D4D"/>
                </a:solidFill>
                <a:latin typeface="Noto Sans SC"/>
                <a:ea typeface="Noto Sans SC"/>
              </a:rPr>
              <a:t>测试结束后完成</a:t>
            </a:r>
          </a:p>
          <a:p>
            <a:pPr marL="31146"/>
            <a:r>
              <a:rPr sz="1762" lang="zh-CN">
                <a:latin typeface="Noto Sans SC"/>
                <a:ea typeface="Noto Sans SC"/>
              </a:rPr>
              <a:t>总结复盘,更新项</a:t>
            </a:r>
          </a:p>
          <a:p>
            <a:pPr marL="31146">
              <a:spcBef>
                <a:spcPts val="132"/>
              </a:spcBef>
            </a:pPr>
            <a:r>
              <a:rPr sz="1762" lang="zh-CN">
                <a:latin typeface="Noto Sans SC"/>
                <a:ea typeface="Noto Sans SC"/>
              </a:rPr>
              <a:t>目问题汇总表,筛</a:t>
            </a:r>
          </a:p>
          <a:p>
            <a:pPr marL="31908"/>
            <a:r>
              <a:rPr sz="1762" lang="zh-CN">
                <a:latin typeface="Noto Sans SC"/>
                <a:ea typeface="Noto Sans SC"/>
              </a:rPr>
              <a:t>选可复用案例入</a:t>
            </a:r>
          </a:p>
          <a:p>
            <a:r>
              <a:rPr sz="1762" lang="zh-CN">
                <a:latin typeface="Noto Sans SC"/>
                <a:ea typeface="Noto Sans SC"/>
              </a:rPr>
              <a:t>库,产出物归档至</a:t>
            </a:r>
          </a:p>
          <a:p>
            <a:pPr marL="31908"/>
            <a:r>
              <a:rPr sz="1762" lang="zh-CN">
                <a:latin typeface="Noto Sans SC"/>
                <a:ea typeface="Noto Sans SC"/>
              </a:rPr>
              <a:t>配配置库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5" y="4279392"/>
            <a:ext cx="1599533" cy="80895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just" marL="3714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444E5E"/>
                </a:solidFill>
                <a:latin typeface="Noto Sans SC"/>
                <a:ea typeface="Noto Sans SC"/>
              </a:rPr>
              <a:t>自己的工作内容、</a:t>
            </a:r>
          </a:p>
          <a:p>
            <a:r>
              <a:rPr sz="1650" lang="zh-CN">
                <a:latin typeface="Noto Sans SC"/>
                <a:ea typeface="Noto Sans SC"/>
              </a:rPr>
              <a:t>时间节点和交付</a:t>
            </a:r>
          </a:p>
          <a:p>
            <a:pPr marL="4476"/>
            <a:r>
              <a:rPr sz="1650" lang="zh-CN">
                <a:latin typeface="Noto Sans SC"/>
                <a:ea typeface="Noto Sans SC"/>
              </a:rPr>
              <a:t>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1244" y="5839968"/>
            <a:ext cx="4440078" cy="32146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12E1A"/>
                </a:solidFill>
                <a:latin typeface="Noto Sans SC"/>
                <a:ea typeface="Noto Sans SC"/>
              </a:rPr>
              <a:t>规范过程管理,才能交付高质量产品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930" y="3714654"/>
            <a:ext cx="2697757" cy="16938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" y="0"/>
            <a:ext cx="1289564" cy="17178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758" y="1568862"/>
            <a:ext cx="3563942" cy="563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2971" y="1994919"/>
            <a:ext cx="704373" cy="11327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6817" y="4809267"/>
            <a:ext cx="610103" cy="57673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620" y="1532382"/>
            <a:ext cx="590065" cy="580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0002" y="2104834"/>
            <a:ext cx="6227921" cy="1607343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4167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0F422C"/>
                </a:solidFill>
                <a:latin typeface="Noto Sans SC"/>
                <a:ea typeface="Noto Sans SC"/>
              </a:rPr>
              <a:t>感谢聆听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3937254"/>
            <a:ext cx="7145178" cy="514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3846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000000"/>
                </a:solidFill>
                <a:latin typeface="Noto Sans SC"/>
                <a:ea typeface="Noto Sans SC"/>
              </a:rPr>
              <a:t>规范过程·提升质量·共同成长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858797"/>
            <a:ext cx="2420778" cy="38576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0000"/>
                </a:solidFill>
                <a:latin typeface="Noto Sans SC"/>
                <a:ea typeface="Noto Sans SC"/>
              </a:rP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Noto Sans SC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